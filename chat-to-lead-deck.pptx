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937"/>
                </a:solidFill>
                <a:latin typeface="Calibri"/>
              </a:defRPr>
            </a:pPr>
            <a:r>
              <a:rPr sz="1100" b="0" i="0" u="none" strike="noStrike">
                <a:solidFill>
                  <a:srgbClr val="1F2937"/>
                </a:solidFill>
                <a:latin typeface="Calibri"/>
              </a:rPr>
              <a:t>Cost per action, USD (midpoint of measured range)</a:t>
            </a:r>
          </a:p>
        </c:rich>
      </c:tx>
      <c:layout/>
      <c:overlay val="0"/>
    </c:title>
    <c:autoTitleDeleted val="0"/>
    <c:plotArea>
      <c:layout/>
      <c:barChart>
        <c:barDir val="col"/>
        <c:grouping val="clustered"/>
        <c:varyColors val="0"/>
        <c:ser>
          <c:idx val="0"/>
          <c:order val="0"/>
          <c:tx>
            <c:strRef>
              <c:f>Sheet1!$B$1</c:f>
              <c:strCache>
                <c:ptCount val="1"/>
                <c:pt idx="0">
                  <c:v>Cost per action ($)</c:v>
                </c:pt>
              </c:strCache>
            </c:strRef>
          </c:tx>
          <c:spPr>
            <a:solidFill>
              <a:srgbClr val="E9A23B"/>
            </a:solidFill>
            <a:effectLst/>
          </c:spPr>
          <c:invertIfNegative val="0"/>
          <c:dLbls>
            <c:numFmt formatCode="$0.00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Contact</c:v>
                  </c:pt>
                  <c:pt idx="1">
                    <c:v>Free text</c:v>
                  </c:pt>
                  <c:pt idx="2">
                    <c:v>Voice note</c:v>
                  </c:pt>
                  <c:pt idx="3">
                    <c:v>Business card</c:v>
                  </c:pt>
                </c:lvl>
              </c:multiLvlStrCache>
            </c:multiLvlStrRef>
          </c:cat>
          <c:val>
            <c:numRef>
              <c:f>Sheet1!$B$2:$B$5</c:f>
              <c:numCache>
                <c:formatCode>General</c:formatCode>
                <c:ptCount val="4"/>
                <c:pt idx="0">
                  <c:v>0</c:v>
                </c:pt>
                <c:pt idx="1">
                  <c:v>0.0024</c:v>
                </c:pt>
                <c:pt idx="2">
                  <c:v>0.0034</c:v>
                </c:pt>
                <c:pt idx="3">
                  <c:v>0.01</c:v>
                </c:pt>
              </c:numCache>
            </c:numRef>
          </c:val>
        </c:ser>
        <c:dLbls>
          <c:numFmt formatCode="$0.00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0.012"/>
        </c:scaling>
        <c:delete val="0"/>
        <c:axPos val="l"/>
        <c:majorGridlines>
          <c:spPr>
            <a:ln w="6350" cap="flat">
              <a:solidFill>
                <a:srgbClr val="E9EBEF"/>
              </a:solidFill>
              <a:prstDash val="solid"/>
              <a:round/>
            </a:ln>
          </c:spPr>
        </c:majorGridlines>
        <c:numFmt formatCode="$0.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0:00. One line: a salesperson talks to a bot in Teams, a lead and its follow-up land in a store, every action is priced and timed. Then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2 min. The problem is not that people can't use a CRM. It's that the conversation happens in Teams and the CRM is somewhere else. Three things fall in the gap: the contact, the notes, the follow-up date. Our bot sits where the conversation already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still within the 2 min problem slot or the first 30s of architecture. Point at the contact mode: it costs nothing because there is no model. Point at the OUT row: a missing field is null and the bot asks. That sentence is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2 min. The brief scores total cost, model used and end-to-end latency with a component-level breakdown. An agent loop makes those numbers variable. A pipeline makes them exact. One structured Claude call per step, schema-validated, one retry with the validation error fed back, then abstain and ask. The one open-ended surface, chat CRUD, is designed as tool use via the SDK's own tool runner, no framework. Not built today, on the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inside the architecture 2 min. Rule 1 is the single most important line in the repo. Rules 1 and 2 are what the demo shows: a business card with no company, and 'next week sometime'. Demoing the system refusing to guess is worth more than demoing it guessing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VISHAL, 3 min. Teams was assigned, and it is the heaviest of the three platforms: app registration, Bot Framework, public callback, manifest, sideloading permission. First 45 minutes went to an echo bot. Data mapping: the five fields the brief names, plus notes and follow-up, on one Pydantic model both sides import. We asked the CTO one question, what a lead looks like in Intrakore's CRM, because that is the only thing we could not answer ourselves. Then the four war stories,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5 min. BEFORE THIS SLIDE: tools/send.py reset, reload the dashboard, seed 'follow up in 2 minutes'. Vishal drives Web Chat, Nandita narrates the dashboard. Strongest beat is 1: the card with no company. If Deepgram mishears the voice note, that's fine, the point is the original is retained. Keep a typed lead as backup. Do not touch kore.db directly while the server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2 min economics starts here. Every number is from response.usage times the published rate. The contact path costs nothing because there is no model. The card costs 5x the text because it is Opus at full effort, deliberately. At 1,000 leads a day this is $5.70 a day in model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inside the 2 min. The tuning story: halved latency, cut cost 3x on the text path, by measuring rather than assuming. Then calibration: confidence is not decoration, the 0.6 threshold catches 'thanks see you tomorrow'. The eval set is what lets us change models safely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EITHER, 30 seconds, or skip if over time. Numbers 11 and 12 came from Vishal running the demo at 15:00. The point is the method: after the pipeline was green in tests, every remaining hour went to running the demo end to end and fixing what broke. Number 5 is the one to name: every image and audio file through the API was corrupt, and the vCard path passing by accident hid it for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VISHAL, 1 min. Read the four rows fast. SQLite not CRM is by design: the brief says 'backend application or data store', and an elaborate fake Intrakore client with no credentials proves nothing. Name the JWT gap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NANDITA or VISHAL, 30 seconds, then Q&amp;A. The line is: Claude is native on Bedrock, inside your AWS account. Do NOT say 'same price'. Gemini is a week-two experiment against the evals, and it has no Bedrock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5 min Q&amp;A. Prepared answers:
- 'Why not Azure OpenAI / Foundry?' They are on AWS, not Azure. Claude is native on Bedrock, in their account. Do not say same price.
- 'What does this cost at scale?' 10/day $0.06, 100/day $0.57, 1,000/day $5.70, 10,000/day $57 in model spend.
- 'Can you swap the model?' Two files, extract.py and transcribe.py. Rates in ledger.py. The eval set is what makes a swap safe.
- 'What if it gets a field wrong?' It does not guess: null, then a question. Confidence below 0.6 goes to review. Dedupe reports the matched field.
- 'PII to third parties?' Yes today, labelled. Production: DPA plus redaction, or Bedrock in-account so it never leaves.
- 'Why not an agent?' Cost and latency would be variable and unexplainable; the brief scores a component-level breakdown. The one agent-shaped surface is chat CRUD, designed as tool use, not built today.
- 'Why SQLite?' Brief says backend application OR data store. No Intrakore sandbox or credentials. Store is an interface; the CRM is an implementation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1097280"/>
            <a:ext cx="7315200" cy="274320"/>
          </a:xfrm>
          <a:prstGeom prst="rect">
            <a:avLst/>
          </a:prstGeom>
          <a:noFill/>
          <a:ln/>
        </p:spPr>
        <p:txBody>
          <a:bodyPr wrap="square" lIns="0" tIns="0" rIns="0" bIns="0" rtlCol="0" anchor="ctr"/>
          <a:lstStyle/>
          <a:p>
            <a:pPr indent="0" marL="0">
              <a:buNone/>
            </a:pPr>
            <a:r>
              <a:rPr lang="en-US" sz="1100" b="1" spc="200" kern="0" dirty="0">
                <a:solidFill>
                  <a:srgbClr val="E9A23B"/>
                </a:solidFill>
                <a:latin typeface="Calibri" pitchFamily="34" charset="0"/>
                <a:ea typeface="Calibri" pitchFamily="34" charset="-122"/>
                <a:cs typeface="Calibri" pitchFamily="34" charset="-120"/>
              </a:rPr>
              <a:t>INTRAKORE AI HACKATHON  ·  USE CASE 01</a:t>
            </a:r>
            <a:endParaRPr lang="en-US" sz="1100" dirty="0"/>
          </a:p>
        </p:txBody>
      </p:sp>
      <p:sp>
        <p:nvSpPr>
          <p:cNvPr id="3" name="Text 1"/>
          <p:cNvSpPr txBox="1"/>
          <p:nvPr/>
        </p:nvSpPr>
        <p:spPr>
          <a:xfrm>
            <a:off x="548640" y="1463040"/>
            <a:ext cx="8229600" cy="137160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Chat-to-Lead</a:t>
            </a:r>
            <a:endParaRPr lang="en-US" sz="6600" dirty="0"/>
          </a:p>
        </p:txBody>
      </p:sp>
      <p:sp>
        <p:nvSpPr>
          <p:cNvPr id="4" name="Text 2"/>
          <p:cNvSpPr txBox="1"/>
          <p:nvPr/>
        </p:nvSpPr>
        <p:spPr>
          <a:xfrm>
            <a:off x="548640" y="2880360"/>
            <a:ext cx="8686800" cy="1097280"/>
          </a:xfrm>
          <a:prstGeom prst="rect">
            <a:avLst/>
          </a:prstGeom>
          <a:noFill/>
          <a:ln/>
        </p:spPr>
        <p:txBody>
          <a:bodyPr wrap="square" lIns="0" tIns="0" rIns="0" bIns="0" rtlCol="0" anchor="ctr"/>
          <a:lstStyle/>
          <a:p>
            <a:pPr indent="0" marL="0">
              <a:buNone/>
            </a:pPr>
            <a:r>
              <a:rPr lang="en-US" sz="1800" dirty="0">
                <a:solidFill>
                  <a:srgbClr val="C9CED6"/>
                </a:solidFill>
                <a:latin typeface="Calibri" pitchFamily="34" charset="0"/>
                <a:ea typeface="Calibri" pitchFamily="34" charset="-122"/>
                <a:cs typeface="Calibri" pitchFamily="34" charset="-120"/>
              </a:rPr>
              <a:t>Lead capture and follow-up from a Microsoft Teams conversation.</a:t>
            </a:r>
            <a:endParaRPr lang="en-US" sz="1800" dirty="0"/>
          </a:p>
          <a:p>
            <a:pPr indent="0" marL="0">
              <a:buNone/>
            </a:pPr>
            <a:r>
              <a:rPr lang="en-US" sz="1800" dirty="0">
                <a:solidFill>
                  <a:srgbClr val="C9CED6"/>
                </a:solidFill>
                <a:latin typeface="Calibri" pitchFamily="34" charset="0"/>
                <a:ea typeface="Calibri" pitchFamily="34" charset="-122"/>
                <a:cs typeface="Calibri" pitchFamily="34" charset="-120"/>
              </a:rPr>
              <a:t>Text, a shared contact, a business-card photo, or a voice note in. A priced, timed lead record out.</a:t>
            </a:r>
            <a:endParaRPr lang="en-US" sz="1800" dirty="0"/>
          </a:p>
        </p:txBody>
      </p:sp>
      <p:sp>
        <p:nvSpPr>
          <p:cNvPr id="5" name="Text 3"/>
          <p:cNvSpPr txBox="1"/>
          <p:nvPr/>
        </p:nvSpPr>
        <p:spPr>
          <a:xfrm>
            <a:off x="548640" y="4572000"/>
            <a:ext cx="3108960" cy="822960"/>
          </a:xfrm>
          <a:prstGeom prst="rect">
            <a:avLst/>
          </a:prstGeom>
          <a:noFill/>
          <a:ln/>
        </p:spPr>
        <p:txBody>
          <a:bodyPr wrap="square" lIns="0" tIns="0" rIns="0" bIns="0" rtlCol="0" anchor="b"/>
          <a:lstStyle/>
          <a:p>
            <a:pPr algn="l" indent="0" marL="0">
              <a:buNone/>
            </a:pPr>
            <a:r>
              <a:rPr lang="en-US" sz="3600" b="1" dirty="0">
                <a:solidFill>
                  <a:srgbClr val="E9A23B"/>
                </a:solidFill>
                <a:latin typeface="Calibri" pitchFamily="34" charset="0"/>
                <a:ea typeface="Calibri" pitchFamily="34" charset="-122"/>
                <a:cs typeface="Calibri" pitchFamily="34" charset="-120"/>
              </a:rPr>
              <a:t>25/25</a:t>
            </a:r>
            <a:endParaRPr lang="en-US" sz="3600" dirty="0"/>
          </a:p>
        </p:txBody>
      </p:sp>
      <p:sp>
        <p:nvSpPr>
          <p:cNvPr id="6" name="Text 4"/>
          <p:cNvSpPr txBox="1"/>
          <p:nvPr/>
        </p:nvSpPr>
        <p:spPr>
          <a:xfrm>
            <a:off x="548640" y="5440680"/>
            <a:ext cx="310896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demo checks, real Claude + real Deepgram</a:t>
            </a:r>
            <a:endParaRPr lang="en-US" sz="1200" dirty="0"/>
          </a:p>
        </p:txBody>
      </p:sp>
      <p:sp>
        <p:nvSpPr>
          <p:cNvPr id="7" name="Text 5"/>
          <p:cNvSpPr txBox="1"/>
          <p:nvPr/>
        </p:nvSpPr>
        <p:spPr>
          <a:xfrm>
            <a:off x="3840480" y="4572000"/>
            <a:ext cx="3291840" cy="822960"/>
          </a:xfrm>
          <a:prstGeom prst="rect">
            <a:avLst/>
          </a:prstGeom>
          <a:noFill/>
          <a:ln/>
        </p:spPr>
        <p:txBody>
          <a:bodyPr wrap="square" lIns="0" tIns="0" rIns="0" bIns="0" rtlCol="0" anchor="b"/>
          <a:lstStyle/>
          <a:p>
            <a:pPr algn="l" indent="0" marL="0">
              <a:buNone/>
            </a:pPr>
            <a:r>
              <a:rPr lang="en-US" sz="3600" b="1" dirty="0">
                <a:solidFill>
                  <a:srgbClr val="E9A23B"/>
                </a:solidFill>
                <a:latin typeface="Calibri" pitchFamily="34" charset="0"/>
                <a:ea typeface="Calibri" pitchFamily="34" charset="-122"/>
                <a:cs typeface="Calibri" pitchFamily="34" charset="-120"/>
              </a:rPr>
              <a:t>70/70</a:t>
            </a:r>
            <a:endParaRPr lang="en-US" sz="3600" dirty="0"/>
          </a:p>
        </p:txBody>
      </p:sp>
      <p:sp>
        <p:nvSpPr>
          <p:cNvPr id="8" name="Text 6"/>
          <p:cNvSpPr txBox="1"/>
          <p:nvPr/>
        </p:nvSpPr>
        <p:spPr>
          <a:xfrm>
            <a:off x="3840480" y="5440680"/>
            <a:ext cx="329184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extraction evals, 14 labelled cases, 5 fields</a:t>
            </a:r>
            <a:endParaRPr lang="en-US" sz="1200" dirty="0"/>
          </a:p>
        </p:txBody>
      </p:sp>
      <p:sp>
        <p:nvSpPr>
          <p:cNvPr id="9" name="Text 7"/>
          <p:cNvSpPr txBox="1"/>
          <p:nvPr/>
        </p:nvSpPr>
        <p:spPr>
          <a:xfrm>
            <a:off x="7315200" y="4572000"/>
            <a:ext cx="3291840" cy="822960"/>
          </a:xfrm>
          <a:prstGeom prst="rect">
            <a:avLst/>
          </a:prstGeom>
          <a:noFill/>
          <a:ln/>
        </p:spPr>
        <p:txBody>
          <a:bodyPr wrap="square" lIns="0" tIns="0" rIns="0" bIns="0" rtlCol="0" anchor="b"/>
          <a:lstStyle/>
          <a:p>
            <a:pPr algn="l" indent="0" marL="0">
              <a:buNone/>
            </a:pPr>
            <a:r>
              <a:rPr lang="en-US" sz="3600" b="1" dirty="0">
                <a:solidFill>
                  <a:srgbClr val="E9A23B"/>
                </a:solidFill>
                <a:latin typeface="Calibri" pitchFamily="34" charset="0"/>
                <a:ea typeface="Calibri" pitchFamily="34" charset="-122"/>
                <a:cs typeface="Calibri" pitchFamily="34" charset="-120"/>
              </a:rPr>
              <a:t>$0.002</a:t>
            </a:r>
            <a:endParaRPr lang="en-US" sz="3600" dirty="0"/>
          </a:p>
        </p:txBody>
      </p:sp>
      <p:sp>
        <p:nvSpPr>
          <p:cNvPr id="10" name="Text 8"/>
          <p:cNvSpPr txBox="1"/>
          <p:nvPr/>
        </p:nvSpPr>
        <p:spPr>
          <a:xfrm>
            <a:off x="7315200" y="5440680"/>
            <a:ext cx="329184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per free-text lead, measured from usage</a:t>
            </a:r>
            <a:endParaRPr lang="en-US" sz="1200" dirty="0"/>
          </a:p>
        </p:txBody>
      </p:sp>
      <p:sp>
        <p:nvSpPr>
          <p:cNvPr id="11" name="Text 9"/>
          <p:cNvSpPr txBox="1"/>
          <p:nvPr/>
        </p:nvSpPr>
        <p:spPr>
          <a:xfrm>
            <a:off x="7982712" y="6080760"/>
            <a:ext cx="3657600" cy="365760"/>
          </a:xfrm>
          <a:prstGeom prst="rect">
            <a:avLst/>
          </a:prstGeom>
          <a:noFill/>
          <a:ln/>
        </p:spPr>
        <p:txBody>
          <a:bodyPr wrap="square" lIns="0" tIns="0" rIns="0" bIns="0" rtlCol="0" anchor="ctr"/>
          <a:lstStyle/>
          <a:p>
            <a:pPr algn="r" indent="0" marL="0">
              <a:buNone/>
            </a:pPr>
            <a:r>
              <a:rPr lang="en-US" sz="1400" dirty="0">
                <a:solidFill>
                  <a:srgbClr val="C9CED6"/>
                </a:solidFill>
                <a:latin typeface="Calibri" pitchFamily="34" charset="0"/>
                <a:ea typeface="Calibri" pitchFamily="34" charset="-122"/>
                <a:cs typeface="Calibri" pitchFamily="34" charset="-120"/>
              </a:rPr>
              <a:t>Nandita  ·  Vishal</a:t>
            </a:r>
            <a:endParaRPr lang="en-US" sz="1400" dirty="0"/>
          </a:p>
        </p:txBody>
      </p:sp>
      <p:sp>
        <p:nvSpPr>
          <p:cNvPr id="12" name="Text 10"/>
          <p:cNvSpPr txBox="1"/>
          <p:nvPr/>
        </p:nvSpPr>
        <p:spPr>
          <a:xfrm>
            <a:off x="7982712" y="6400800"/>
            <a:ext cx="3657600" cy="274320"/>
          </a:xfrm>
          <a:prstGeom prst="rect">
            <a:avLst/>
          </a:prstGeom>
          <a:noFill/>
          <a:ln/>
        </p:spPr>
        <p:txBody>
          <a:bodyPr wrap="square" lIns="0" tIns="0" rIns="0" bIns="0" rtlCol="0" anchor="ctr"/>
          <a:lstStyle/>
          <a:p>
            <a:pPr algn="r" indent="0" marL="0">
              <a:buNone/>
            </a:pPr>
            <a:r>
              <a:rPr lang="en-US" sz="1100" dirty="0">
                <a:solidFill>
                  <a:srgbClr val="8A93A3"/>
                </a:solidFill>
                <a:latin typeface="Calibri" pitchFamily="34" charset="0"/>
                <a:ea typeface="Calibri" pitchFamily="34" charset="-122"/>
                <a:cs typeface="Calibri" pitchFamily="34" charset="-120"/>
              </a:rPr>
              <a:t>12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01  ·  THE PROBLEM</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The lead that never reaches the CRM</a:t>
            </a:r>
            <a:endParaRPr lang="en-US" sz="3400" dirty="0"/>
          </a:p>
        </p:txBody>
      </p:sp>
      <p:sp>
        <p:nvSpPr>
          <p:cNvPr id="4" name="Text 2"/>
          <p:cNvSpPr txBox="1"/>
          <p:nvPr/>
        </p:nvSpPr>
        <p:spPr>
          <a:xfrm>
            <a:off x="548640" y="1691640"/>
            <a:ext cx="5120640" cy="1188720"/>
          </a:xfrm>
          <a:prstGeom prst="rect">
            <a:avLst/>
          </a:prstGeom>
          <a:noFill/>
          <a:ln/>
        </p:spPr>
        <p:txBody>
          <a:bodyPr wrap="square" lIns="0" tIns="0" rIns="0" bIns="0" rtlCol="0" anchor="t"/>
          <a:lstStyle/>
          <a:p>
            <a:pPr algn="l" indent="0" marL="0">
              <a:lnSpc>
                <a:spcPct val="110000"/>
              </a:lnSpc>
              <a:buNone/>
            </a:pPr>
            <a:r>
              <a:rPr lang="en-US" sz="1600" dirty="0">
                <a:solidFill>
                  <a:srgbClr val="1F2937"/>
                </a:solidFill>
                <a:latin typeface="Calibri" pitchFamily="34" charset="0"/>
                <a:ea typeface="Calibri" pitchFamily="34" charset="-122"/>
                <a:cs typeface="Calibri" pitchFamily="34" charset="-120"/>
              </a:rPr>
              <a:t>A salesperson leaves a site visit with a business card, a phone contact, and ten minutes of notes. They drop it all into a Teams chat on the drive back and promise to follow up.</a:t>
            </a:r>
            <a:endParaRPr lang="en-US" sz="1600" dirty="0"/>
          </a:p>
        </p:txBody>
      </p:sp>
      <p:sp>
        <p:nvSpPr>
          <p:cNvPr id="5" name="Text 3"/>
          <p:cNvSpPr txBox="1"/>
          <p:nvPr/>
        </p:nvSpPr>
        <p:spPr>
          <a:xfrm>
            <a:off x="548640" y="2971800"/>
            <a:ext cx="5120640" cy="1188720"/>
          </a:xfrm>
          <a:prstGeom prst="rect">
            <a:avLst/>
          </a:prstGeom>
          <a:noFill/>
          <a:ln/>
        </p:spPr>
        <p:txBody>
          <a:bodyPr wrap="square" lIns="0" tIns="0" rIns="0" bIns="0" rtlCol="0" anchor="t"/>
          <a:lstStyle/>
          <a:p>
            <a:pPr algn="l" indent="0" marL="0">
              <a:lnSpc>
                <a:spcPct val="110000"/>
              </a:lnSpc>
              <a:buNone/>
            </a:pPr>
            <a:r>
              <a:rPr lang="en-US" sz="1600" dirty="0">
                <a:solidFill>
                  <a:srgbClr val="1F2937"/>
                </a:solidFill>
                <a:latin typeface="Calibri" pitchFamily="34" charset="0"/>
                <a:ea typeface="Calibri" pitchFamily="34" charset="-122"/>
                <a:cs typeface="Calibri" pitchFamily="34" charset="-120"/>
              </a:rPr>
              <a:t>The CRM entry happens tonight, or on Friday, or never. The follow-up date lives in someone's head. The record that does get typed in is missing the mobile number.</a:t>
            </a:r>
            <a:endParaRPr lang="en-US" sz="1600" dirty="0"/>
          </a:p>
        </p:txBody>
      </p:sp>
      <p:sp>
        <p:nvSpPr>
          <p:cNvPr id="6" name="Text 4"/>
          <p:cNvSpPr txBox="1"/>
          <p:nvPr/>
        </p:nvSpPr>
        <p:spPr>
          <a:xfrm>
            <a:off x="548640" y="4297680"/>
            <a:ext cx="5120640" cy="1371600"/>
          </a:xfrm>
          <a:prstGeom prst="rect">
            <a:avLst/>
          </a:prstGeom>
          <a:noFill/>
          <a:ln/>
        </p:spPr>
        <p:txBody>
          <a:bodyPr wrap="square" lIns="0" tIns="0" rIns="0" bIns="0" rtlCol="0" anchor="t"/>
          <a:lstStyle/>
          <a:p>
            <a:pPr algn="l" indent="0" marL="0">
              <a:lnSpc>
                <a:spcPct val="110000"/>
              </a:lnSpc>
              <a:buNone/>
            </a:pPr>
            <a:r>
              <a:rPr lang="en-US" sz="1500" i="1" dirty="0">
                <a:solidFill>
                  <a:srgbClr val="6B7280"/>
                </a:solidFill>
                <a:latin typeface="Calibri" pitchFamily="34" charset="0"/>
                <a:ea typeface="Calibri" pitchFamily="34" charset="-122"/>
                <a:cs typeface="Calibri" pitchFamily="34" charset="-120"/>
              </a:rPr>
              <a:t>Intrakore's own thesis is that margin lives in the gaps between the site and the system. This is one of those gaps, and it opens every time a lead is discussed in chat instead of entered in a form.</a:t>
            </a:r>
            <a:endParaRPr lang="en-US" sz="1500" dirty="0"/>
          </a:p>
        </p:txBody>
      </p:sp>
      <p:sp>
        <p:nvSpPr>
          <p:cNvPr id="7" name="Shape 5"/>
          <p:cNvSpPr/>
          <p:nvPr/>
        </p:nvSpPr>
        <p:spPr>
          <a:xfrm>
            <a:off x="6400800" y="1691640"/>
            <a:ext cx="5212080" cy="1234440"/>
          </a:xfrm>
          <a:prstGeom prst="roundRect">
            <a:avLst>
              <a:gd name="adj" fmla="val 8889"/>
            </a:avLst>
          </a:prstGeom>
          <a:solidFill>
            <a:srgbClr val="F3F4F6"/>
          </a:solidFill>
          <a:ln w="12700">
            <a:solidFill>
              <a:srgbClr val="F3F4F6"/>
            </a:solidFill>
            <a:prstDash val="solid"/>
          </a:ln>
        </p:spPr>
      </p:sp>
      <p:sp>
        <p:nvSpPr>
          <p:cNvPr id="8" name="Shape 6"/>
          <p:cNvSpPr/>
          <p:nvPr/>
        </p:nvSpPr>
        <p:spPr>
          <a:xfrm>
            <a:off x="6629400" y="1920240"/>
            <a:ext cx="384048" cy="384048"/>
          </a:xfrm>
          <a:prstGeom prst="ellipse">
            <a:avLst/>
          </a:prstGeom>
          <a:solidFill>
            <a:srgbClr val="E9A23B"/>
          </a:solidFill>
          <a:ln w="12700">
            <a:solidFill>
              <a:srgbClr val="E9A23B"/>
            </a:solidFill>
            <a:prstDash val="solid"/>
          </a:ln>
        </p:spPr>
      </p:sp>
      <p:sp>
        <p:nvSpPr>
          <p:cNvPr id="9" name="Text 7"/>
          <p:cNvSpPr txBox="1"/>
          <p:nvPr/>
        </p:nvSpPr>
        <p:spPr>
          <a:xfrm>
            <a:off x="6629400" y="192024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178040" y="1874520"/>
            <a:ext cx="4297680" cy="320040"/>
          </a:xfrm>
          <a:prstGeom prst="rect">
            <a:avLst/>
          </a:prstGeom>
          <a:noFill/>
          <a:ln/>
        </p:spPr>
        <p:txBody>
          <a:bodyPr wrap="square" lIns="0" tIns="0" rIns="0" bIns="0" rtlCol="0" anchor="t"/>
          <a:lstStyle/>
          <a:p>
            <a:pPr algn="l" indent="0" marL="0">
              <a:lnSpc>
                <a:spcPct val="110000"/>
              </a:lnSpc>
              <a:buNone/>
            </a:pPr>
            <a:r>
              <a:rPr lang="en-US" sz="1600" b="1" dirty="0">
                <a:solidFill>
                  <a:srgbClr val="1F2937"/>
                </a:solidFill>
                <a:latin typeface="Calibri" pitchFamily="34" charset="0"/>
                <a:ea typeface="Calibri" pitchFamily="34" charset="-122"/>
                <a:cs typeface="Calibri" pitchFamily="34" charset="-120"/>
              </a:rPr>
              <a:t>Contact details</a:t>
            </a:r>
            <a:endParaRPr lang="en-US" sz="1600" dirty="0"/>
          </a:p>
        </p:txBody>
      </p:sp>
      <p:sp>
        <p:nvSpPr>
          <p:cNvPr id="11" name="Text 9"/>
          <p:cNvSpPr txBox="1"/>
          <p:nvPr/>
        </p:nvSpPr>
        <p:spPr>
          <a:xfrm>
            <a:off x="7178040" y="2212848"/>
            <a:ext cx="4297680" cy="685800"/>
          </a:xfrm>
          <a:prstGeom prst="rect">
            <a:avLst/>
          </a:prstGeom>
          <a:noFill/>
          <a:ln/>
        </p:spPr>
        <p:txBody>
          <a:bodyPr wrap="square" lIns="0" tIns="0" rIns="0" bIns="0" rtlCol="0" anchor="t"/>
          <a:lstStyle/>
          <a:p>
            <a:pPr algn="l" indent="0" marL="0">
              <a:lnSpc>
                <a:spcPct val="110000"/>
              </a:lnSpc>
              <a:buNone/>
            </a:pPr>
            <a:r>
              <a:rPr lang="en-US" sz="1250" dirty="0">
                <a:solidFill>
                  <a:srgbClr val="6B7280"/>
                </a:solidFill>
                <a:latin typeface="Calibri" pitchFamily="34" charset="0"/>
                <a:ea typeface="Calibri" pitchFamily="34" charset="-122"/>
                <a:cs typeface="Calibri" pitchFamily="34" charset="-120"/>
              </a:rPr>
              <a:t>Name, company, email, mobile. Typed later from memory, or from a photo nobody re-opens.</a:t>
            </a:r>
            <a:endParaRPr lang="en-US" sz="1250" dirty="0"/>
          </a:p>
        </p:txBody>
      </p:sp>
      <p:sp>
        <p:nvSpPr>
          <p:cNvPr id="12" name="Shape 10"/>
          <p:cNvSpPr/>
          <p:nvPr/>
        </p:nvSpPr>
        <p:spPr>
          <a:xfrm>
            <a:off x="6400800" y="3108960"/>
            <a:ext cx="5212080" cy="1234440"/>
          </a:xfrm>
          <a:prstGeom prst="roundRect">
            <a:avLst>
              <a:gd name="adj" fmla="val 8889"/>
            </a:avLst>
          </a:prstGeom>
          <a:solidFill>
            <a:srgbClr val="F3F4F6"/>
          </a:solidFill>
          <a:ln w="12700">
            <a:solidFill>
              <a:srgbClr val="F3F4F6"/>
            </a:solidFill>
            <a:prstDash val="solid"/>
          </a:ln>
        </p:spPr>
      </p:sp>
      <p:sp>
        <p:nvSpPr>
          <p:cNvPr id="13" name="Shape 11"/>
          <p:cNvSpPr/>
          <p:nvPr/>
        </p:nvSpPr>
        <p:spPr>
          <a:xfrm>
            <a:off x="6629400" y="3337560"/>
            <a:ext cx="384048" cy="384048"/>
          </a:xfrm>
          <a:prstGeom prst="ellipse">
            <a:avLst/>
          </a:prstGeom>
          <a:solidFill>
            <a:srgbClr val="E9A23B"/>
          </a:solidFill>
          <a:ln w="12700">
            <a:solidFill>
              <a:srgbClr val="E9A23B"/>
            </a:solidFill>
            <a:prstDash val="solid"/>
          </a:ln>
        </p:spPr>
      </p:sp>
      <p:sp>
        <p:nvSpPr>
          <p:cNvPr id="14" name="Text 12"/>
          <p:cNvSpPr txBox="1"/>
          <p:nvPr/>
        </p:nvSpPr>
        <p:spPr>
          <a:xfrm>
            <a:off x="6629400" y="333756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7178040" y="3291840"/>
            <a:ext cx="4297680" cy="320040"/>
          </a:xfrm>
          <a:prstGeom prst="rect">
            <a:avLst/>
          </a:prstGeom>
          <a:noFill/>
          <a:ln/>
        </p:spPr>
        <p:txBody>
          <a:bodyPr wrap="square" lIns="0" tIns="0" rIns="0" bIns="0" rtlCol="0" anchor="t"/>
          <a:lstStyle/>
          <a:p>
            <a:pPr algn="l" indent="0" marL="0">
              <a:lnSpc>
                <a:spcPct val="110000"/>
              </a:lnSpc>
              <a:buNone/>
            </a:pPr>
            <a:r>
              <a:rPr lang="en-US" sz="1600" b="1" dirty="0">
                <a:solidFill>
                  <a:srgbClr val="1F2937"/>
                </a:solidFill>
                <a:latin typeface="Calibri" pitchFamily="34" charset="0"/>
                <a:ea typeface="Calibri" pitchFamily="34" charset="-122"/>
                <a:cs typeface="Calibri" pitchFamily="34" charset="-120"/>
              </a:rPr>
              <a:t>Meeting notes</a:t>
            </a:r>
            <a:endParaRPr lang="en-US" sz="1600" dirty="0"/>
          </a:p>
        </p:txBody>
      </p:sp>
      <p:sp>
        <p:nvSpPr>
          <p:cNvPr id="16" name="Text 14"/>
          <p:cNvSpPr txBox="1"/>
          <p:nvPr/>
        </p:nvSpPr>
        <p:spPr>
          <a:xfrm>
            <a:off x="7178040" y="3630168"/>
            <a:ext cx="4297680" cy="685800"/>
          </a:xfrm>
          <a:prstGeom prst="rect">
            <a:avLst/>
          </a:prstGeom>
          <a:noFill/>
          <a:ln/>
        </p:spPr>
        <p:txBody>
          <a:bodyPr wrap="square" lIns="0" tIns="0" rIns="0" bIns="0" rtlCol="0" anchor="t"/>
          <a:lstStyle/>
          <a:p>
            <a:pPr algn="l" indent="0" marL="0">
              <a:lnSpc>
                <a:spcPct val="110000"/>
              </a:lnSpc>
              <a:buNone/>
            </a:pPr>
            <a:r>
              <a:rPr lang="en-US" sz="1250" dirty="0">
                <a:solidFill>
                  <a:srgbClr val="6B7280"/>
                </a:solidFill>
                <a:latin typeface="Calibri" pitchFamily="34" charset="0"/>
                <a:ea typeface="Calibri" pitchFamily="34" charset="-122"/>
                <a:cs typeface="Calibri" pitchFamily="34" charset="-120"/>
              </a:rPr>
              <a:t>What was discussed, what was promised. Summarised in a message, then buried under the next thread.</a:t>
            </a:r>
            <a:endParaRPr lang="en-US" sz="1250" dirty="0"/>
          </a:p>
        </p:txBody>
      </p:sp>
      <p:sp>
        <p:nvSpPr>
          <p:cNvPr id="17" name="Shape 15"/>
          <p:cNvSpPr/>
          <p:nvPr/>
        </p:nvSpPr>
        <p:spPr>
          <a:xfrm>
            <a:off x="6400800" y="4526280"/>
            <a:ext cx="5212080" cy="1234440"/>
          </a:xfrm>
          <a:prstGeom prst="roundRect">
            <a:avLst>
              <a:gd name="adj" fmla="val 8889"/>
            </a:avLst>
          </a:prstGeom>
          <a:solidFill>
            <a:srgbClr val="F3F4F6"/>
          </a:solidFill>
          <a:ln w="12700">
            <a:solidFill>
              <a:srgbClr val="F3F4F6"/>
            </a:solidFill>
            <a:prstDash val="solid"/>
          </a:ln>
        </p:spPr>
      </p:sp>
      <p:sp>
        <p:nvSpPr>
          <p:cNvPr id="18" name="Shape 16"/>
          <p:cNvSpPr/>
          <p:nvPr/>
        </p:nvSpPr>
        <p:spPr>
          <a:xfrm>
            <a:off x="6629400" y="4754880"/>
            <a:ext cx="384048" cy="384048"/>
          </a:xfrm>
          <a:prstGeom prst="ellipse">
            <a:avLst/>
          </a:prstGeom>
          <a:solidFill>
            <a:srgbClr val="E9A23B"/>
          </a:solidFill>
          <a:ln w="12700">
            <a:solidFill>
              <a:srgbClr val="E9A23B"/>
            </a:solidFill>
            <a:prstDash val="solid"/>
          </a:ln>
        </p:spPr>
      </p:sp>
      <p:sp>
        <p:nvSpPr>
          <p:cNvPr id="19" name="Text 17"/>
          <p:cNvSpPr txBox="1"/>
          <p:nvPr/>
        </p:nvSpPr>
        <p:spPr>
          <a:xfrm>
            <a:off x="6629400" y="475488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178040" y="4709160"/>
            <a:ext cx="4297680" cy="320040"/>
          </a:xfrm>
          <a:prstGeom prst="rect">
            <a:avLst/>
          </a:prstGeom>
          <a:noFill/>
          <a:ln/>
        </p:spPr>
        <p:txBody>
          <a:bodyPr wrap="square" lIns="0" tIns="0" rIns="0" bIns="0" rtlCol="0" anchor="t"/>
          <a:lstStyle/>
          <a:p>
            <a:pPr algn="l" indent="0" marL="0">
              <a:lnSpc>
                <a:spcPct val="110000"/>
              </a:lnSpc>
              <a:buNone/>
            </a:pPr>
            <a:r>
              <a:rPr lang="en-US" sz="1600" b="1" dirty="0">
                <a:solidFill>
                  <a:srgbClr val="1F2937"/>
                </a:solidFill>
                <a:latin typeface="Calibri" pitchFamily="34" charset="0"/>
                <a:ea typeface="Calibri" pitchFamily="34" charset="-122"/>
                <a:cs typeface="Calibri" pitchFamily="34" charset="-120"/>
              </a:rPr>
              <a:t>The follow-up</a:t>
            </a:r>
            <a:endParaRPr lang="en-US" sz="1600" dirty="0"/>
          </a:p>
        </p:txBody>
      </p:sp>
      <p:sp>
        <p:nvSpPr>
          <p:cNvPr id="21" name="Text 19"/>
          <p:cNvSpPr txBox="1"/>
          <p:nvPr/>
        </p:nvSpPr>
        <p:spPr>
          <a:xfrm>
            <a:off x="7178040" y="5047488"/>
            <a:ext cx="4297680" cy="685800"/>
          </a:xfrm>
          <a:prstGeom prst="rect">
            <a:avLst/>
          </a:prstGeom>
          <a:noFill/>
          <a:ln/>
        </p:spPr>
        <p:txBody>
          <a:bodyPr wrap="square" lIns="0" tIns="0" rIns="0" bIns="0" rtlCol="0" anchor="t"/>
          <a:lstStyle/>
          <a:p>
            <a:pPr algn="l" indent="0" marL="0">
              <a:lnSpc>
                <a:spcPct val="110000"/>
              </a:lnSpc>
              <a:buNone/>
            </a:pPr>
            <a:r>
              <a:rPr lang="en-US" sz="1250" dirty="0">
                <a:solidFill>
                  <a:srgbClr val="6B7280"/>
                </a:solidFill>
                <a:latin typeface="Calibri" pitchFamily="34" charset="0"/>
                <a:ea typeface="Calibri" pitchFamily="34" charset="-122"/>
                <a:cs typeface="Calibri" pitchFamily="34" charset="-120"/>
              </a:rPr>
              <a:t>"Call them after two days." Never scheduled, because scheduling means switching apps.</a:t>
            </a:r>
            <a:endParaRPr lang="en-US" sz="12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02  ·  WHAT IT DOES</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Four ways in. One record out. Every action priced.</a:t>
            </a:r>
            <a:endParaRPr lang="en-US" sz="3400" dirty="0"/>
          </a:p>
        </p:txBody>
      </p:sp>
      <p:sp>
        <p:nvSpPr>
          <p:cNvPr id="4" name="Shape 2"/>
          <p:cNvSpPr/>
          <p:nvPr/>
        </p:nvSpPr>
        <p:spPr>
          <a:xfrm>
            <a:off x="548640" y="1737360"/>
            <a:ext cx="2651760" cy="2240280"/>
          </a:xfrm>
          <a:prstGeom prst="roundRect">
            <a:avLst>
              <a:gd name="adj" fmla="val 4898"/>
            </a:avLst>
          </a:prstGeom>
          <a:solidFill>
            <a:srgbClr val="F3F4F6"/>
          </a:solidFill>
          <a:ln w="12700">
            <a:solidFill>
              <a:srgbClr val="F3F4F6"/>
            </a:solidFill>
            <a:prstDash val="solid"/>
          </a:ln>
        </p:spPr>
      </p:sp>
      <p:sp>
        <p:nvSpPr>
          <p:cNvPr id="5" name="Text 3"/>
          <p:cNvSpPr txBox="1"/>
          <p:nvPr/>
        </p:nvSpPr>
        <p:spPr>
          <a:xfrm>
            <a:off x="777240" y="1920240"/>
            <a:ext cx="2194560" cy="365760"/>
          </a:xfrm>
          <a:prstGeom prst="rect">
            <a:avLst/>
          </a:prstGeom>
          <a:noFill/>
          <a:ln/>
        </p:spPr>
        <p:txBody>
          <a:bodyPr wrap="square" lIns="0" tIns="0" rIns="0" bIns="0" rtlCol="0" anchor="t"/>
          <a:lstStyle/>
          <a:p>
            <a:pPr algn="l" indent="0" marL="0">
              <a:lnSpc>
                <a:spcPct val="110000"/>
              </a:lnSpc>
              <a:buNone/>
            </a:pPr>
            <a:r>
              <a:rPr lang="en-US" sz="1700" b="1" dirty="0">
                <a:solidFill>
                  <a:srgbClr val="1F2937"/>
                </a:solidFill>
                <a:latin typeface="Calibri" pitchFamily="34" charset="0"/>
                <a:ea typeface="Calibri" pitchFamily="34" charset="-122"/>
                <a:cs typeface="Calibri" pitchFamily="34" charset="-120"/>
              </a:rPr>
              <a:t>Free text</a:t>
            </a:r>
            <a:endParaRPr lang="en-US" sz="1700" dirty="0"/>
          </a:p>
        </p:txBody>
      </p:sp>
      <p:sp>
        <p:nvSpPr>
          <p:cNvPr id="6" name="Text 4"/>
          <p:cNvSpPr txBox="1"/>
          <p:nvPr/>
        </p:nvSpPr>
        <p:spPr>
          <a:xfrm>
            <a:off x="777240" y="2331720"/>
            <a:ext cx="2194560" cy="1188720"/>
          </a:xfrm>
          <a:prstGeom prst="rect">
            <a:avLst/>
          </a:prstGeom>
          <a:noFill/>
          <a:ln/>
        </p:spPr>
        <p:txBody>
          <a:bodyPr wrap="square" lIns="0" tIns="0" rIns="0" bIns="0" rtlCol="0" anchor="t"/>
          <a:lstStyle/>
          <a:p>
            <a:pPr algn="l" indent="0" marL="0">
              <a:lnSpc>
                <a:spcPct val="110000"/>
              </a:lnSpc>
              <a:buNone/>
            </a:pPr>
            <a:r>
              <a:rPr lang="en-US" sz="1200" dirty="0">
                <a:solidFill>
                  <a:srgbClr val="1F2937"/>
                </a:solidFill>
                <a:latin typeface="Calibri" pitchFamily="34" charset="0"/>
                <a:ea typeface="Calibri" pitchFamily="34" charset="-122"/>
                <a:cs typeface="Calibri" pitchFamily="34" charset="-120"/>
              </a:rPr>
              <a:t>"Met Omar from Skyline Fitout, 050 123 4567, follow up in 2 days"</a:t>
            </a:r>
            <a:endParaRPr lang="en-US" sz="1200" dirty="0"/>
          </a:p>
        </p:txBody>
      </p:sp>
      <p:sp>
        <p:nvSpPr>
          <p:cNvPr id="7" name="Text 5"/>
          <p:cNvSpPr txBox="1"/>
          <p:nvPr/>
        </p:nvSpPr>
        <p:spPr>
          <a:xfrm>
            <a:off x="777240" y="3566160"/>
            <a:ext cx="219456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Sonnet 5, low effort</a:t>
            </a:r>
            <a:endParaRPr lang="en-US" sz="1100" dirty="0"/>
          </a:p>
        </p:txBody>
      </p:sp>
      <p:sp>
        <p:nvSpPr>
          <p:cNvPr id="8" name="Shape 6"/>
          <p:cNvSpPr/>
          <p:nvPr/>
        </p:nvSpPr>
        <p:spPr>
          <a:xfrm>
            <a:off x="3383280" y="1737360"/>
            <a:ext cx="2651760" cy="2240280"/>
          </a:xfrm>
          <a:prstGeom prst="roundRect">
            <a:avLst>
              <a:gd name="adj" fmla="val 4898"/>
            </a:avLst>
          </a:prstGeom>
          <a:solidFill>
            <a:srgbClr val="F3F4F6"/>
          </a:solidFill>
          <a:ln w="12700">
            <a:solidFill>
              <a:srgbClr val="F3F4F6"/>
            </a:solidFill>
            <a:prstDash val="solid"/>
          </a:ln>
        </p:spPr>
      </p:sp>
      <p:sp>
        <p:nvSpPr>
          <p:cNvPr id="9" name="Text 7"/>
          <p:cNvSpPr txBox="1"/>
          <p:nvPr/>
        </p:nvSpPr>
        <p:spPr>
          <a:xfrm>
            <a:off x="3611880" y="1920240"/>
            <a:ext cx="2194560" cy="365760"/>
          </a:xfrm>
          <a:prstGeom prst="rect">
            <a:avLst/>
          </a:prstGeom>
          <a:noFill/>
          <a:ln/>
        </p:spPr>
        <p:txBody>
          <a:bodyPr wrap="square" lIns="0" tIns="0" rIns="0" bIns="0" rtlCol="0" anchor="t"/>
          <a:lstStyle/>
          <a:p>
            <a:pPr algn="l" indent="0" marL="0">
              <a:lnSpc>
                <a:spcPct val="110000"/>
              </a:lnSpc>
              <a:buNone/>
            </a:pPr>
            <a:r>
              <a:rPr lang="en-US" sz="1700" b="1" dirty="0">
                <a:solidFill>
                  <a:srgbClr val="1F2937"/>
                </a:solidFill>
                <a:latin typeface="Calibri" pitchFamily="34" charset="0"/>
                <a:ea typeface="Calibri" pitchFamily="34" charset="-122"/>
                <a:cs typeface="Calibri" pitchFamily="34" charset="-120"/>
              </a:rPr>
              <a:t>Shared contact</a:t>
            </a:r>
            <a:endParaRPr lang="en-US" sz="1700" dirty="0"/>
          </a:p>
        </p:txBody>
      </p:sp>
      <p:sp>
        <p:nvSpPr>
          <p:cNvPr id="10" name="Text 8"/>
          <p:cNvSpPr txBox="1"/>
          <p:nvPr/>
        </p:nvSpPr>
        <p:spPr>
          <a:xfrm>
            <a:off x="3611880" y="2331720"/>
            <a:ext cx="2194560" cy="1188720"/>
          </a:xfrm>
          <a:prstGeom prst="rect">
            <a:avLst/>
          </a:prstGeom>
          <a:noFill/>
          <a:ln/>
        </p:spPr>
        <p:txBody>
          <a:bodyPr wrap="square" lIns="0" tIns="0" rIns="0" bIns="0" rtlCol="0" anchor="t"/>
          <a:lstStyle/>
          <a:p>
            <a:pPr algn="l" indent="0" marL="0">
              <a:lnSpc>
                <a:spcPct val="110000"/>
              </a:lnSpc>
              <a:buNone/>
            </a:pPr>
            <a:r>
              <a:rPr lang="en-US" sz="1200" dirty="0">
                <a:solidFill>
                  <a:srgbClr val="1F2937"/>
                </a:solidFill>
                <a:latin typeface="Calibri" pitchFamily="34" charset="0"/>
                <a:ea typeface="Calibri" pitchFamily="34" charset="-122"/>
                <a:cs typeface="Calibri" pitchFamily="34" charset="-120"/>
              </a:rPr>
              <a:t>A .vcf attachment. Deterministic parse, no model at all. Refuses when company is missing.</a:t>
            </a:r>
            <a:endParaRPr lang="en-US" sz="1200" dirty="0"/>
          </a:p>
        </p:txBody>
      </p:sp>
      <p:sp>
        <p:nvSpPr>
          <p:cNvPr id="11" name="Text 9"/>
          <p:cNvSpPr txBox="1"/>
          <p:nvPr/>
        </p:nvSpPr>
        <p:spPr>
          <a:xfrm>
            <a:off x="3611880" y="3566160"/>
            <a:ext cx="219456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No model  ·  $0.000</a:t>
            </a:r>
            <a:endParaRPr lang="en-US" sz="1100" dirty="0"/>
          </a:p>
        </p:txBody>
      </p:sp>
      <p:sp>
        <p:nvSpPr>
          <p:cNvPr id="12" name="Shape 10"/>
          <p:cNvSpPr/>
          <p:nvPr/>
        </p:nvSpPr>
        <p:spPr>
          <a:xfrm>
            <a:off x="6217920" y="1737360"/>
            <a:ext cx="2651760" cy="2240280"/>
          </a:xfrm>
          <a:prstGeom prst="roundRect">
            <a:avLst>
              <a:gd name="adj" fmla="val 4898"/>
            </a:avLst>
          </a:prstGeom>
          <a:solidFill>
            <a:srgbClr val="F3F4F6"/>
          </a:solidFill>
          <a:ln w="12700">
            <a:solidFill>
              <a:srgbClr val="F3F4F6"/>
            </a:solidFill>
            <a:prstDash val="solid"/>
          </a:ln>
        </p:spPr>
      </p:sp>
      <p:sp>
        <p:nvSpPr>
          <p:cNvPr id="13" name="Text 11"/>
          <p:cNvSpPr txBox="1"/>
          <p:nvPr/>
        </p:nvSpPr>
        <p:spPr>
          <a:xfrm>
            <a:off x="6446520" y="1920240"/>
            <a:ext cx="2194560" cy="365760"/>
          </a:xfrm>
          <a:prstGeom prst="rect">
            <a:avLst/>
          </a:prstGeom>
          <a:noFill/>
          <a:ln/>
        </p:spPr>
        <p:txBody>
          <a:bodyPr wrap="square" lIns="0" tIns="0" rIns="0" bIns="0" rtlCol="0" anchor="t"/>
          <a:lstStyle/>
          <a:p>
            <a:pPr algn="l" indent="0" marL="0">
              <a:lnSpc>
                <a:spcPct val="110000"/>
              </a:lnSpc>
              <a:buNone/>
            </a:pPr>
            <a:r>
              <a:rPr lang="en-US" sz="1700" b="1" dirty="0">
                <a:solidFill>
                  <a:srgbClr val="1F2937"/>
                </a:solidFill>
                <a:latin typeface="Calibri" pitchFamily="34" charset="0"/>
                <a:ea typeface="Calibri" pitchFamily="34" charset="-122"/>
                <a:cs typeface="Calibri" pitchFamily="34" charset="-120"/>
              </a:rPr>
              <a:t>Business card</a:t>
            </a:r>
            <a:endParaRPr lang="en-US" sz="1700" dirty="0"/>
          </a:p>
        </p:txBody>
      </p:sp>
      <p:sp>
        <p:nvSpPr>
          <p:cNvPr id="14" name="Text 12"/>
          <p:cNvSpPr txBox="1"/>
          <p:nvPr/>
        </p:nvSpPr>
        <p:spPr>
          <a:xfrm>
            <a:off x="6446520" y="2331720"/>
            <a:ext cx="2194560" cy="1188720"/>
          </a:xfrm>
          <a:prstGeom prst="rect">
            <a:avLst/>
          </a:prstGeom>
          <a:noFill/>
          <a:ln/>
        </p:spPr>
        <p:txBody>
          <a:bodyPr wrap="square" lIns="0" tIns="0" rIns="0" bIns="0" rtlCol="0" anchor="t"/>
          <a:lstStyle/>
          <a:p>
            <a:pPr algn="l" indent="0" marL="0">
              <a:lnSpc>
                <a:spcPct val="110000"/>
              </a:lnSpc>
              <a:buNone/>
            </a:pPr>
            <a:r>
              <a:rPr lang="en-US" sz="1200" dirty="0">
                <a:solidFill>
                  <a:srgbClr val="1F2937"/>
                </a:solidFill>
                <a:latin typeface="Calibri" pitchFamily="34" charset="0"/>
                <a:ea typeface="Calibri" pitchFamily="34" charset="-122"/>
                <a:cs typeface="Calibri" pitchFamily="34" charset="-120"/>
              </a:rPr>
              <a:t>A photo. Opus 5 reads it as an image block on the same extraction call. No separate OCR.</a:t>
            </a:r>
            <a:endParaRPr lang="en-US" sz="1200" dirty="0"/>
          </a:p>
        </p:txBody>
      </p:sp>
      <p:sp>
        <p:nvSpPr>
          <p:cNvPr id="15" name="Text 13"/>
          <p:cNvSpPr txBox="1"/>
          <p:nvPr/>
        </p:nvSpPr>
        <p:spPr>
          <a:xfrm>
            <a:off x="6446520" y="3566160"/>
            <a:ext cx="219456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Opus 5 vision</a:t>
            </a:r>
            <a:endParaRPr lang="en-US" sz="1100" dirty="0"/>
          </a:p>
        </p:txBody>
      </p:sp>
      <p:sp>
        <p:nvSpPr>
          <p:cNvPr id="16" name="Shape 14"/>
          <p:cNvSpPr/>
          <p:nvPr/>
        </p:nvSpPr>
        <p:spPr>
          <a:xfrm>
            <a:off x="9052560" y="1737360"/>
            <a:ext cx="2651760" cy="2240280"/>
          </a:xfrm>
          <a:prstGeom prst="roundRect">
            <a:avLst>
              <a:gd name="adj" fmla="val 4898"/>
            </a:avLst>
          </a:prstGeom>
          <a:solidFill>
            <a:srgbClr val="F3F4F6"/>
          </a:solidFill>
          <a:ln w="12700">
            <a:solidFill>
              <a:srgbClr val="F3F4F6"/>
            </a:solidFill>
            <a:prstDash val="solid"/>
          </a:ln>
        </p:spPr>
      </p:sp>
      <p:sp>
        <p:nvSpPr>
          <p:cNvPr id="17" name="Text 15"/>
          <p:cNvSpPr txBox="1"/>
          <p:nvPr/>
        </p:nvSpPr>
        <p:spPr>
          <a:xfrm>
            <a:off x="9281160" y="1920240"/>
            <a:ext cx="2194560" cy="365760"/>
          </a:xfrm>
          <a:prstGeom prst="rect">
            <a:avLst/>
          </a:prstGeom>
          <a:noFill/>
          <a:ln/>
        </p:spPr>
        <p:txBody>
          <a:bodyPr wrap="square" lIns="0" tIns="0" rIns="0" bIns="0" rtlCol="0" anchor="t"/>
          <a:lstStyle/>
          <a:p>
            <a:pPr algn="l" indent="0" marL="0">
              <a:lnSpc>
                <a:spcPct val="110000"/>
              </a:lnSpc>
              <a:buNone/>
            </a:pPr>
            <a:r>
              <a:rPr lang="en-US" sz="1700" b="1" dirty="0">
                <a:solidFill>
                  <a:srgbClr val="1F2937"/>
                </a:solidFill>
                <a:latin typeface="Calibri" pitchFamily="34" charset="0"/>
                <a:ea typeface="Calibri" pitchFamily="34" charset="-122"/>
                <a:cs typeface="Calibri" pitchFamily="34" charset="-120"/>
              </a:rPr>
              <a:t>Voice note</a:t>
            </a:r>
            <a:endParaRPr lang="en-US" sz="1700" dirty="0"/>
          </a:p>
        </p:txBody>
      </p:sp>
      <p:sp>
        <p:nvSpPr>
          <p:cNvPr id="18" name="Text 16"/>
          <p:cNvSpPr txBox="1"/>
          <p:nvPr/>
        </p:nvSpPr>
        <p:spPr>
          <a:xfrm>
            <a:off x="9281160" y="2331720"/>
            <a:ext cx="2194560" cy="1188720"/>
          </a:xfrm>
          <a:prstGeom prst="rect">
            <a:avLst/>
          </a:prstGeom>
          <a:noFill/>
          <a:ln/>
        </p:spPr>
        <p:txBody>
          <a:bodyPr wrap="square" lIns="0" tIns="0" rIns="0" bIns="0" rtlCol="0" anchor="t"/>
          <a:lstStyle/>
          <a:p>
            <a:pPr algn="l" indent="0" marL="0">
              <a:lnSpc>
                <a:spcPct val="110000"/>
              </a:lnSpc>
              <a:buNone/>
            </a:pPr>
            <a:r>
              <a:rPr lang="en-US" sz="1200" dirty="0">
                <a:solidFill>
                  <a:srgbClr val="1F2937"/>
                </a:solidFill>
                <a:latin typeface="Calibri" pitchFamily="34" charset="0"/>
                <a:ea typeface="Calibri" pitchFamily="34" charset="-122"/>
                <a:cs typeface="Calibri" pitchFamily="34" charset="-120"/>
              </a:rPr>
              <a:t>Deepgram transcribes, Sonnet 5 extracts. Works cold or after an "Add note" tap.</a:t>
            </a:r>
            <a:endParaRPr lang="en-US" sz="1200" dirty="0"/>
          </a:p>
        </p:txBody>
      </p:sp>
      <p:sp>
        <p:nvSpPr>
          <p:cNvPr id="19" name="Text 17"/>
          <p:cNvSpPr txBox="1"/>
          <p:nvPr/>
        </p:nvSpPr>
        <p:spPr>
          <a:xfrm>
            <a:off x="9281160" y="3566160"/>
            <a:ext cx="219456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Deepgram + Sonnet 5</a:t>
            </a:r>
            <a:endParaRPr lang="en-US" sz="1100" dirty="0"/>
          </a:p>
        </p:txBody>
      </p:sp>
      <p:sp>
        <p:nvSpPr>
          <p:cNvPr id="20" name="Shape 18"/>
          <p:cNvSpPr/>
          <p:nvPr/>
        </p:nvSpPr>
        <p:spPr>
          <a:xfrm>
            <a:off x="548640" y="4251960"/>
            <a:ext cx="11091672" cy="1920240"/>
          </a:xfrm>
          <a:prstGeom prst="roundRect">
            <a:avLst>
              <a:gd name="adj" fmla="val 5714"/>
            </a:avLst>
          </a:prstGeom>
          <a:solidFill>
            <a:srgbClr val="14181F"/>
          </a:solidFill>
          <a:ln w="12700">
            <a:solidFill>
              <a:srgbClr val="14181F"/>
            </a:solidFill>
            <a:prstDash val="solid"/>
          </a:ln>
        </p:spPr>
      </p:sp>
      <p:sp>
        <p:nvSpPr>
          <p:cNvPr id="21" name="Text 19"/>
          <p:cNvSpPr txBox="1"/>
          <p:nvPr/>
        </p:nvSpPr>
        <p:spPr>
          <a:xfrm>
            <a:off x="822960" y="4434840"/>
            <a:ext cx="1097280" cy="274320"/>
          </a:xfrm>
          <a:prstGeom prst="rect">
            <a:avLst/>
          </a:prstGeom>
          <a:noFill/>
          <a:ln/>
        </p:spPr>
        <p:txBody>
          <a:bodyPr wrap="square" lIns="0" tIns="0" rIns="0" bIns="0" rtlCol="0" anchor="t"/>
          <a:lstStyle/>
          <a:p>
            <a:pPr algn="l" indent="0" marL="0">
              <a:lnSpc>
                <a:spcPct val="110000"/>
              </a:lnSpc>
              <a:buNone/>
            </a:pPr>
            <a:r>
              <a:rPr lang="en-US" sz="1100" b="1" dirty="0">
                <a:solidFill>
                  <a:srgbClr val="E9A23B"/>
                </a:solidFill>
                <a:latin typeface="Calibri" pitchFamily="34" charset="0"/>
                <a:ea typeface="Calibri" pitchFamily="34" charset="-122"/>
                <a:cs typeface="Calibri" pitchFamily="34" charset="-120"/>
              </a:rPr>
              <a:t>OUT</a:t>
            </a:r>
            <a:endParaRPr lang="en-US" sz="1100" dirty="0"/>
          </a:p>
        </p:txBody>
      </p:sp>
      <p:sp>
        <p:nvSpPr>
          <p:cNvPr id="22" name="Text 20"/>
          <p:cNvSpPr txBox="1"/>
          <p:nvPr/>
        </p:nvSpPr>
        <p:spPr>
          <a:xfrm>
            <a:off x="822960" y="4754880"/>
            <a:ext cx="251460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Lead record</a:t>
            </a:r>
            <a:endParaRPr lang="en-US" sz="1500" dirty="0"/>
          </a:p>
        </p:txBody>
      </p:sp>
      <p:sp>
        <p:nvSpPr>
          <p:cNvPr id="23" name="Text 21"/>
          <p:cNvSpPr txBox="1"/>
          <p:nvPr/>
        </p:nvSpPr>
        <p:spPr>
          <a:xfrm>
            <a:off x="822960" y="5102352"/>
            <a:ext cx="2514600" cy="100584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company, first name, last name, mobile, email. A missing field is null and the bot asks. Never invented.</a:t>
            </a:r>
            <a:endParaRPr lang="en-US" sz="1150" dirty="0"/>
          </a:p>
        </p:txBody>
      </p:sp>
      <p:sp>
        <p:nvSpPr>
          <p:cNvPr id="24" name="Text 22"/>
          <p:cNvSpPr txBox="1"/>
          <p:nvPr/>
        </p:nvSpPr>
        <p:spPr>
          <a:xfrm>
            <a:off x="3566160" y="4754880"/>
            <a:ext cx="251460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Meeting notes</a:t>
            </a:r>
            <a:endParaRPr lang="en-US" sz="1500" dirty="0"/>
          </a:p>
        </p:txBody>
      </p:sp>
      <p:sp>
        <p:nvSpPr>
          <p:cNvPr id="25" name="Text 23"/>
          <p:cNvSpPr txBox="1"/>
          <p:nvPr/>
        </p:nvSpPr>
        <p:spPr>
          <a:xfrm>
            <a:off x="3566160" y="5102352"/>
            <a:ext cx="2514600" cy="100584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Summary, key points, action items. The original text is retained alongside.</a:t>
            </a:r>
            <a:endParaRPr lang="en-US" sz="1150" dirty="0"/>
          </a:p>
        </p:txBody>
      </p:sp>
      <p:sp>
        <p:nvSpPr>
          <p:cNvPr id="26" name="Text 24"/>
          <p:cNvSpPr txBox="1"/>
          <p:nvPr/>
        </p:nvSpPr>
        <p:spPr>
          <a:xfrm>
            <a:off x="6309360" y="4754880"/>
            <a:ext cx="251460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Follow-up</a:t>
            </a:r>
            <a:endParaRPr lang="en-US" sz="1500" dirty="0"/>
          </a:p>
        </p:txBody>
      </p:sp>
      <p:sp>
        <p:nvSpPr>
          <p:cNvPr id="27" name="Text 25"/>
          <p:cNvSpPr txBox="1"/>
          <p:nvPr/>
        </p:nvSpPr>
        <p:spPr>
          <a:xfrm>
            <a:off x="6309360" y="5102352"/>
            <a:ext cx="2514600" cy="100584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Resolved and scheduled, or a question back. Fires on the dashboard and in chat.</a:t>
            </a:r>
            <a:endParaRPr lang="en-US" sz="1150" dirty="0"/>
          </a:p>
        </p:txBody>
      </p:sp>
      <p:sp>
        <p:nvSpPr>
          <p:cNvPr id="28" name="Text 26"/>
          <p:cNvSpPr txBox="1"/>
          <p:nvPr/>
        </p:nvSpPr>
        <p:spPr>
          <a:xfrm>
            <a:off x="9052560" y="4754880"/>
            <a:ext cx="251460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Cost line</a:t>
            </a:r>
            <a:endParaRPr lang="en-US" sz="1500" dirty="0"/>
          </a:p>
        </p:txBody>
      </p:sp>
      <p:sp>
        <p:nvSpPr>
          <p:cNvPr id="29" name="Text 27"/>
          <p:cNvSpPr txBox="1"/>
          <p:nvPr/>
        </p:nvSpPr>
        <p:spPr>
          <a:xfrm>
            <a:off x="9052560" y="5102352"/>
            <a:ext cx="2514600" cy="100584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Model, tokens, dollars, milliseconds per component, on the card and on the ledger.</a:t>
            </a:r>
            <a:endParaRPr lang="en-US" sz="1150" dirty="0"/>
          </a:p>
        </p:txBody>
      </p:sp>
      <p:sp>
        <p:nvSpPr>
          <p:cNvPr id="30"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03  ·  ARCHITECTURE</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A deterministic pipeline, not an agent</a:t>
            </a:r>
            <a:endParaRPr lang="en-US" sz="3400" dirty="0"/>
          </a:p>
        </p:txBody>
      </p:sp>
      <p:sp>
        <p:nvSpPr>
          <p:cNvPr id="4" name="Shape 2"/>
          <p:cNvSpPr/>
          <p:nvPr/>
        </p:nvSpPr>
        <p:spPr>
          <a:xfrm>
            <a:off x="548640" y="1874520"/>
            <a:ext cx="1600200" cy="640080"/>
          </a:xfrm>
          <a:prstGeom prst="roundRect">
            <a:avLst>
              <a:gd name="adj" fmla="val 14286"/>
            </a:avLst>
          </a:prstGeom>
          <a:solidFill>
            <a:srgbClr val="F3F4F6"/>
          </a:solidFill>
          <a:ln w="12700">
            <a:solidFill>
              <a:srgbClr val="E9EBEF"/>
            </a:solidFill>
            <a:prstDash val="solid"/>
          </a:ln>
        </p:spPr>
      </p:sp>
      <p:sp>
        <p:nvSpPr>
          <p:cNvPr id="5" name="Text 3"/>
          <p:cNvSpPr txBox="1"/>
          <p:nvPr/>
        </p:nvSpPr>
        <p:spPr>
          <a:xfrm>
            <a:off x="548640" y="1874520"/>
            <a:ext cx="1600200" cy="640080"/>
          </a:xfrm>
          <a:prstGeom prst="rect">
            <a:avLst/>
          </a:prstGeom>
          <a:noFill/>
          <a:ln/>
        </p:spPr>
        <p:txBody>
          <a:bodyPr wrap="square" lIns="635" tIns="635" rIns="635" bIns="635"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Teams / Web Chat</a:t>
            </a:r>
            <a:endParaRPr lang="en-US" sz="1150" dirty="0"/>
          </a:p>
        </p:txBody>
      </p:sp>
      <p:sp>
        <p:nvSpPr>
          <p:cNvPr id="6" name="Shape 4"/>
          <p:cNvSpPr/>
          <p:nvPr/>
        </p:nvSpPr>
        <p:spPr>
          <a:xfrm>
            <a:off x="2148840" y="2194560"/>
            <a:ext cx="274320" cy="0"/>
          </a:xfrm>
          <a:prstGeom prst="line">
            <a:avLst/>
          </a:prstGeom>
          <a:noFill/>
          <a:ln w="19050">
            <a:solidFill>
              <a:srgbClr val="6B7280"/>
            </a:solidFill>
            <a:prstDash val="solid"/>
            <a:tailEnd type="triangle"/>
          </a:ln>
        </p:spPr>
      </p:sp>
      <p:sp>
        <p:nvSpPr>
          <p:cNvPr id="7" name="Shape 5"/>
          <p:cNvSpPr/>
          <p:nvPr/>
        </p:nvSpPr>
        <p:spPr>
          <a:xfrm>
            <a:off x="2423160" y="1874520"/>
            <a:ext cx="1737360" cy="640080"/>
          </a:xfrm>
          <a:prstGeom prst="roundRect">
            <a:avLst>
              <a:gd name="adj" fmla="val 14286"/>
            </a:avLst>
          </a:prstGeom>
          <a:solidFill>
            <a:srgbClr val="F3F4F6"/>
          </a:solidFill>
          <a:ln w="12700">
            <a:solidFill>
              <a:srgbClr val="E9EBEF"/>
            </a:solidFill>
            <a:prstDash val="solid"/>
          </a:ln>
        </p:spPr>
      </p:sp>
      <p:sp>
        <p:nvSpPr>
          <p:cNvPr id="8" name="Text 6"/>
          <p:cNvSpPr txBox="1"/>
          <p:nvPr/>
        </p:nvSpPr>
        <p:spPr>
          <a:xfrm>
            <a:off x="2423160" y="1874520"/>
            <a:ext cx="1737360" cy="640080"/>
          </a:xfrm>
          <a:prstGeom prst="rect">
            <a:avLst/>
          </a:prstGeom>
          <a:noFill/>
          <a:ln/>
        </p:spPr>
        <p:txBody>
          <a:bodyPr wrap="square" lIns="635" tIns="635" rIns="635" bIns="635"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channels/teams.py</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bytes only</a:t>
            </a:r>
            <a:endParaRPr lang="en-US" sz="1150" dirty="0"/>
          </a:p>
        </p:txBody>
      </p:sp>
      <p:sp>
        <p:nvSpPr>
          <p:cNvPr id="9" name="Shape 7"/>
          <p:cNvSpPr/>
          <p:nvPr/>
        </p:nvSpPr>
        <p:spPr>
          <a:xfrm>
            <a:off x="4160520" y="2194560"/>
            <a:ext cx="274320" cy="0"/>
          </a:xfrm>
          <a:prstGeom prst="line">
            <a:avLst/>
          </a:prstGeom>
          <a:noFill/>
          <a:ln w="19050">
            <a:solidFill>
              <a:srgbClr val="6B7280"/>
            </a:solidFill>
            <a:prstDash val="solid"/>
            <a:tailEnd type="triangle"/>
          </a:ln>
        </p:spPr>
      </p:sp>
      <p:sp>
        <p:nvSpPr>
          <p:cNvPr id="10" name="Shape 8"/>
          <p:cNvSpPr/>
          <p:nvPr/>
        </p:nvSpPr>
        <p:spPr>
          <a:xfrm>
            <a:off x="4434840" y="1874520"/>
            <a:ext cx="1417320" cy="640080"/>
          </a:xfrm>
          <a:prstGeom prst="roundRect">
            <a:avLst>
              <a:gd name="adj" fmla="val 14286"/>
            </a:avLst>
          </a:prstGeom>
          <a:solidFill>
            <a:srgbClr val="F3F4F6"/>
          </a:solidFill>
          <a:ln w="12700">
            <a:solidFill>
              <a:srgbClr val="E9EBEF"/>
            </a:solidFill>
            <a:prstDash val="solid"/>
          </a:ln>
        </p:spPr>
      </p:sp>
      <p:sp>
        <p:nvSpPr>
          <p:cNvPr id="11" name="Text 9"/>
          <p:cNvSpPr txBox="1"/>
          <p:nvPr/>
        </p:nvSpPr>
        <p:spPr>
          <a:xfrm>
            <a:off x="4434840" y="1874520"/>
            <a:ext cx="1417320" cy="640080"/>
          </a:xfrm>
          <a:prstGeom prst="rect">
            <a:avLst/>
          </a:prstGeom>
          <a:noFill/>
          <a:ln/>
        </p:spPr>
        <p:txBody>
          <a:bodyPr wrap="square" lIns="635" tIns="635" rIns="635" bIns="635"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InboundEvent</a:t>
            </a:r>
            <a:endParaRPr lang="en-US" sz="1150" dirty="0"/>
          </a:p>
        </p:txBody>
      </p:sp>
      <p:sp>
        <p:nvSpPr>
          <p:cNvPr id="12" name="Shape 10"/>
          <p:cNvSpPr/>
          <p:nvPr/>
        </p:nvSpPr>
        <p:spPr>
          <a:xfrm>
            <a:off x="5852160" y="2194560"/>
            <a:ext cx="274320" cy="0"/>
          </a:xfrm>
          <a:prstGeom prst="line">
            <a:avLst/>
          </a:prstGeom>
          <a:noFill/>
          <a:ln w="19050">
            <a:solidFill>
              <a:srgbClr val="6B7280"/>
            </a:solidFill>
            <a:prstDash val="solid"/>
            <a:tailEnd type="triangle"/>
          </a:ln>
        </p:spPr>
      </p:sp>
      <p:sp>
        <p:nvSpPr>
          <p:cNvPr id="13" name="Shape 11"/>
          <p:cNvSpPr/>
          <p:nvPr/>
        </p:nvSpPr>
        <p:spPr>
          <a:xfrm>
            <a:off x="6126480" y="1874520"/>
            <a:ext cx="2011680" cy="640080"/>
          </a:xfrm>
          <a:prstGeom prst="roundRect">
            <a:avLst>
              <a:gd name="adj" fmla="val 14286"/>
            </a:avLst>
          </a:prstGeom>
          <a:solidFill>
            <a:srgbClr val="14181F"/>
          </a:solidFill>
          <a:ln w="12700">
            <a:solidFill>
              <a:srgbClr val="14181F"/>
            </a:solidFill>
            <a:prstDash val="solid"/>
          </a:ln>
        </p:spPr>
      </p:sp>
      <p:sp>
        <p:nvSpPr>
          <p:cNvPr id="14" name="Text 12"/>
          <p:cNvSpPr txBox="1"/>
          <p:nvPr/>
        </p:nvSpPr>
        <p:spPr>
          <a:xfrm>
            <a:off x="6126480" y="1874520"/>
            <a:ext cx="2011680" cy="640080"/>
          </a:xfrm>
          <a:prstGeom prst="rect">
            <a:avLst/>
          </a:prstGeom>
          <a:noFill/>
          <a:ln/>
        </p:spPr>
        <p:txBody>
          <a:bodyPr wrap="square" lIns="635" tIns="635" rIns="635" bIns="635"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pipeline.handle()</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router · retry · abstain</a:t>
            </a:r>
            <a:endParaRPr lang="en-US" sz="1150" dirty="0"/>
          </a:p>
        </p:txBody>
      </p:sp>
      <p:sp>
        <p:nvSpPr>
          <p:cNvPr id="15" name="Shape 13"/>
          <p:cNvSpPr/>
          <p:nvPr/>
        </p:nvSpPr>
        <p:spPr>
          <a:xfrm>
            <a:off x="8138160" y="2194560"/>
            <a:ext cx="274320" cy="0"/>
          </a:xfrm>
          <a:prstGeom prst="line">
            <a:avLst/>
          </a:prstGeom>
          <a:noFill/>
          <a:ln w="19050">
            <a:solidFill>
              <a:srgbClr val="6B7280"/>
            </a:solidFill>
            <a:prstDash val="solid"/>
            <a:tailEnd type="triangle"/>
          </a:ln>
        </p:spPr>
      </p:sp>
      <p:sp>
        <p:nvSpPr>
          <p:cNvPr id="16" name="Shape 14"/>
          <p:cNvSpPr/>
          <p:nvPr/>
        </p:nvSpPr>
        <p:spPr>
          <a:xfrm>
            <a:off x="8412480" y="1874520"/>
            <a:ext cx="1417320" cy="640080"/>
          </a:xfrm>
          <a:prstGeom prst="roundRect">
            <a:avLst>
              <a:gd name="adj" fmla="val 14286"/>
            </a:avLst>
          </a:prstGeom>
          <a:solidFill>
            <a:srgbClr val="F3F4F6"/>
          </a:solidFill>
          <a:ln w="12700">
            <a:solidFill>
              <a:srgbClr val="E9EBEF"/>
            </a:solidFill>
            <a:prstDash val="solid"/>
          </a:ln>
        </p:spPr>
      </p:sp>
      <p:sp>
        <p:nvSpPr>
          <p:cNvPr id="17" name="Text 15"/>
          <p:cNvSpPr txBox="1"/>
          <p:nvPr/>
        </p:nvSpPr>
        <p:spPr>
          <a:xfrm>
            <a:off x="8412480" y="1874520"/>
            <a:ext cx="1417320" cy="640080"/>
          </a:xfrm>
          <a:prstGeom prst="rect">
            <a:avLst/>
          </a:prstGeom>
          <a:noFill/>
          <a:ln/>
        </p:spPr>
        <p:txBody>
          <a:bodyPr wrap="square" lIns="635" tIns="635" rIns="635" bIns="635"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PipelineResult</a:t>
            </a:r>
            <a:endParaRPr lang="en-US" sz="1150" dirty="0"/>
          </a:p>
        </p:txBody>
      </p:sp>
      <p:sp>
        <p:nvSpPr>
          <p:cNvPr id="18" name="Shape 16"/>
          <p:cNvSpPr/>
          <p:nvPr/>
        </p:nvSpPr>
        <p:spPr>
          <a:xfrm>
            <a:off x="9829800" y="2194560"/>
            <a:ext cx="274320" cy="0"/>
          </a:xfrm>
          <a:prstGeom prst="line">
            <a:avLst/>
          </a:prstGeom>
          <a:noFill/>
          <a:ln w="19050">
            <a:solidFill>
              <a:srgbClr val="6B7280"/>
            </a:solidFill>
            <a:prstDash val="solid"/>
            <a:tailEnd type="triangle"/>
          </a:ln>
        </p:spPr>
      </p:sp>
      <p:sp>
        <p:nvSpPr>
          <p:cNvPr id="19" name="Shape 17"/>
          <p:cNvSpPr/>
          <p:nvPr/>
        </p:nvSpPr>
        <p:spPr>
          <a:xfrm>
            <a:off x="10104120" y="1874520"/>
            <a:ext cx="1463040" cy="640080"/>
          </a:xfrm>
          <a:prstGeom prst="roundRect">
            <a:avLst>
              <a:gd name="adj" fmla="val 14286"/>
            </a:avLst>
          </a:prstGeom>
          <a:solidFill>
            <a:srgbClr val="F3F4F6"/>
          </a:solidFill>
          <a:ln w="12700">
            <a:solidFill>
              <a:srgbClr val="E9EBEF"/>
            </a:solidFill>
            <a:prstDash val="solid"/>
          </a:ln>
        </p:spPr>
      </p:sp>
      <p:sp>
        <p:nvSpPr>
          <p:cNvPr id="20" name="Text 18"/>
          <p:cNvSpPr txBox="1"/>
          <p:nvPr/>
        </p:nvSpPr>
        <p:spPr>
          <a:xfrm>
            <a:off x="10104120" y="1874520"/>
            <a:ext cx="1463040" cy="640080"/>
          </a:xfrm>
          <a:prstGeom prst="rect">
            <a:avLst/>
          </a:prstGeom>
          <a:noFill/>
          <a:ln/>
        </p:spPr>
        <p:txBody>
          <a:bodyPr wrap="square" lIns="635" tIns="635" rIns="635" bIns="635"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Adaptive Card</a:t>
            </a:r>
            <a:endParaRPr lang="en-US" sz="1150" dirty="0"/>
          </a:p>
        </p:txBody>
      </p:sp>
      <p:sp>
        <p:nvSpPr>
          <p:cNvPr id="21" name="Shape 19"/>
          <p:cNvSpPr/>
          <p:nvPr/>
        </p:nvSpPr>
        <p:spPr>
          <a:xfrm>
            <a:off x="7132320" y="2514600"/>
            <a:ext cx="0" cy="320040"/>
          </a:xfrm>
          <a:prstGeom prst="line">
            <a:avLst/>
          </a:prstGeom>
          <a:noFill/>
          <a:ln w="19050">
            <a:solidFill>
              <a:srgbClr val="6B7280"/>
            </a:solidFill>
            <a:prstDash val="solid"/>
          </a:ln>
        </p:spPr>
      </p:sp>
      <p:sp>
        <p:nvSpPr>
          <p:cNvPr id="22" name="Shape 20"/>
          <p:cNvSpPr/>
          <p:nvPr/>
        </p:nvSpPr>
        <p:spPr>
          <a:xfrm>
            <a:off x="5349240" y="2834640"/>
            <a:ext cx="3566160" cy="0"/>
          </a:xfrm>
          <a:prstGeom prst="line">
            <a:avLst/>
          </a:prstGeom>
          <a:noFill/>
          <a:ln w="19050">
            <a:solidFill>
              <a:srgbClr val="6B7280"/>
            </a:solidFill>
            <a:prstDash val="solid"/>
          </a:ln>
        </p:spPr>
      </p:sp>
      <p:sp>
        <p:nvSpPr>
          <p:cNvPr id="23" name="Shape 21"/>
          <p:cNvSpPr/>
          <p:nvPr/>
        </p:nvSpPr>
        <p:spPr>
          <a:xfrm>
            <a:off x="5349240" y="2834640"/>
            <a:ext cx="0" cy="182880"/>
          </a:xfrm>
          <a:prstGeom prst="line">
            <a:avLst/>
          </a:prstGeom>
          <a:noFill/>
          <a:ln w="19050">
            <a:solidFill>
              <a:srgbClr val="6B7280"/>
            </a:solidFill>
            <a:prstDash val="solid"/>
          </a:ln>
        </p:spPr>
      </p:sp>
      <p:sp>
        <p:nvSpPr>
          <p:cNvPr id="24" name="Shape 22"/>
          <p:cNvSpPr/>
          <p:nvPr/>
        </p:nvSpPr>
        <p:spPr>
          <a:xfrm>
            <a:off x="4549140" y="3017520"/>
            <a:ext cx="1600200" cy="777240"/>
          </a:xfrm>
          <a:prstGeom prst="roundRect">
            <a:avLst>
              <a:gd name="adj" fmla="val 14118"/>
            </a:avLst>
          </a:prstGeom>
          <a:solidFill>
            <a:srgbClr val="F3F4F6"/>
          </a:solidFill>
          <a:ln w="12700">
            <a:solidFill>
              <a:srgbClr val="F3F4F6"/>
            </a:solidFill>
            <a:prstDash val="solid"/>
          </a:ln>
        </p:spPr>
      </p:sp>
      <p:sp>
        <p:nvSpPr>
          <p:cNvPr id="25" name="Text 23"/>
          <p:cNvSpPr txBox="1"/>
          <p:nvPr/>
        </p:nvSpPr>
        <p:spPr>
          <a:xfrm>
            <a:off x="4640580" y="3063240"/>
            <a:ext cx="1417320" cy="274320"/>
          </a:xfrm>
          <a:prstGeom prst="rect">
            <a:avLst/>
          </a:prstGeom>
          <a:noFill/>
          <a:ln/>
        </p:spPr>
        <p:txBody>
          <a:bodyPr wrap="square" lIns="0" tIns="0" rIns="0" bIns="0" rtlCol="0" anchor="t"/>
          <a:lstStyle/>
          <a:p>
            <a:pPr algn="ctr" indent="0" marL="0">
              <a:lnSpc>
                <a:spcPct val="110000"/>
              </a:lnSpc>
              <a:buNone/>
            </a:pPr>
            <a:r>
              <a:rPr lang="en-US" sz="1200" b="1" dirty="0">
                <a:solidFill>
                  <a:srgbClr val="1F2937"/>
                </a:solidFill>
                <a:latin typeface="Calibri" pitchFamily="34" charset="0"/>
                <a:ea typeface="Calibri" pitchFamily="34" charset="-122"/>
                <a:cs typeface="Calibri" pitchFamily="34" charset="-120"/>
              </a:rPr>
              <a:t>extract.py</a:t>
            </a:r>
            <a:endParaRPr lang="en-US" sz="1200" dirty="0"/>
          </a:p>
        </p:txBody>
      </p:sp>
      <p:sp>
        <p:nvSpPr>
          <p:cNvPr id="26" name="Text 24"/>
          <p:cNvSpPr txBox="1"/>
          <p:nvPr/>
        </p:nvSpPr>
        <p:spPr>
          <a:xfrm>
            <a:off x="4640580" y="3319272"/>
            <a:ext cx="1417320" cy="457200"/>
          </a:xfrm>
          <a:prstGeom prst="rect">
            <a:avLst/>
          </a:prstGeom>
          <a:noFill/>
          <a:ln/>
        </p:spPr>
        <p:txBody>
          <a:bodyPr wrap="square" lIns="0" tIns="0" rIns="0" bIns="0" rtlCol="0" anchor="t"/>
          <a:lstStyle/>
          <a:p>
            <a:pPr algn="ctr" indent="0" marL="0">
              <a:lnSpc>
                <a:spcPct val="110000"/>
              </a:lnSpc>
              <a:buNone/>
            </a:pPr>
            <a:r>
              <a:rPr lang="en-US" sz="1000" dirty="0">
                <a:solidFill>
                  <a:srgbClr val="6B7280"/>
                </a:solidFill>
                <a:latin typeface="Calibri" pitchFamily="34" charset="0"/>
                <a:ea typeface="Calibri" pitchFamily="34" charset="-122"/>
                <a:cs typeface="Calibri" pitchFamily="34" charset="-120"/>
              </a:rPr>
              <a:t>messages.parse</a:t>
            </a:r>
            <a:endParaRPr lang="en-US" sz="1000" dirty="0"/>
          </a:p>
          <a:p>
            <a:pPr algn="ctr" indent="0" marL="0">
              <a:lnSpc>
                <a:spcPct val="110000"/>
              </a:lnSpc>
              <a:buNone/>
            </a:pPr>
            <a:r>
              <a:rPr lang="en-US" sz="1000" dirty="0">
                <a:solidFill>
                  <a:srgbClr val="6B7280"/>
                </a:solidFill>
                <a:latin typeface="Calibri" pitchFamily="34" charset="0"/>
                <a:ea typeface="Calibri" pitchFamily="34" charset="-122"/>
                <a:cs typeface="Calibri" pitchFamily="34" charset="-120"/>
              </a:rPr>
              <a:t>schema-validated</a:t>
            </a:r>
            <a:endParaRPr lang="en-US" sz="1000" dirty="0"/>
          </a:p>
        </p:txBody>
      </p:sp>
      <p:sp>
        <p:nvSpPr>
          <p:cNvPr id="27" name="Shape 25"/>
          <p:cNvSpPr/>
          <p:nvPr/>
        </p:nvSpPr>
        <p:spPr>
          <a:xfrm>
            <a:off x="7132320" y="2834640"/>
            <a:ext cx="0" cy="182880"/>
          </a:xfrm>
          <a:prstGeom prst="line">
            <a:avLst/>
          </a:prstGeom>
          <a:noFill/>
          <a:ln w="19050">
            <a:solidFill>
              <a:srgbClr val="6B7280"/>
            </a:solidFill>
            <a:prstDash val="solid"/>
          </a:ln>
        </p:spPr>
      </p:sp>
      <p:sp>
        <p:nvSpPr>
          <p:cNvPr id="28" name="Shape 26"/>
          <p:cNvSpPr/>
          <p:nvPr/>
        </p:nvSpPr>
        <p:spPr>
          <a:xfrm>
            <a:off x="6332220" y="3017520"/>
            <a:ext cx="1600200" cy="777240"/>
          </a:xfrm>
          <a:prstGeom prst="roundRect">
            <a:avLst>
              <a:gd name="adj" fmla="val 14118"/>
            </a:avLst>
          </a:prstGeom>
          <a:solidFill>
            <a:srgbClr val="F3F4F6"/>
          </a:solidFill>
          <a:ln w="12700">
            <a:solidFill>
              <a:srgbClr val="F3F4F6"/>
            </a:solidFill>
            <a:prstDash val="solid"/>
          </a:ln>
        </p:spPr>
      </p:sp>
      <p:sp>
        <p:nvSpPr>
          <p:cNvPr id="29" name="Text 27"/>
          <p:cNvSpPr txBox="1"/>
          <p:nvPr/>
        </p:nvSpPr>
        <p:spPr>
          <a:xfrm>
            <a:off x="6423660" y="3063240"/>
            <a:ext cx="1417320" cy="274320"/>
          </a:xfrm>
          <a:prstGeom prst="rect">
            <a:avLst/>
          </a:prstGeom>
          <a:noFill/>
          <a:ln/>
        </p:spPr>
        <p:txBody>
          <a:bodyPr wrap="square" lIns="0" tIns="0" rIns="0" bIns="0" rtlCol="0" anchor="t"/>
          <a:lstStyle/>
          <a:p>
            <a:pPr algn="ctr" indent="0" marL="0">
              <a:lnSpc>
                <a:spcPct val="110000"/>
              </a:lnSpc>
              <a:buNone/>
            </a:pPr>
            <a:r>
              <a:rPr lang="en-US" sz="1200" b="1" dirty="0">
                <a:solidFill>
                  <a:srgbClr val="1F2937"/>
                </a:solidFill>
                <a:latin typeface="Calibri" pitchFamily="34" charset="0"/>
                <a:ea typeface="Calibri" pitchFamily="34" charset="-122"/>
                <a:cs typeface="Calibri" pitchFamily="34" charset="-120"/>
              </a:rPr>
              <a:t>followup.py</a:t>
            </a:r>
            <a:endParaRPr lang="en-US" sz="1200" dirty="0"/>
          </a:p>
        </p:txBody>
      </p:sp>
      <p:sp>
        <p:nvSpPr>
          <p:cNvPr id="30" name="Text 28"/>
          <p:cNvSpPr txBox="1"/>
          <p:nvPr/>
        </p:nvSpPr>
        <p:spPr>
          <a:xfrm>
            <a:off x="6423660" y="3319272"/>
            <a:ext cx="1417320" cy="457200"/>
          </a:xfrm>
          <a:prstGeom prst="rect">
            <a:avLst/>
          </a:prstGeom>
          <a:noFill/>
          <a:ln/>
        </p:spPr>
        <p:txBody>
          <a:bodyPr wrap="square" lIns="0" tIns="0" rIns="0" bIns="0" rtlCol="0" anchor="t"/>
          <a:lstStyle/>
          <a:p>
            <a:pPr algn="ctr" indent="0" marL="0">
              <a:lnSpc>
                <a:spcPct val="110000"/>
              </a:lnSpc>
              <a:buNone/>
            </a:pPr>
            <a:r>
              <a:rPr lang="en-US" sz="1000" dirty="0">
                <a:solidFill>
                  <a:srgbClr val="6B7280"/>
                </a:solidFill>
                <a:latin typeface="Calibri" pitchFamily="34" charset="0"/>
                <a:ea typeface="Calibri" pitchFamily="34" charset="-122"/>
                <a:cs typeface="Calibri" pitchFamily="34" charset="-120"/>
              </a:rPr>
              <a:t>tri-state dates</a:t>
            </a:r>
            <a:endParaRPr lang="en-US" sz="1000" dirty="0"/>
          </a:p>
        </p:txBody>
      </p:sp>
      <p:sp>
        <p:nvSpPr>
          <p:cNvPr id="31" name="Shape 29"/>
          <p:cNvSpPr/>
          <p:nvPr/>
        </p:nvSpPr>
        <p:spPr>
          <a:xfrm>
            <a:off x="8915400" y="2834640"/>
            <a:ext cx="0" cy="182880"/>
          </a:xfrm>
          <a:prstGeom prst="line">
            <a:avLst/>
          </a:prstGeom>
          <a:noFill/>
          <a:ln w="19050">
            <a:solidFill>
              <a:srgbClr val="6B7280"/>
            </a:solidFill>
            <a:prstDash val="solid"/>
          </a:ln>
        </p:spPr>
      </p:sp>
      <p:sp>
        <p:nvSpPr>
          <p:cNvPr id="32" name="Shape 30"/>
          <p:cNvSpPr/>
          <p:nvPr/>
        </p:nvSpPr>
        <p:spPr>
          <a:xfrm>
            <a:off x="8115300" y="3017520"/>
            <a:ext cx="1600200" cy="777240"/>
          </a:xfrm>
          <a:prstGeom prst="roundRect">
            <a:avLst>
              <a:gd name="adj" fmla="val 14118"/>
            </a:avLst>
          </a:prstGeom>
          <a:solidFill>
            <a:srgbClr val="F3F4F6"/>
          </a:solidFill>
          <a:ln w="12700">
            <a:solidFill>
              <a:srgbClr val="F3F4F6"/>
            </a:solidFill>
            <a:prstDash val="solid"/>
          </a:ln>
        </p:spPr>
      </p:sp>
      <p:sp>
        <p:nvSpPr>
          <p:cNvPr id="33" name="Text 31"/>
          <p:cNvSpPr txBox="1"/>
          <p:nvPr/>
        </p:nvSpPr>
        <p:spPr>
          <a:xfrm>
            <a:off x="8206740" y="3063240"/>
            <a:ext cx="1417320" cy="274320"/>
          </a:xfrm>
          <a:prstGeom prst="rect">
            <a:avLst/>
          </a:prstGeom>
          <a:noFill/>
          <a:ln/>
        </p:spPr>
        <p:txBody>
          <a:bodyPr wrap="square" lIns="0" tIns="0" rIns="0" bIns="0" rtlCol="0" anchor="t"/>
          <a:lstStyle/>
          <a:p>
            <a:pPr algn="ctr" indent="0" marL="0">
              <a:lnSpc>
                <a:spcPct val="110000"/>
              </a:lnSpc>
              <a:buNone/>
            </a:pPr>
            <a:r>
              <a:rPr lang="en-US" sz="1200" b="1" dirty="0">
                <a:solidFill>
                  <a:srgbClr val="1F2937"/>
                </a:solidFill>
                <a:latin typeface="Calibri" pitchFamily="34" charset="0"/>
                <a:ea typeface="Calibri" pitchFamily="34" charset="-122"/>
                <a:cs typeface="Calibri" pitchFamily="34" charset="-120"/>
              </a:rPr>
              <a:t>store.py</a:t>
            </a:r>
            <a:endParaRPr lang="en-US" sz="1200" dirty="0"/>
          </a:p>
        </p:txBody>
      </p:sp>
      <p:sp>
        <p:nvSpPr>
          <p:cNvPr id="34" name="Text 32"/>
          <p:cNvSpPr txBox="1"/>
          <p:nvPr/>
        </p:nvSpPr>
        <p:spPr>
          <a:xfrm>
            <a:off x="8206740" y="3319272"/>
            <a:ext cx="1417320" cy="457200"/>
          </a:xfrm>
          <a:prstGeom prst="rect">
            <a:avLst/>
          </a:prstGeom>
          <a:noFill/>
          <a:ln/>
        </p:spPr>
        <p:txBody>
          <a:bodyPr wrap="square" lIns="0" tIns="0" rIns="0" bIns="0" rtlCol="0" anchor="t"/>
          <a:lstStyle/>
          <a:p>
            <a:pPr algn="ctr" indent="0" marL="0">
              <a:lnSpc>
                <a:spcPct val="110000"/>
              </a:lnSpc>
              <a:buNone/>
            </a:pPr>
            <a:r>
              <a:rPr lang="en-US" sz="1000" dirty="0">
                <a:solidFill>
                  <a:srgbClr val="6B7280"/>
                </a:solidFill>
                <a:latin typeface="Calibri" pitchFamily="34" charset="0"/>
                <a:ea typeface="Calibri" pitchFamily="34" charset="-122"/>
                <a:cs typeface="Calibri" pitchFamily="34" charset="-120"/>
              </a:rPr>
              <a:t>Store interface</a:t>
            </a:r>
            <a:endParaRPr lang="en-US" sz="1000" dirty="0"/>
          </a:p>
          <a:p>
            <a:pPr algn="ctr" indent="0" marL="0">
              <a:lnSpc>
                <a:spcPct val="110000"/>
              </a:lnSpc>
              <a:buNone/>
            </a:pPr>
            <a:r>
              <a:rPr lang="en-US" sz="1000" dirty="0">
                <a:solidFill>
                  <a:srgbClr val="6B7280"/>
                </a:solidFill>
                <a:latin typeface="Calibri" pitchFamily="34" charset="0"/>
                <a:ea typeface="Calibri" pitchFamily="34" charset="-122"/>
                <a:cs typeface="Calibri" pitchFamily="34" charset="-120"/>
              </a:rPr>
              <a:t>SQLite + CRUD</a:t>
            </a:r>
            <a:endParaRPr lang="en-US" sz="1000" dirty="0"/>
          </a:p>
        </p:txBody>
      </p:sp>
      <p:sp>
        <p:nvSpPr>
          <p:cNvPr id="35" name="Shape 33"/>
          <p:cNvSpPr/>
          <p:nvPr/>
        </p:nvSpPr>
        <p:spPr>
          <a:xfrm>
            <a:off x="4549140" y="3977640"/>
            <a:ext cx="5166360" cy="411480"/>
          </a:xfrm>
          <a:prstGeom prst="roundRect">
            <a:avLst>
              <a:gd name="adj" fmla="val 17778"/>
            </a:avLst>
          </a:prstGeom>
          <a:solidFill>
            <a:srgbClr val="E9A23B"/>
          </a:solidFill>
          <a:ln w="12700">
            <a:solidFill>
              <a:srgbClr val="E9A23B"/>
            </a:solidFill>
            <a:prstDash val="solid"/>
          </a:ln>
        </p:spPr>
      </p:sp>
      <p:sp>
        <p:nvSpPr>
          <p:cNvPr id="36" name="Text 34"/>
          <p:cNvSpPr txBox="1"/>
          <p:nvPr/>
        </p:nvSpPr>
        <p:spPr>
          <a:xfrm>
            <a:off x="4549140" y="3977640"/>
            <a:ext cx="5166360" cy="411480"/>
          </a:xfrm>
          <a:prstGeom prst="rect">
            <a:avLst/>
          </a:prstGeom>
          <a:noFill/>
          <a:ln/>
        </p:spPr>
        <p:txBody>
          <a:bodyPr wrap="square" lIns="0" tIns="0" rIns="0" bIns="0" rtlCol="0" anchor="ctr"/>
          <a:lstStyle/>
          <a:p>
            <a:pPr algn="ctr" indent="0" marL="0">
              <a:buNone/>
            </a:pPr>
            <a:r>
              <a:rPr lang="en-US" sz="1150" b="1" dirty="0">
                <a:solidFill>
                  <a:srgbClr val="14181F"/>
                </a:solidFill>
                <a:latin typeface="Calibri" pitchFamily="34" charset="0"/>
                <a:ea typeface="Calibri" pitchFamily="34" charset="-122"/>
                <a:cs typeface="Calibri" pitchFamily="34" charset="-120"/>
              </a:rPr>
              <a:t>ledger.py  ·  cost + latency on every step, including the $0 ones</a:t>
            </a:r>
            <a:endParaRPr lang="en-US" sz="1150" dirty="0"/>
          </a:p>
        </p:txBody>
      </p:sp>
      <p:sp>
        <p:nvSpPr>
          <p:cNvPr id="37" name="Text 35"/>
          <p:cNvSpPr txBox="1"/>
          <p:nvPr/>
        </p:nvSpPr>
        <p:spPr>
          <a:xfrm>
            <a:off x="548640" y="4617720"/>
            <a:ext cx="3566160" cy="32004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Control flow is code</a:t>
            </a:r>
            <a:endParaRPr lang="en-US" sz="1400" dirty="0"/>
          </a:p>
        </p:txBody>
      </p:sp>
      <p:sp>
        <p:nvSpPr>
          <p:cNvPr id="38" name="Text 36"/>
          <p:cNvSpPr txBox="1"/>
          <p:nvPr/>
        </p:nvSpPr>
        <p:spPr>
          <a:xfrm>
            <a:off x="548640" y="4965192"/>
            <a:ext cx="3566160" cy="137160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Input type is known, output schema is known. An agent decides its own number of calls, which makes cost and latency variable and unexplainable. A pipeline can be priced exactly, and a deterministic branch can carry an assertion.</a:t>
            </a:r>
            <a:endParaRPr lang="en-US" sz="1100" dirty="0"/>
          </a:p>
        </p:txBody>
      </p:sp>
      <p:sp>
        <p:nvSpPr>
          <p:cNvPr id="39" name="Text 37"/>
          <p:cNvSpPr txBox="1"/>
          <p:nvPr/>
        </p:nvSpPr>
        <p:spPr>
          <a:xfrm>
            <a:off x="4315968" y="4617720"/>
            <a:ext cx="3566160" cy="32004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The model lives in two files</a:t>
            </a:r>
            <a:endParaRPr lang="en-US" sz="1400" dirty="0"/>
          </a:p>
        </p:txBody>
      </p:sp>
      <p:sp>
        <p:nvSpPr>
          <p:cNvPr id="40" name="Text 38"/>
          <p:cNvSpPr txBox="1"/>
          <p:nvPr/>
        </p:nvSpPr>
        <p:spPr>
          <a:xfrm>
            <a:off x="4315968" y="4965192"/>
            <a:ext cx="3566160" cy="137160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extract.py and transcribe.py, behind the pipeline. Model IDs and rates live in ledger.py and nowhere else. Swapping vendor is a file change, not an architecture change.</a:t>
            </a:r>
            <a:endParaRPr lang="en-US" sz="1100" dirty="0"/>
          </a:p>
        </p:txBody>
      </p:sp>
      <p:sp>
        <p:nvSpPr>
          <p:cNvPr id="41" name="Text 39"/>
          <p:cNvSpPr txBox="1"/>
          <p:nvPr/>
        </p:nvSpPr>
        <p:spPr>
          <a:xfrm>
            <a:off x="8083296" y="4617720"/>
            <a:ext cx="3566160" cy="32004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The channel is an adapter</a:t>
            </a:r>
            <a:endParaRPr lang="en-US" sz="1400" dirty="0"/>
          </a:p>
        </p:txBody>
      </p:sp>
      <p:sp>
        <p:nvSpPr>
          <p:cNvPr id="42" name="Text 40"/>
          <p:cNvSpPr txBox="1"/>
          <p:nvPr/>
        </p:nvSpPr>
        <p:spPr>
          <a:xfrm>
            <a:off x="8083296" y="4965192"/>
            <a:ext cx="3566160" cy="137160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Teams-specific code stays in channels/. Vishal moves bytes, the pipeline interprets them. Five real Teams payloads captured in the first half hour let the pipeline be built and tested all day without the tunnel up.</a:t>
            </a:r>
            <a:endParaRPr lang="en-US" sz="1100" dirty="0"/>
          </a:p>
        </p:txBody>
      </p:sp>
      <p:sp>
        <p:nvSpPr>
          <p:cNvPr id="43" name="Text 4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04  ·  RULES WE NEVER BREAK</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Null, not a guess</a:t>
            </a:r>
            <a:endParaRPr lang="en-US" sz="3400" dirty="0"/>
          </a:p>
        </p:txBody>
      </p:sp>
      <p:sp>
        <p:nvSpPr>
          <p:cNvPr id="4" name="Shape 2"/>
          <p:cNvSpPr/>
          <p:nvPr/>
        </p:nvSpPr>
        <p:spPr>
          <a:xfrm>
            <a:off x="548640" y="1737360"/>
            <a:ext cx="3566160" cy="1965960"/>
          </a:xfrm>
          <a:prstGeom prst="roundRect">
            <a:avLst>
              <a:gd name="adj" fmla="val 5581"/>
            </a:avLst>
          </a:prstGeom>
          <a:solidFill>
            <a:srgbClr val="F3F4F6"/>
          </a:solidFill>
          <a:ln w="12700">
            <a:solidFill>
              <a:srgbClr val="F3F4F6"/>
            </a:solidFill>
            <a:prstDash val="solid"/>
          </a:ln>
        </p:spPr>
      </p:sp>
      <p:sp>
        <p:nvSpPr>
          <p:cNvPr id="5" name="Shape 3"/>
          <p:cNvSpPr/>
          <p:nvPr/>
        </p:nvSpPr>
        <p:spPr>
          <a:xfrm>
            <a:off x="777240" y="1965960"/>
            <a:ext cx="384048" cy="384048"/>
          </a:xfrm>
          <a:prstGeom prst="ellipse">
            <a:avLst/>
          </a:prstGeom>
          <a:solidFill>
            <a:srgbClr val="E9A23B"/>
          </a:solidFill>
          <a:ln w="12700">
            <a:solidFill>
              <a:srgbClr val="E9A23B"/>
            </a:solidFill>
            <a:prstDash val="solid"/>
          </a:ln>
        </p:spPr>
      </p:sp>
      <p:sp>
        <p:nvSpPr>
          <p:cNvPr id="6" name="Text 4"/>
          <p:cNvSpPr txBox="1"/>
          <p:nvPr/>
        </p:nvSpPr>
        <p:spPr>
          <a:xfrm>
            <a:off x="777240" y="196596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80160" y="1938528"/>
            <a:ext cx="2651760" cy="5029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Never invent a field value</a:t>
            </a:r>
            <a:endParaRPr lang="en-US" sz="1400" dirty="0"/>
          </a:p>
        </p:txBody>
      </p:sp>
      <p:sp>
        <p:nvSpPr>
          <p:cNvPr id="8" name="Text 6"/>
          <p:cNvSpPr txBox="1"/>
          <p:nvPr/>
        </p:nvSpPr>
        <p:spPr>
          <a:xfrm>
            <a:off x="777240" y="2514600"/>
            <a:ext cx="3108960" cy="114300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A missing field comes back as null and the bot asks. A hallucinated phone number is worse than admitting we did not get one. An email domain is not a company name.</a:t>
            </a:r>
            <a:endParaRPr lang="en-US" sz="1150" dirty="0"/>
          </a:p>
        </p:txBody>
      </p:sp>
      <p:sp>
        <p:nvSpPr>
          <p:cNvPr id="9" name="Shape 7"/>
          <p:cNvSpPr/>
          <p:nvPr/>
        </p:nvSpPr>
        <p:spPr>
          <a:xfrm>
            <a:off x="4315968" y="1737360"/>
            <a:ext cx="3566160" cy="1965960"/>
          </a:xfrm>
          <a:prstGeom prst="roundRect">
            <a:avLst>
              <a:gd name="adj" fmla="val 5581"/>
            </a:avLst>
          </a:prstGeom>
          <a:solidFill>
            <a:srgbClr val="F3F4F6"/>
          </a:solidFill>
          <a:ln w="12700">
            <a:solidFill>
              <a:srgbClr val="F3F4F6"/>
            </a:solidFill>
            <a:prstDash val="solid"/>
          </a:ln>
        </p:spPr>
      </p:sp>
      <p:sp>
        <p:nvSpPr>
          <p:cNvPr id="10" name="Shape 8"/>
          <p:cNvSpPr/>
          <p:nvPr/>
        </p:nvSpPr>
        <p:spPr>
          <a:xfrm>
            <a:off x="4544568" y="1965960"/>
            <a:ext cx="384048" cy="384048"/>
          </a:xfrm>
          <a:prstGeom prst="ellipse">
            <a:avLst/>
          </a:prstGeom>
          <a:solidFill>
            <a:srgbClr val="E9A23B"/>
          </a:solidFill>
          <a:ln w="12700">
            <a:solidFill>
              <a:srgbClr val="E9A23B"/>
            </a:solidFill>
            <a:prstDash val="solid"/>
          </a:ln>
        </p:spPr>
      </p:sp>
      <p:sp>
        <p:nvSpPr>
          <p:cNvPr id="11" name="Text 9"/>
          <p:cNvSpPr txBox="1"/>
          <p:nvPr/>
        </p:nvSpPr>
        <p:spPr>
          <a:xfrm>
            <a:off x="4544568" y="196596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5047488" y="1938528"/>
            <a:ext cx="2651760" cy="5029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Never silently guess a date</a:t>
            </a:r>
            <a:endParaRPr lang="en-US" sz="1400" dirty="0"/>
          </a:p>
        </p:txBody>
      </p:sp>
      <p:sp>
        <p:nvSpPr>
          <p:cNvPr id="13" name="Text 11"/>
          <p:cNvSpPr txBox="1"/>
          <p:nvPr/>
        </p:nvSpPr>
        <p:spPr>
          <a:xfrm>
            <a:off x="4544568" y="2514600"/>
            <a:ext cx="3108960" cy="114300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Follow-up parsing is tri-state: RESOLVED, AMBIGUOUS, NONE. "After 2 days" resolves. "Next week sometime" comes back as a question: which day?</a:t>
            </a:r>
            <a:endParaRPr lang="en-US" sz="1150" dirty="0"/>
          </a:p>
        </p:txBody>
      </p:sp>
      <p:sp>
        <p:nvSpPr>
          <p:cNvPr id="14" name="Shape 12"/>
          <p:cNvSpPr/>
          <p:nvPr/>
        </p:nvSpPr>
        <p:spPr>
          <a:xfrm>
            <a:off x="8083296" y="1737360"/>
            <a:ext cx="3566160" cy="1965960"/>
          </a:xfrm>
          <a:prstGeom prst="roundRect">
            <a:avLst>
              <a:gd name="adj" fmla="val 5581"/>
            </a:avLst>
          </a:prstGeom>
          <a:solidFill>
            <a:srgbClr val="F3F4F6"/>
          </a:solidFill>
          <a:ln w="12700">
            <a:solidFill>
              <a:srgbClr val="F3F4F6"/>
            </a:solidFill>
            <a:prstDash val="solid"/>
          </a:ln>
        </p:spPr>
      </p:sp>
      <p:sp>
        <p:nvSpPr>
          <p:cNvPr id="15" name="Shape 13"/>
          <p:cNvSpPr/>
          <p:nvPr/>
        </p:nvSpPr>
        <p:spPr>
          <a:xfrm>
            <a:off x="8311896" y="1965960"/>
            <a:ext cx="384048" cy="384048"/>
          </a:xfrm>
          <a:prstGeom prst="ellipse">
            <a:avLst/>
          </a:prstGeom>
          <a:solidFill>
            <a:srgbClr val="E9A23B"/>
          </a:solidFill>
          <a:ln w="12700">
            <a:solidFill>
              <a:srgbClr val="E9A23B"/>
            </a:solidFill>
            <a:prstDash val="solid"/>
          </a:ln>
        </p:spPr>
      </p:sp>
      <p:sp>
        <p:nvSpPr>
          <p:cNvPr id="16" name="Text 14"/>
          <p:cNvSpPr txBox="1"/>
          <p:nvPr/>
        </p:nvSpPr>
        <p:spPr>
          <a:xfrm>
            <a:off x="8311896" y="196596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814816" y="1938528"/>
            <a:ext cx="2651760" cy="5029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One message never becomes two leads</a:t>
            </a:r>
            <a:endParaRPr lang="en-US" sz="1400" dirty="0"/>
          </a:p>
        </p:txBody>
      </p:sp>
      <p:sp>
        <p:nvSpPr>
          <p:cNvPr id="18" name="Text 16"/>
          <p:cNvSpPr txBox="1"/>
          <p:nvPr/>
        </p:nvSpPr>
        <p:spPr>
          <a:xfrm>
            <a:off x="8311896" y="2514600"/>
            <a:ext cx="3108960" cy="114300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Idempotent on the Teams activity_id, because Teams retries deliveries. Dedupe on normalised email, then mobile. The card says which field matched.</a:t>
            </a:r>
            <a:endParaRPr lang="en-US" sz="1150" dirty="0"/>
          </a:p>
        </p:txBody>
      </p:sp>
      <p:sp>
        <p:nvSpPr>
          <p:cNvPr id="19" name="Shape 17"/>
          <p:cNvSpPr/>
          <p:nvPr/>
        </p:nvSpPr>
        <p:spPr>
          <a:xfrm>
            <a:off x="548640" y="3931920"/>
            <a:ext cx="3566160" cy="1965960"/>
          </a:xfrm>
          <a:prstGeom prst="roundRect">
            <a:avLst>
              <a:gd name="adj" fmla="val 5581"/>
            </a:avLst>
          </a:prstGeom>
          <a:solidFill>
            <a:srgbClr val="FFFFFF"/>
          </a:solidFill>
          <a:ln w="12700">
            <a:solidFill>
              <a:srgbClr val="FFFFFF"/>
            </a:solidFill>
            <a:prstDash val="solid"/>
          </a:ln>
        </p:spPr>
      </p:sp>
      <p:sp>
        <p:nvSpPr>
          <p:cNvPr id="20" name="Shape 18"/>
          <p:cNvSpPr/>
          <p:nvPr/>
        </p:nvSpPr>
        <p:spPr>
          <a:xfrm>
            <a:off x="548640" y="3931920"/>
            <a:ext cx="3566160" cy="1965960"/>
          </a:xfrm>
          <a:prstGeom prst="roundRect">
            <a:avLst>
              <a:gd name="adj" fmla="val 5581"/>
            </a:avLst>
          </a:prstGeom>
          <a:solidFill>
            <a:srgbClr val="FFFFFF"/>
          </a:solidFill>
          <a:ln w="12700">
            <a:solidFill>
              <a:srgbClr val="E9EBEF"/>
            </a:solidFill>
            <a:prstDash val="solid"/>
          </a:ln>
        </p:spPr>
      </p:sp>
      <p:sp>
        <p:nvSpPr>
          <p:cNvPr id="21" name="Shape 19"/>
          <p:cNvSpPr/>
          <p:nvPr/>
        </p:nvSpPr>
        <p:spPr>
          <a:xfrm>
            <a:off x="777240" y="4160520"/>
            <a:ext cx="384048" cy="384048"/>
          </a:xfrm>
          <a:prstGeom prst="ellipse">
            <a:avLst/>
          </a:prstGeom>
          <a:solidFill>
            <a:srgbClr val="E9A23B"/>
          </a:solidFill>
          <a:ln w="12700">
            <a:solidFill>
              <a:srgbClr val="E9A23B"/>
            </a:solidFill>
            <a:prstDash val="solid"/>
          </a:ln>
        </p:spPr>
      </p:sp>
      <p:sp>
        <p:nvSpPr>
          <p:cNvPr id="22" name="Text 20"/>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280160" y="4133088"/>
            <a:ext cx="2651760" cy="5029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Every model call is priced from real usage</a:t>
            </a:r>
            <a:endParaRPr lang="en-US" sz="1400" dirty="0"/>
          </a:p>
        </p:txBody>
      </p:sp>
      <p:sp>
        <p:nvSpPr>
          <p:cNvPr id="24" name="Text 22"/>
          <p:cNvSpPr txBox="1"/>
          <p:nvPr/>
        </p:nvSpPr>
        <p:spPr>
          <a:xfrm>
            <a:off x="777240" y="4709160"/>
            <a:ext cx="3108960" cy="114300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response.usage times the published per-MTok rate, into the ledger, at the moment of the call. Never estimated, never bolted on afterwards.</a:t>
            </a:r>
            <a:endParaRPr lang="en-US" sz="1150" dirty="0"/>
          </a:p>
        </p:txBody>
      </p:sp>
      <p:sp>
        <p:nvSpPr>
          <p:cNvPr id="25" name="Shape 23"/>
          <p:cNvSpPr/>
          <p:nvPr/>
        </p:nvSpPr>
        <p:spPr>
          <a:xfrm>
            <a:off x="4315968" y="3931920"/>
            <a:ext cx="3566160" cy="1965960"/>
          </a:xfrm>
          <a:prstGeom prst="roundRect">
            <a:avLst>
              <a:gd name="adj" fmla="val 5581"/>
            </a:avLst>
          </a:prstGeom>
          <a:solidFill>
            <a:srgbClr val="FFFFFF"/>
          </a:solidFill>
          <a:ln w="12700">
            <a:solidFill>
              <a:srgbClr val="FFFFFF"/>
            </a:solidFill>
            <a:prstDash val="solid"/>
          </a:ln>
        </p:spPr>
      </p:sp>
      <p:sp>
        <p:nvSpPr>
          <p:cNvPr id="26" name="Shape 24"/>
          <p:cNvSpPr/>
          <p:nvPr/>
        </p:nvSpPr>
        <p:spPr>
          <a:xfrm>
            <a:off x="4315968" y="3931920"/>
            <a:ext cx="3566160" cy="1965960"/>
          </a:xfrm>
          <a:prstGeom prst="roundRect">
            <a:avLst>
              <a:gd name="adj" fmla="val 5581"/>
            </a:avLst>
          </a:prstGeom>
          <a:solidFill>
            <a:srgbClr val="FFFFFF"/>
          </a:solidFill>
          <a:ln w="12700">
            <a:solidFill>
              <a:srgbClr val="E9EBEF"/>
            </a:solidFill>
            <a:prstDash val="solid"/>
          </a:ln>
        </p:spPr>
      </p:sp>
      <p:sp>
        <p:nvSpPr>
          <p:cNvPr id="27" name="Shape 25"/>
          <p:cNvSpPr/>
          <p:nvPr/>
        </p:nvSpPr>
        <p:spPr>
          <a:xfrm>
            <a:off x="4544568" y="4160520"/>
            <a:ext cx="384048" cy="384048"/>
          </a:xfrm>
          <a:prstGeom prst="ellipse">
            <a:avLst/>
          </a:prstGeom>
          <a:solidFill>
            <a:srgbClr val="E9A23B"/>
          </a:solidFill>
          <a:ln w="12700">
            <a:solidFill>
              <a:srgbClr val="E9A23B"/>
            </a:solidFill>
            <a:prstDash val="solid"/>
          </a:ln>
        </p:spPr>
      </p:sp>
      <p:sp>
        <p:nvSpPr>
          <p:cNvPr id="28" name="Text 26"/>
          <p:cNvSpPr txBox="1"/>
          <p:nvPr/>
        </p:nvSpPr>
        <p:spPr>
          <a:xfrm>
            <a:off x="4544568" y="416052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5047488" y="4133088"/>
            <a:ext cx="2651760" cy="5029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Nothing crashes in front of the salesperson</a:t>
            </a:r>
            <a:endParaRPr lang="en-US" sz="1400" dirty="0"/>
          </a:p>
        </p:txBody>
      </p:sp>
      <p:sp>
        <p:nvSpPr>
          <p:cNvPr id="30" name="Text 28"/>
          <p:cNvSpPr txBox="1"/>
          <p:nvPr/>
        </p:nvSpPr>
        <p:spPr>
          <a:xfrm>
            <a:off x="4544568" y="4709160"/>
            <a:ext cx="3108960" cy="114300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Every external call, Claude, Deepgram, Teams, degrades to a typed error the bot can say out loud. A failed extraction asks a question. It never 500s into silence.</a:t>
            </a:r>
            <a:endParaRPr lang="en-US" sz="1150" dirty="0"/>
          </a:p>
        </p:txBody>
      </p:sp>
      <p:sp>
        <p:nvSpPr>
          <p:cNvPr id="31" name="Shape 29"/>
          <p:cNvSpPr/>
          <p:nvPr/>
        </p:nvSpPr>
        <p:spPr>
          <a:xfrm>
            <a:off x="8083296" y="3931920"/>
            <a:ext cx="3566160" cy="1965960"/>
          </a:xfrm>
          <a:prstGeom prst="roundRect">
            <a:avLst>
              <a:gd name="adj" fmla="val 5581"/>
            </a:avLst>
          </a:prstGeom>
          <a:solidFill>
            <a:srgbClr val="FFFFFF"/>
          </a:solidFill>
          <a:ln w="12700">
            <a:solidFill>
              <a:srgbClr val="FFFFFF"/>
            </a:solidFill>
            <a:prstDash val="solid"/>
          </a:ln>
        </p:spPr>
      </p:sp>
      <p:sp>
        <p:nvSpPr>
          <p:cNvPr id="32" name="Shape 30"/>
          <p:cNvSpPr/>
          <p:nvPr/>
        </p:nvSpPr>
        <p:spPr>
          <a:xfrm>
            <a:off x="8083296" y="3931920"/>
            <a:ext cx="3566160" cy="1965960"/>
          </a:xfrm>
          <a:prstGeom prst="roundRect">
            <a:avLst>
              <a:gd name="adj" fmla="val 5581"/>
            </a:avLst>
          </a:prstGeom>
          <a:solidFill>
            <a:srgbClr val="FFFFFF"/>
          </a:solidFill>
          <a:ln w="12700">
            <a:solidFill>
              <a:srgbClr val="E9EBEF"/>
            </a:solidFill>
            <a:prstDash val="solid"/>
          </a:ln>
        </p:spPr>
      </p:sp>
      <p:sp>
        <p:nvSpPr>
          <p:cNvPr id="33" name="Shape 31"/>
          <p:cNvSpPr/>
          <p:nvPr/>
        </p:nvSpPr>
        <p:spPr>
          <a:xfrm>
            <a:off x="8311896" y="4160520"/>
            <a:ext cx="384048" cy="384048"/>
          </a:xfrm>
          <a:prstGeom prst="ellipse">
            <a:avLst/>
          </a:prstGeom>
          <a:solidFill>
            <a:srgbClr val="E9A23B"/>
          </a:solidFill>
          <a:ln w="12700">
            <a:solidFill>
              <a:srgbClr val="E9A23B"/>
            </a:solidFill>
            <a:prstDash val="solid"/>
          </a:ln>
        </p:spPr>
      </p:sp>
      <p:sp>
        <p:nvSpPr>
          <p:cNvPr id="34" name="Text 32"/>
          <p:cNvSpPr txBox="1"/>
          <p:nvPr/>
        </p:nvSpPr>
        <p:spPr>
          <a:xfrm>
            <a:off x="8311896" y="416052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814816" y="4133088"/>
            <a:ext cx="2651760" cy="5029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Anything mocked is labelled</a:t>
            </a:r>
            <a:endParaRPr lang="en-US" sz="1400" dirty="0"/>
          </a:p>
        </p:txBody>
      </p:sp>
      <p:sp>
        <p:nvSpPr>
          <p:cNvPr id="36" name="Text 34"/>
          <p:cNvSpPr txBox="1"/>
          <p:nvPr/>
        </p:nvSpPr>
        <p:spPr>
          <a:xfrm>
            <a:off x="8311896" y="4709160"/>
            <a:ext cx="3108960" cy="114300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In the code and on the risks slide. The store is ours, not Intrakore's CRM. Web Chat, not a Teams client. We say so.</a:t>
            </a:r>
            <a:endParaRPr lang="en-US" sz="1150" dirty="0"/>
          </a:p>
        </p:txBody>
      </p:sp>
      <p:sp>
        <p:nvSpPr>
          <p:cNvPr id="37" name="Text 3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05  ·  THE TEAMS CHANNEL</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Getting bytes in and cards out of Teams</a:t>
            </a:r>
            <a:endParaRPr lang="en-US" sz="3400" dirty="0"/>
          </a:p>
        </p:txBody>
      </p:sp>
      <p:sp>
        <p:nvSpPr>
          <p:cNvPr id="4" name="Shape 2"/>
          <p:cNvSpPr/>
          <p:nvPr/>
        </p:nvSpPr>
        <p:spPr>
          <a:xfrm>
            <a:off x="548640" y="1755648"/>
            <a:ext cx="384048" cy="384048"/>
          </a:xfrm>
          <a:prstGeom prst="ellipse">
            <a:avLst/>
          </a:prstGeom>
          <a:solidFill>
            <a:srgbClr val="E9A23B"/>
          </a:solidFill>
          <a:ln w="12700">
            <a:solidFill>
              <a:srgbClr val="E9A23B"/>
            </a:solidFill>
            <a:prstDash val="solid"/>
          </a:ln>
        </p:spPr>
      </p:sp>
      <p:sp>
        <p:nvSpPr>
          <p:cNvPr id="5" name="Text 3"/>
          <p:cNvSpPr txBox="1"/>
          <p:nvPr/>
        </p:nvSpPr>
        <p:spPr>
          <a:xfrm>
            <a:off x="548640" y="1755648"/>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97280" y="1737360"/>
            <a:ext cx="4937760" cy="2743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Azure AD app + Azure Bot</a:t>
            </a:r>
            <a:endParaRPr lang="en-US" sz="1400" dirty="0"/>
          </a:p>
        </p:txBody>
      </p:sp>
      <p:sp>
        <p:nvSpPr>
          <p:cNvPr id="7" name="Text 5"/>
          <p:cNvSpPr txBox="1"/>
          <p:nvPr/>
        </p:nvSpPr>
        <p:spPr>
          <a:xfrm>
            <a:off x="1097280" y="2029968"/>
            <a:ext cx="4937760" cy="54864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Single-tenant registration, messaging endpoint on a public tunnel to Vishal's laptop.</a:t>
            </a:r>
            <a:endParaRPr lang="en-US" sz="1150" dirty="0"/>
          </a:p>
        </p:txBody>
      </p:sp>
      <p:sp>
        <p:nvSpPr>
          <p:cNvPr id="8" name="Shape 6"/>
          <p:cNvSpPr/>
          <p:nvPr/>
        </p:nvSpPr>
        <p:spPr>
          <a:xfrm>
            <a:off x="548640" y="2651760"/>
            <a:ext cx="384048" cy="384048"/>
          </a:xfrm>
          <a:prstGeom prst="ellipse">
            <a:avLst/>
          </a:prstGeom>
          <a:solidFill>
            <a:srgbClr val="E9A23B"/>
          </a:solidFill>
          <a:ln w="12700">
            <a:solidFill>
              <a:srgbClr val="E9A23B"/>
            </a:solidFill>
            <a:prstDash val="solid"/>
          </a:ln>
        </p:spPr>
      </p:sp>
      <p:sp>
        <p:nvSpPr>
          <p:cNvPr id="9" name="Text 7"/>
          <p:cNvSpPr txBox="1"/>
          <p:nvPr/>
        </p:nvSpPr>
        <p:spPr>
          <a:xfrm>
            <a:off x="548640" y="265176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97280" y="2633472"/>
            <a:ext cx="4937760" cy="2743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/api/messages webhook</a:t>
            </a:r>
            <a:endParaRPr lang="en-US" sz="1400" dirty="0"/>
          </a:p>
        </p:txBody>
      </p:sp>
      <p:sp>
        <p:nvSpPr>
          <p:cNvPr id="11" name="Text 9"/>
          <p:cNvSpPr txBox="1"/>
          <p:nvPr/>
        </p:nvSpPr>
        <p:spPr>
          <a:xfrm>
            <a:off x="1097280" y="2926080"/>
            <a:ext cx="4937760" cy="54864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FastAPI. Receives the Bot Framework Activity, hands the pipeline an InboundEvent, sends a typing indicator concurrently.</a:t>
            </a:r>
            <a:endParaRPr lang="en-US" sz="1150" dirty="0"/>
          </a:p>
        </p:txBody>
      </p:sp>
      <p:sp>
        <p:nvSpPr>
          <p:cNvPr id="12" name="Shape 10"/>
          <p:cNvSpPr/>
          <p:nvPr/>
        </p:nvSpPr>
        <p:spPr>
          <a:xfrm>
            <a:off x="548640" y="3547872"/>
            <a:ext cx="384048" cy="384048"/>
          </a:xfrm>
          <a:prstGeom prst="ellipse">
            <a:avLst/>
          </a:prstGeom>
          <a:solidFill>
            <a:srgbClr val="E9A23B"/>
          </a:solidFill>
          <a:ln w="12700">
            <a:solidFill>
              <a:srgbClr val="E9A23B"/>
            </a:solidFill>
            <a:prstDash val="solid"/>
          </a:ln>
        </p:spPr>
      </p:sp>
      <p:sp>
        <p:nvSpPr>
          <p:cNvPr id="13" name="Text 11"/>
          <p:cNvSpPr txBox="1"/>
          <p:nvPr/>
        </p:nvSpPr>
        <p:spPr>
          <a:xfrm>
            <a:off x="548640" y="3547872"/>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3529584"/>
            <a:ext cx="4937760" cy="2743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Attachments fetched as bytes</a:t>
            </a:r>
            <a:endParaRPr lang="en-US" sz="1400" dirty="0"/>
          </a:p>
        </p:txBody>
      </p:sp>
      <p:sp>
        <p:nvSpPr>
          <p:cNvPr id="15" name="Text 13"/>
          <p:cNvSpPr txBox="1"/>
          <p:nvPr/>
        </p:nvSpPr>
        <p:spPr>
          <a:xfrm>
            <a:off x="1097280" y="3822192"/>
            <a:ext cx="4937760" cy="54864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teams.py downloads the file and never inspects it. Images, audio, .vcf all classified in the pipeline.</a:t>
            </a:r>
            <a:endParaRPr lang="en-US" sz="1150" dirty="0"/>
          </a:p>
        </p:txBody>
      </p:sp>
      <p:sp>
        <p:nvSpPr>
          <p:cNvPr id="16" name="Shape 14"/>
          <p:cNvSpPr/>
          <p:nvPr/>
        </p:nvSpPr>
        <p:spPr>
          <a:xfrm>
            <a:off x="548640" y="4443984"/>
            <a:ext cx="384048" cy="384048"/>
          </a:xfrm>
          <a:prstGeom prst="ellipse">
            <a:avLst/>
          </a:prstGeom>
          <a:solidFill>
            <a:srgbClr val="E9A23B"/>
          </a:solidFill>
          <a:ln w="12700">
            <a:solidFill>
              <a:srgbClr val="E9A23B"/>
            </a:solidFill>
            <a:prstDash val="solid"/>
          </a:ln>
        </p:spPr>
      </p:sp>
      <p:sp>
        <p:nvSpPr>
          <p:cNvPr id="17" name="Text 15"/>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97280" y="4425696"/>
            <a:ext cx="4937760" cy="2743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Adaptive Cards back</a:t>
            </a:r>
            <a:endParaRPr lang="en-US" sz="1400" dirty="0"/>
          </a:p>
        </p:txBody>
      </p:sp>
      <p:sp>
        <p:nvSpPr>
          <p:cNvPr id="19" name="Text 17"/>
          <p:cNvSpPr txBox="1"/>
          <p:nvPr/>
        </p:nvSpPr>
        <p:spPr>
          <a:xfrm>
            <a:off x="1097280" y="4718304"/>
            <a:ext cx="4937760" cy="54864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Lead card with Add note, Edit, Delete buttons and the cost line. Buttons post typed payloads, not free text.</a:t>
            </a:r>
            <a:endParaRPr lang="en-US" sz="1150" dirty="0"/>
          </a:p>
        </p:txBody>
      </p:sp>
      <p:sp>
        <p:nvSpPr>
          <p:cNvPr id="20" name="Shape 18"/>
          <p:cNvSpPr/>
          <p:nvPr/>
        </p:nvSpPr>
        <p:spPr>
          <a:xfrm>
            <a:off x="548640" y="5340096"/>
            <a:ext cx="384048" cy="384048"/>
          </a:xfrm>
          <a:prstGeom prst="ellipse">
            <a:avLst/>
          </a:prstGeom>
          <a:solidFill>
            <a:srgbClr val="E9A23B"/>
          </a:solidFill>
          <a:ln w="12700">
            <a:solidFill>
              <a:srgbClr val="E9A23B"/>
            </a:solidFill>
            <a:prstDash val="solid"/>
          </a:ln>
        </p:spPr>
      </p:sp>
      <p:sp>
        <p:nvSpPr>
          <p:cNvPr id="21" name="Text 19"/>
          <p:cNvSpPr txBox="1"/>
          <p:nvPr/>
        </p:nvSpPr>
        <p:spPr>
          <a:xfrm>
            <a:off x="548640" y="5340096"/>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97280" y="5321808"/>
            <a:ext cx="4937760" cy="274320"/>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Web Chat, not a Teams client</a:t>
            </a:r>
            <a:endParaRPr lang="en-US" sz="1400" dirty="0"/>
          </a:p>
        </p:txBody>
      </p:sp>
      <p:sp>
        <p:nvSpPr>
          <p:cNvPr id="23" name="Text 21"/>
          <p:cNvSpPr txBox="1"/>
          <p:nvPr/>
        </p:nvSpPr>
        <p:spPr>
          <a:xfrm>
            <a:off x="1097280" y="5614416"/>
            <a:ext cx="4937760" cy="54864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Sideloading is blocked at tenant level, so the demo runs in Azure "Test in Web Chat". Same bot, same endpoint.</a:t>
            </a:r>
            <a:endParaRPr lang="en-US" sz="1150" dirty="0"/>
          </a:p>
        </p:txBody>
      </p:sp>
      <p:sp>
        <p:nvSpPr>
          <p:cNvPr id="24" name="Shape 22"/>
          <p:cNvSpPr/>
          <p:nvPr/>
        </p:nvSpPr>
        <p:spPr>
          <a:xfrm>
            <a:off x="6492240" y="1737360"/>
            <a:ext cx="5166360" cy="4434840"/>
          </a:xfrm>
          <a:prstGeom prst="roundRect">
            <a:avLst>
              <a:gd name="adj" fmla="val 2474"/>
            </a:avLst>
          </a:prstGeom>
          <a:solidFill>
            <a:srgbClr val="14181F"/>
          </a:solidFill>
          <a:ln w="12700">
            <a:solidFill>
              <a:srgbClr val="14181F"/>
            </a:solidFill>
            <a:prstDash val="solid"/>
          </a:ln>
        </p:spPr>
      </p:sp>
      <p:sp>
        <p:nvSpPr>
          <p:cNvPr id="25" name="Text 23"/>
          <p:cNvSpPr txBox="1"/>
          <p:nvPr/>
        </p:nvSpPr>
        <p:spPr>
          <a:xfrm>
            <a:off x="6766560" y="1920240"/>
            <a:ext cx="4663440" cy="274320"/>
          </a:xfrm>
          <a:prstGeom prst="rect">
            <a:avLst/>
          </a:prstGeom>
          <a:noFill/>
          <a:ln/>
        </p:spPr>
        <p:txBody>
          <a:bodyPr wrap="square" lIns="0" tIns="0" rIns="0" bIns="0" rtlCol="0" anchor="t"/>
          <a:lstStyle/>
          <a:p>
            <a:pPr algn="l" indent="0" marL="0">
              <a:lnSpc>
                <a:spcPct val="110000"/>
              </a:lnSpc>
              <a:buNone/>
            </a:pPr>
            <a:r>
              <a:rPr lang="en-US" sz="1100" b="1" dirty="0">
                <a:solidFill>
                  <a:srgbClr val="E9A23B"/>
                </a:solidFill>
                <a:latin typeface="Calibri" pitchFamily="34" charset="0"/>
                <a:ea typeface="Calibri" pitchFamily="34" charset="-122"/>
                <a:cs typeface="Calibri" pitchFamily="34" charset="-120"/>
              </a:rPr>
              <a:t>WHAT THE CHANNEL COST US TODAY</a:t>
            </a:r>
            <a:endParaRPr lang="en-US" sz="1100" dirty="0"/>
          </a:p>
        </p:txBody>
      </p:sp>
      <p:sp>
        <p:nvSpPr>
          <p:cNvPr id="26" name="Text 24"/>
          <p:cNvSpPr txBox="1"/>
          <p:nvPr/>
        </p:nvSpPr>
        <p:spPr>
          <a:xfrm>
            <a:off x="6766560" y="2286000"/>
            <a:ext cx="4663440" cy="2743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Calibri" pitchFamily="34" charset="0"/>
                <a:ea typeface="Calibri" pitchFamily="34" charset="-122"/>
                <a:cs typeface="Calibri" pitchFamily="34" charset="-120"/>
              </a:rPr>
              <a:t>conversationUpdate ran the pipeline.</a:t>
            </a:r>
            <a:endParaRPr lang="en-US" sz="1300" dirty="0"/>
          </a:p>
        </p:txBody>
      </p:sp>
      <p:sp>
        <p:nvSpPr>
          <p:cNvPr id="27" name="Text 25"/>
          <p:cNvSpPr txBox="1"/>
          <p:nvPr/>
        </p:nvSpPr>
        <p:spPr>
          <a:xfrm>
            <a:off x="6766560" y="2578608"/>
            <a:ext cx="4663440" cy="594360"/>
          </a:xfrm>
          <a:prstGeom prst="rect">
            <a:avLst/>
          </a:prstGeom>
          <a:noFill/>
          <a:ln/>
        </p:spPr>
        <p:txBody>
          <a:bodyPr wrap="square" lIns="0" tIns="0" rIns="0" bIns="0" rtlCol="0" anchor="t"/>
          <a:lstStyle/>
          <a:p>
            <a:pPr algn="l" indent="0" marL="0">
              <a:lnSpc>
                <a:spcPct val="110000"/>
              </a:lnSpc>
              <a:buNone/>
            </a:pPr>
            <a:r>
              <a:rPr lang="en-US" sz="1100" dirty="0">
                <a:solidFill>
                  <a:srgbClr val="C9CED6"/>
                </a:solidFill>
                <a:latin typeface="Calibri" pitchFamily="34" charset="0"/>
                <a:ea typeface="Calibri" pitchFamily="34" charset="-122"/>
                <a:cs typeface="Calibri" pitchFamily="34" charset="-120"/>
              </a:rPr>
              <a:t>An unprompted "which company?" card ate the first real lead. Now only message activities reach the pipeline.</a:t>
            </a:r>
            <a:endParaRPr lang="en-US" sz="1100" dirty="0"/>
          </a:p>
        </p:txBody>
      </p:sp>
      <p:sp>
        <p:nvSpPr>
          <p:cNvPr id="28" name="Text 26"/>
          <p:cNvSpPr txBox="1"/>
          <p:nvPr/>
        </p:nvSpPr>
        <p:spPr>
          <a:xfrm>
            <a:off x="6766560" y="3218688"/>
            <a:ext cx="4663440" cy="2743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Calibri" pitchFamily="34" charset="0"/>
                <a:ea typeface="Calibri" pitchFamily="34" charset="-122"/>
                <a:cs typeface="Calibri" pitchFamily="34" charset="-120"/>
              </a:rPr>
              <a:t>Replies silently 400'd.</a:t>
            </a:r>
            <a:endParaRPr lang="en-US" sz="1300" dirty="0"/>
          </a:p>
        </p:txBody>
      </p:sp>
      <p:sp>
        <p:nvSpPr>
          <p:cNvPr id="29" name="Text 27"/>
          <p:cNvSpPr txBox="1"/>
          <p:nvPr/>
        </p:nvSpPr>
        <p:spPr>
          <a:xfrm>
            <a:off x="6766560" y="3511296"/>
            <a:ext cx="4663440" cy="594360"/>
          </a:xfrm>
          <a:prstGeom prst="rect">
            <a:avLst/>
          </a:prstGeom>
          <a:noFill/>
          <a:ln/>
        </p:spPr>
        <p:txBody>
          <a:bodyPr wrap="square" lIns="0" tIns="0" rIns="0" bIns="0" rtlCol="0" anchor="t"/>
          <a:lstStyle/>
          <a:p>
            <a:pPr algn="l" indent="0" marL="0">
              <a:lnSpc>
                <a:spcPct val="110000"/>
              </a:lnSpc>
              <a:buNone/>
            </a:pPr>
            <a:r>
              <a:rPr lang="en-US" sz="1100" dirty="0">
                <a:solidFill>
                  <a:srgbClr val="C9CED6"/>
                </a:solidFill>
                <a:latin typeface="Calibri" pitchFamily="34" charset="0"/>
                <a:ea typeface="Calibri" pitchFamily="34" charset="-122"/>
                <a:cs typeface="Calibri" pitchFamily="34" charset="-120"/>
              </a:rPr>
              <a:t>Activity.From was missing on the outbound envelope. Nothing crashed, nothing was said either. Now every reply carries a full envelope.</a:t>
            </a:r>
            <a:endParaRPr lang="en-US" sz="1100" dirty="0"/>
          </a:p>
        </p:txBody>
      </p:sp>
      <p:sp>
        <p:nvSpPr>
          <p:cNvPr id="30" name="Text 28"/>
          <p:cNvSpPr txBox="1"/>
          <p:nvPr/>
        </p:nvSpPr>
        <p:spPr>
          <a:xfrm>
            <a:off x="6766560" y="4151376"/>
            <a:ext cx="4663440" cy="2743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Calibri" pitchFamily="34" charset="0"/>
                <a:ea typeface="Calibri" pitchFamily="34" charset="-122"/>
                <a:cs typeface="Calibri" pitchFamily="34" charset="-120"/>
              </a:rPr>
              <a:t>Wrong token authority.</a:t>
            </a:r>
            <a:endParaRPr lang="en-US" sz="1300" dirty="0"/>
          </a:p>
        </p:txBody>
      </p:sp>
      <p:sp>
        <p:nvSpPr>
          <p:cNvPr id="31" name="Text 29"/>
          <p:cNvSpPr txBox="1"/>
          <p:nvPr/>
        </p:nvSpPr>
        <p:spPr>
          <a:xfrm>
            <a:off x="6766560" y="4443984"/>
            <a:ext cx="4663440" cy="594360"/>
          </a:xfrm>
          <a:prstGeom prst="rect">
            <a:avLst/>
          </a:prstGeom>
          <a:noFill/>
          <a:ln/>
        </p:spPr>
        <p:txBody>
          <a:bodyPr wrap="square" lIns="0" tIns="0" rIns="0" bIns="0" rtlCol="0" anchor="t"/>
          <a:lstStyle/>
          <a:p>
            <a:pPr algn="l" indent="0" marL="0">
              <a:lnSpc>
                <a:spcPct val="110000"/>
              </a:lnSpc>
              <a:buNone/>
            </a:pPr>
            <a:r>
              <a:rPr lang="en-US" sz="1100" dirty="0">
                <a:solidFill>
                  <a:srgbClr val="C9CED6"/>
                </a:solidFill>
                <a:latin typeface="Calibri" pitchFamily="34" charset="0"/>
                <a:ea typeface="Calibri" pitchFamily="34" charset="-122"/>
                <a:cs typeface="Calibri" pitchFamily="34" charset="-120"/>
              </a:rPr>
              <a:t>Single-tenant apps need the tenant-specific authority, not the common one. One line, forty minutes.</a:t>
            </a:r>
            <a:endParaRPr lang="en-US" sz="1100" dirty="0"/>
          </a:p>
        </p:txBody>
      </p:sp>
      <p:sp>
        <p:nvSpPr>
          <p:cNvPr id="32" name="Text 30"/>
          <p:cNvSpPr txBox="1"/>
          <p:nvPr/>
        </p:nvSpPr>
        <p:spPr>
          <a:xfrm>
            <a:off x="6766560" y="5084064"/>
            <a:ext cx="4663440" cy="2743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Calibri" pitchFamily="34" charset="0"/>
                <a:ea typeface="Calibri" pitchFamily="34" charset="-122"/>
                <a:cs typeface="Calibri" pitchFamily="34" charset="-120"/>
              </a:rPr>
              <a:t>Live JWTs in captured payloads.</a:t>
            </a:r>
            <a:endParaRPr lang="en-US" sz="1300" dirty="0"/>
          </a:p>
        </p:txBody>
      </p:sp>
      <p:sp>
        <p:nvSpPr>
          <p:cNvPr id="33" name="Text 31"/>
          <p:cNvSpPr txBox="1"/>
          <p:nvPr/>
        </p:nvSpPr>
        <p:spPr>
          <a:xfrm>
            <a:off x="6766560" y="5376672"/>
            <a:ext cx="4663440" cy="594360"/>
          </a:xfrm>
          <a:prstGeom prst="rect">
            <a:avLst/>
          </a:prstGeom>
          <a:noFill/>
          <a:ln/>
        </p:spPr>
        <p:txBody>
          <a:bodyPr wrap="square" lIns="0" tIns="0" rIns="0" bIns="0" rtlCol="0" anchor="t"/>
          <a:lstStyle/>
          <a:p>
            <a:pPr algn="l" indent="0" marL="0">
              <a:lnSpc>
                <a:spcPct val="110000"/>
              </a:lnSpc>
              <a:buNone/>
            </a:pPr>
            <a:r>
              <a:rPr lang="en-US" sz="1100" dirty="0">
                <a:solidFill>
                  <a:srgbClr val="C9CED6"/>
                </a:solidFill>
                <a:latin typeface="Calibri" pitchFamily="34" charset="0"/>
                <a:ea typeface="Calibri" pitchFamily="34" charset="-122"/>
                <a:cs typeface="Calibri" pitchFamily="34" charset="-120"/>
              </a:rPr>
              <a:t>Raw Web Chat captures went into a public repo. Scrubbed, rotated, fixtures redacted.</a:t>
            </a:r>
            <a:endParaRPr lang="en-US" sz="110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E9A23B"/>
                </a:solidFill>
                <a:latin typeface="Calibri" pitchFamily="34" charset="0"/>
                <a:ea typeface="Calibri" pitchFamily="34" charset="-122"/>
                <a:cs typeface="Calibri" pitchFamily="34" charset="-120"/>
              </a:rPr>
              <a:t>06  ·  LIVE DEMO</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What you are about to see</a:t>
            </a:r>
            <a:endParaRPr lang="en-US" sz="3400" dirty="0"/>
          </a:p>
        </p:txBody>
      </p:sp>
      <p:sp>
        <p:nvSpPr>
          <p:cNvPr id="4" name="Shape 2"/>
          <p:cNvSpPr/>
          <p:nvPr/>
        </p:nvSpPr>
        <p:spPr>
          <a:xfrm>
            <a:off x="548640" y="1737360"/>
            <a:ext cx="5349240" cy="960120"/>
          </a:xfrm>
          <a:prstGeom prst="roundRect">
            <a:avLst>
              <a:gd name="adj" fmla="val 11429"/>
            </a:avLst>
          </a:prstGeom>
          <a:solidFill>
            <a:srgbClr val="1F2530"/>
          </a:solidFill>
          <a:ln w="12700">
            <a:solidFill>
              <a:srgbClr val="1F2530"/>
            </a:solidFill>
            <a:prstDash val="solid"/>
          </a:ln>
        </p:spPr>
      </p:sp>
      <p:sp>
        <p:nvSpPr>
          <p:cNvPr id="5" name="Shape 3"/>
          <p:cNvSpPr/>
          <p:nvPr/>
        </p:nvSpPr>
        <p:spPr>
          <a:xfrm>
            <a:off x="749808" y="2011680"/>
            <a:ext cx="384048" cy="384048"/>
          </a:xfrm>
          <a:prstGeom prst="ellipse">
            <a:avLst/>
          </a:prstGeom>
          <a:solidFill>
            <a:srgbClr val="E9A23B"/>
          </a:solidFill>
          <a:ln w="12700">
            <a:solidFill>
              <a:srgbClr val="E9A23B"/>
            </a:solidFill>
            <a:prstDash val="solid"/>
          </a:ln>
        </p:spPr>
      </p:sp>
      <p:sp>
        <p:nvSpPr>
          <p:cNvPr id="6" name="Text 4"/>
          <p:cNvSpPr txBox="1"/>
          <p:nvPr/>
        </p:nvSpPr>
        <p:spPr>
          <a:xfrm>
            <a:off x="749808" y="201168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80160" y="1892808"/>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Business card with no company</a:t>
            </a:r>
            <a:endParaRPr lang="en-US" sz="1500" dirty="0"/>
          </a:p>
        </p:txBody>
      </p:sp>
      <p:sp>
        <p:nvSpPr>
          <p:cNvPr id="8" name="Text 6"/>
          <p:cNvSpPr txBox="1"/>
          <p:nvPr/>
        </p:nvSpPr>
        <p:spPr>
          <a:xfrm>
            <a:off x="1280160" y="2221992"/>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The bot refuses to guess, asks, gets an answer, then creates the lead.</a:t>
            </a:r>
            <a:endParaRPr lang="en-US" sz="1150" dirty="0"/>
          </a:p>
        </p:txBody>
      </p:sp>
      <p:sp>
        <p:nvSpPr>
          <p:cNvPr id="9" name="Shape 7"/>
          <p:cNvSpPr/>
          <p:nvPr/>
        </p:nvSpPr>
        <p:spPr>
          <a:xfrm>
            <a:off x="6217920" y="1737360"/>
            <a:ext cx="5349240" cy="960120"/>
          </a:xfrm>
          <a:prstGeom prst="roundRect">
            <a:avLst>
              <a:gd name="adj" fmla="val 11429"/>
            </a:avLst>
          </a:prstGeom>
          <a:solidFill>
            <a:srgbClr val="1F2530"/>
          </a:solidFill>
          <a:ln w="12700">
            <a:solidFill>
              <a:srgbClr val="1F2530"/>
            </a:solidFill>
            <a:prstDash val="solid"/>
          </a:ln>
        </p:spPr>
      </p:sp>
      <p:sp>
        <p:nvSpPr>
          <p:cNvPr id="10" name="Shape 8"/>
          <p:cNvSpPr/>
          <p:nvPr/>
        </p:nvSpPr>
        <p:spPr>
          <a:xfrm>
            <a:off x="6419088" y="2011680"/>
            <a:ext cx="384048" cy="384048"/>
          </a:xfrm>
          <a:prstGeom prst="ellipse">
            <a:avLst/>
          </a:prstGeom>
          <a:solidFill>
            <a:srgbClr val="E9A23B"/>
          </a:solidFill>
          <a:ln w="12700">
            <a:solidFill>
              <a:srgbClr val="E9A23B"/>
            </a:solidFill>
            <a:prstDash val="solid"/>
          </a:ln>
        </p:spPr>
      </p:sp>
      <p:sp>
        <p:nvSpPr>
          <p:cNvPr id="11" name="Text 9"/>
          <p:cNvSpPr txBox="1"/>
          <p:nvPr/>
        </p:nvSpPr>
        <p:spPr>
          <a:xfrm>
            <a:off x="6419088" y="2011680"/>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6949440" y="1892808"/>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Free-text lead</a:t>
            </a:r>
            <a:endParaRPr lang="en-US" sz="1500" dirty="0"/>
          </a:p>
        </p:txBody>
      </p:sp>
      <p:sp>
        <p:nvSpPr>
          <p:cNvPr id="13" name="Text 11"/>
          <p:cNvSpPr txBox="1"/>
          <p:nvPr/>
        </p:nvSpPr>
        <p:spPr>
          <a:xfrm>
            <a:off x="6949440" y="2221992"/>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A card with Add note, Edit, Delete and the cost line.</a:t>
            </a:r>
            <a:endParaRPr lang="en-US" sz="1150" dirty="0"/>
          </a:p>
        </p:txBody>
      </p:sp>
      <p:sp>
        <p:nvSpPr>
          <p:cNvPr id="14" name="Shape 12"/>
          <p:cNvSpPr/>
          <p:nvPr/>
        </p:nvSpPr>
        <p:spPr>
          <a:xfrm>
            <a:off x="548640" y="2862072"/>
            <a:ext cx="5349240" cy="960120"/>
          </a:xfrm>
          <a:prstGeom prst="roundRect">
            <a:avLst>
              <a:gd name="adj" fmla="val 11429"/>
            </a:avLst>
          </a:prstGeom>
          <a:solidFill>
            <a:srgbClr val="1F2530"/>
          </a:solidFill>
          <a:ln w="12700">
            <a:solidFill>
              <a:srgbClr val="1F2530"/>
            </a:solidFill>
            <a:prstDash val="solid"/>
          </a:ln>
        </p:spPr>
      </p:sp>
      <p:sp>
        <p:nvSpPr>
          <p:cNvPr id="15" name="Shape 13"/>
          <p:cNvSpPr/>
          <p:nvPr/>
        </p:nvSpPr>
        <p:spPr>
          <a:xfrm>
            <a:off x="749808" y="3136392"/>
            <a:ext cx="384048" cy="384048"/>
          </a:xfrm>
          <a:prstGeom prst="ellipse">
            <a:avLst/>
          </a:prstGeom>
          <a:solidFill>
            <a:srgbClr val="E9A23B"/>
          </a:solidFill>
          <a:ln w="12700">
            <a:solidFill>
              <a:srgbClr val="E9A23B"/>
            </a:solidFill>
            <a:prstDash val="solid"/>
          </a:ln>
        </p:spPr>
      </p:sp>
      <p:sp>
        <p:nvSpPr>
          <p:cNvPr id="16" name="Text 14"/>
          <p:cNvSpPr txBox="1"/>
          <p:nvPr/>
        </p:nvSpPr>
        <p:spPr>
          <a:xfrm>
            <a:off x="749808" y="3136392"/>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280160" y="3017520"/>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The same person again</a:t>
            </a:r>
            <a:endParaRPr lang="en-US" sz="1500" dirty="0"/>
          </a:p>
        </p:txBody>
      </p:sp>
      <p:sp>
        <p:nvSpPr>
          <p:cNvPr id="18" name="Text 16"/>
          <p:cNvSpPr txBox="1"/>
          <p:nvPr/>
        </p:nvSpPr>
        <p:spPr>
          <a:xfrm>
            <a:off x="1280160" y="3346704"/>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Refused. "Matched on email." No duplicate.</a:t>
            </a:r>
            <a:endParaRPr lang="en-US" sz="1150" dirty="0"/>
          </a:p>
        </p:txBody>
      </p:sp>
      <p:sp>
        <p:nvSpPr>
          <p:cNvPr id="19" name="Shape 17"/>
          <p:cNvSpPr/>
          <p:nvPr/>
        </p:nvSpPr>
        <p:spPr>
          <a:xfrm>
            <a:off x="6217920" y="2862072"/>
            <a:ext cx="5349240" cy="960120"/>
          </a:xfrm>
          <a:prstGeom prst="roundRect">
            <a:avLst>
              <a:gd name="adj" fmla="val 11429"/>
            </a:avLst>
          </a:prstGeom>
          <a:solidFill>
            <a:srgbClr val="1F2530"/>
          </a:solidFill>
          <a:ln w="12700">
            <a:solidFill>
              <a:srgbClr val="1F2530"/>
            </a:solidFill>
            <a:prstDash val="solid"/>
          </a:ln>
        </p:spPr>
      </p:sp>
      <p:sp>
        <p:nvSpPr>
          <p:cNvPr id="20" name="Shape 18"/>
          <p:cNvSpPr/>
          <p:nvPr/>
        </p:nvSpPr>
        <p:spPr>
          <a:xfrm>
            <a:off x="6419088" y="3136392"/>
            <a:ext cx="384048" cy="384048"/>
          </a:xfrm>
          <a:prstGeom prst="ellipse">
            <a:avLst/>
          </a:prstGeom>
          <a:solidFill>
            <a:srgbClr val="E9A23B"/>
          </a:solidFill>
          <a:ln w="12700">
            <a:solidFill>
              <a:srgbClr val="E9A23B"/>
            </a:solidFill>
            <a:prstDash val="solid"/>
          </a:ln>
        </p:spPr>
      </p:sp>
      <p:sp>
        <p:nvSpPr>
          <p:cNvPr id="21" name="Text 19"/>
          <p:cNvSpPr txBox="1"/>
          <p:nvPr/>
        </p:nvSpPr>
        <p:spPr>
          <a:xfrm>
            <a:off x="6419088" y="3136392"/>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6949440" y="3017520"/>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A voice note</a:t>
            </a:r>
            <a:endParaRPr lang="en-US" sz="1500" dirty="0"/>
          </a:p>
        </p:txBody>
      </p:sp>
      <p:sp>
        <p:nvSpPr>
          <p:cNvPr id="23" name="Text 21"/>
          <p:cNvSpPr txBox="1"/>
          <p:nvPr/>
        </p:nvSpPr>
        <p:spPr>
          <a:xfrm>
            <a:off x="6949440" y="3346704"/>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Transcribed, summarised, action items pulled out, original retained.</a:t>
            </a:r>
            <a:endParaRPr lang="en-US" sz="1150" dirty="0"/>
          </a:p>
        </p:txBody>
      </p:sp>
      <p:sp>
        <p:nvSpPr>
          <p:cNvPr id="24" name="Shape 22"/>
          <p:cNvSpPr/>
          <p:nvPr/>
        </p:nvSpPr>
        <p:spPr>
          <a:xfrm>
            <a:off x="548640" y="3986784"/>
            <a:ext cx="5349240" cy="960120"/>
          </a:xfrm>
          <a:prstGeom prst="roundRect">
            <a:avLst>
              <a:gd name="adj" fmla="val 11429"/>
            </a:avLst>
          </a:prstGeom>
          <a:solidFill>
            <a:srgbClr val="1F2530"/>
          </a:solidFill>
          <a:ln w="12700">
            <a:solidFill>
              <a:srgbClr val="1F2530"/>
            </a:solidFill>
            <a:prstDash val="solid"/>
          </a:ln>
        </p:spPr>
      </p:sp>
      <p:sp>
        <p:nvSpPr>
          <p:cNvPr id="25" name="Shape 23"/>
          <p:cNvSpPr/>
          <p:nvPr/>
        </p:nvSpPr>
        <p:spPr>
          <a:xfrm>
            <a:off x="749808" y="4261104"/>
            <a:ext cx="384048" cy="384048"/>
          </a:xfrm>
          <a:prstGeom prst="ellipse">
            <a:avLst/>
          </a:prstGeom>
          <a:solidFill>
            <a:srgbClr val="E9A23B"/>
          </a:solidFill>
          <a:ln w="12700">
            <a:solidFill>
              <a:srgbClr val="E9A23B"/>
            </a:solidFill>
            <a:prstDash val="solid"/>
          </a:ln>
        </p:spPr>
      </p:sp>
      <p:sp>
        <p:nvSpPr>
          <p:cNvPr id="26" name="Text 24"/>
          <p:cNvSpPr txBox="1"/>
          <p:nvPr/>
        </p:nvSpPr>
        <p:spPr>
          <a:xfrm>
            <a:off x="749808" y="4261104"/>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1280160" y="4142232"/>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"Follow up next week sometime"</a:t>
            </a:r>
            <a:endParaRPr lang="en-US" sz="1500" dirty="0"/>
          </a:p>
        </p:txBody>
      </p:sp>
      <p:sp>
        <p:nvSpPr>
          <p:cNvPr id="28" name="Text 26"/>
          <p:cNvSpPr txBox="1"/>
          <p:nvPr/>
        </p:nvSpPr>
        <p:spPr>
          <a:xfrm>
            <a:off x="1280160" y="4471416"/>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The bot asks which day. "Monday." Scheduled.</a:t>
            </a:r>
            <a:endParaRPr lang="en-US" sz="1150" dirty="0"/>
          </a:p>
        </p:txBody>
      </p:sp>
      <p:sp>
        <p:nvSpPr>
          <p:cNvPr id="29" name="Shape 27"/>
          <p:cNvSpPr/>
          <p:nvPr/>
        </p:nvSpPr>
        <p:spPr>
          <a:xfrm>
            <a:off x="6217920" y="3986784"/>
            <a:ext cx="5349240" cy="960120"/>
          </a:xfrm>
          <a:prstGeom prst="roundRect">
            <a:avLst>
              <a:gd name="adj" fmla="val 11429"/>
            </a:avLst>
          </a:prstGeom>
          <a:solidFill>
            <a:srgbClr val="1F2530"/>
          </a:solidFill>
          <a:ln w="12700">
            <a:solidFill>
              <a:srgbClr val="1F2530"/>
            </a:solidFill>
            <a:prstDash val="solid"/>
          </a:ln>
        </p:spPr>
      </p:sp>
      <p:sp>
        <p:nvSpPr>
          <p:cNvPr id="30" name="Shape 28"/>
          <p:cNvSpPr/>
          <p:nvPr/>
        </p:nvSpPr>
        <p:spPr>
          <a:xfrm>
            <a:off x="6419088" y="4261104"/>
            <a:ext cx="384048" cy="384048"/>
          </a:xfrm>
          <a:prstGeom prst="ellipse">
            <a:avLst/>
          </a:prstGeom>
          <a:solidFill>
            <a:srgbClr val="E9A23B"/>
          </a:solidFill>
          <a:ln w="12700">
            <a:solidFill>
              <a:srgbClr val="E9A23B"/>
            </a:solidFill>
            <a:prstDash val="solid"/>
          </a:ln>
        </p:spPr>
      </p:sp>
      <p:sp>
        <p:nvSpPr>
          <p:cNvPr id="31" name="Text 29"/>
          <p:cNvSpPr txBox="1"/>
          <p:nvPr/>
        </p:nvSpPr>
        <p:spPr>
          <a:xfrm>
            <a:off x="6419088" y="4261104"/>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6949440" y="4142232"/>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A reminder fires</a:t>
            </a:r>
            <a:endParaRPr lang="en-US" sz="1500" dirty="0"/>
          </a:p>
        </p:txBody>
      </p:sp>
      <p:sp>
        <p:nvSpPr>
          <p:cNvPr id="33" name="Text 31"/>
          <p:cNvSpPr txBox="1"/>
          <p:nvPr/>
        </p:nvSpPr>
        <p:spPr>
          <a:xfrm>
            <a:off x="6949440" y="4471416"/>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Seeded before we started. Lands on the dashboard mid-demo.</a:t>
            </a:r>
            <a:endParaRPr lang="en-US" sz="1150" dirty="0"/>
          </a:p>
        </p:txBody>
      </p:sp>
      <p:sp>
        <p:nvSpPr>
          <p:cNvPr id="34" name="Shape 32"/>
          <p:cNvSpPr/>
          <p:nvPr/>
        </p:nvSpPr>
        <p:spPr>
          <a:xfrm>
            <a:off x="548640" y="5111496"/>
            <a:ext cx="5349240" cy="960120"/>
          </a:xfrm>
          <a:prstGeom prst="roundRect">
            <a:avLst>
              <a:gd name="adj" fmla="val 11429"/>
            </a:avLst>
          </a:prstGeom>
          <a:solidFill>
            <a:srgbClr val="1F2530"/>
          </a:solidFill>
          <a:ln w="12700">
            <a:solidFill>
              <a:srgbClr val="1F2530"/>
            </a:solidFill>
            <a:prstDash val="solid"/>
          </a:ln>
        </p:spPr>
      </p:sp>
      <p:sp>
        <p:nvSpPr>
          <p:cNvPr id="35" name="Shape 33"/>
          <p:cNvSpPr/>
          <p:nvPr/>
        </p:nvSpPr>
        <p:spPr>
          <a:xfrm>
            <a:off x="749808" y="5385816"/>
            <a:ext cx="384048" cy="384048"/>
          </a:xfrm>
          <a:prstGeom prst="ellipse">
            <a:avLst/>
          </a:prstGeom>
          <a:solidFill>
            <a:srgbClr val="E9A23B"/>
          </a:solidFill>
          <a:ln w="12700">
            <a:solidFill>
              <a:srgbClr val="E9A23B"/>
            </a:solidFill>
            <a:prstDash val="solid"/>
          </a:ln>
        </p:spPr>
      </p:sp>
      <p:sp>
        <p:nvSpPr>
          <p:cNvPr id="36" name="Text 34"/>
          <p:cNvSpPr txBox="1"/>
          <p:nvPr/>
        </p:nvSpPr>
        <p:spPr>
          <a:xfrm>
            <a:off x="749808" y="5385816"/>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7</a:t>
            </a:r>
            <a:endParaRPr lang="en-US" sz="1300" dirty="0"/>
          </a:p>
        </p:txBody>
      </p:sp>
      <p:sp>
        <p:nvSpPr>
          <p:cNvPr id="37" name="Text 35"/>
          <p:cNvSpPr txBox="1"/>
          <p:nvPr/>
        </p:nvSpPr>
        <p:spPr>
          <a:xfrm>
            <a:off x="1280160" y="5266944"/>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Edit, then delete, from the card</a:t>
            </a:r>
            <a:endParaRPr lang="en-US" sz="1500" dirty="0"/>
          </a:p>
        </p:txBody>
      </p:sp>
      <p:sp>
        <p:nvSpPr>
          <p:cNvPr id="38" name="Text 36"/>
          <p:cNvSpPr txBox="1"/>
          <p:nvPr/>
        </p:nvSpPr>
        <p:spPr>
          <a:xfrm>
            <a:off x="1280160" y="5596128"/>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CRUD from the buttons. Delete cascades.</a:t>
            </a:r>
            <a:endParaRPr lang="en-US" sz="1150" dirty="0"/>
          </a:p>
        </p:txBody>
      </p:sp>
      <p:sp>
        <p:nvSpPr>
          <p:cNvPr id="39" name="Shape 37"/>
          <p:cNvSpPr/>
          <p:nvPr/>
        </p:nvSpPr>
        <p:spPr>
          <a:xfrm>
            <a:off x="6217920" y="5111496"/>
            <a:ext cx="5349240" cy="960120"/>
          </a:xfrm>
          <a:prstGeom prst="roundRect">
            <a:avLst>
              <a:gd name="adj" fmla="val 11429"/>
            </a:avLst>
          </a:prstGeom>
          <a:solidFill>
            <a:srgbClr val="1F2530"/>
          </a:solidFill>
          <a:ln w="12700">
            <a:solidFill>
              <a:srgbClr val="1F2530"/>
            </a:solidFill>
            <a:prstDash val="solid"/>
          </a:ln>
        </p:spPr>
      </p:sp>
      <p:sp>
        <p:nvSpPr>
          <p:cNvPr id="40" name="Shape 38"/>
          <p:cNvSpPr/>
          <p:nvPr/>
        </p:nvSpPr>
        <p:spPr>
          <a:xfrm>
            <a:off x="6419088" y="5385816"/>
            <a:ext cx="384048" cy="384048"/>
          </a:xfrm>
          <a:prstGeom prst="ellipse">
            <a:avLst/>
          </a:prstGeom>
          <a:solidFill>
            <a:srgbClr val="E9A23B"/>
          </a:solidFill>
          <a:ln w="12700">
            <a:solidFill>
              <a:srgbClr val="E9A23B"/>
            </a:solidFill>
            <a:prstDash val="solid"/>
          </a:ln>
        </p:spPr>
      </p:sp>
      <p:sp>
        <p:nvSpPr>
          <p:cNvPr id="41" name="Text 39"/>
          <p:cNvSpPr txBox="1"/>
          <p:nvPr/>
        </p:nvSpPr>
        <p:spPr>
          <a:xfrm>
            <a:off x="6419088" y="5385816"/>
            <a:ext cx="384048" cy="384048"/>
          </a:xfrm>
          <a:prstGeom prst="rect">
            <a:avLst/>
          </a:prstGeom>
          <a:noFill/>
          <a:ln/>
        </p:spPr>
        <p:txBody>
          <a:bodyPr wrap="square" lIns="0" tIns="0" rIns="0" bIns="0" rtlCol="0" anchor="ctr"/>
          <a:lstStyle/>
          <a:p>
            <a:pPr algn="ctr" indent="0" marL="0">
              <a:buNone/>
            </a:pPr>
            <a:r>
              <a:rPr lang="en-US" sz="1300" b="1" dirty="0">
                <a:solidFill>
                  <a:srgbClr val="14181F"/>
                </a:solidFill>
                <a:latin typeface="Calibri" pitchFamily="34" charset="0"/>
                <a:ea typeface="Calibri" pitchFamily="34" charset="-122"/>
                <a:cs typeface="Calibri" pitchFamily="34" charset="-120"/>
              </a:rPr>
              <a:t>8</a:t>
            </a:r>
            <a:endParaRPr lang="en-US" sz="1300" dirty="0"/>
          </a:p>
        </p:txBody>
      </p:sp>
      <p:sp>
        <p:nvSpPr>
          <p:cNvPr id="42" name="Text 40"/>
          <p:cNvSpPr txBox="1"/>
          <p:nvPr/>
        </p:nvSpPr>
        <p:spPr>
          <a:xfrm>
            <a:off x="6949440" y="5266944"/>
            <a:ext cx="4434840" cy="320040"/>
          </a:xfrm>
          <a:prstGeom prst="rect">
            <a:avLst/>
          </a:prstGeom>
          <a:noFill/>
          <a:ln/>
        </p:spPr>
        <p:txBody>
          <a:bodyPr wrap="square" lIns="0" tIns="0" rIns="0" bIns="0" rtlCol="0" anchor="t"/>
          <a:lstStyle/>
          <a:p>
            <a:pPr algn="l" indent="0" marL="0">
              <a:lnSpc>
                <a:spcPct val="110000"/>
              </a:lnSpc>
              <a:buNone/>
            </a:pPr>
            <a:r>
              <a:rPr lang="en-US" sz="1500" b="1" dirty="0">
                <a:solidFill>
                  <a:srgbClr val="FFFFFF"/>
                </a:solidFill>
                <a:latin typeface="Calibri" pitchFamily="34" charset="0"/>
                <a:ea typeface="Calibri" pitchFamily="34" charset="-122"/>
                <a:cs typeface="Calibri" pitchFamily="34" charset="-120"/>
              </a:rPr>
              <a:t>The economics panel</a:t>
            </a:r>
            <a:endParaRPr lang="en-US" sz="1500" dirty="0"/>
          </a:p>
        </p:txBody>
      </p:sp>
      <p:sp>
        <p:nvSpPr>
          <p:cNvPr id="43" name="Text 41"/>
          <p:cNvSpPr txBox="1"/>
          <p:nvPr/>
        </p:nvSpPr>
        <p:spPr>
          <a:xfrm>
            <a:off x="6949440" y="5596128"/>
            <a:ext cx="4434840" cy="45720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Per action, per component: model, tokens, dollars, milliseconds.</a:t>
            </a:r>
            <a:endParaRPr lang="en-US" sz="1150" dirty="0"/>
          </a:p>
        </p:txBody>
      </p:sp>
      <p:sp>
        <p:nvSpPr>
          <p:cNvPr id="44" name="Text 42"/>
          <p:cNvSpPr txBox="1"/>
          <p:nvPr/>
        </p:nvSpPr>
        <p:spPr>
          <a:xfrm>
            <a:off x="548640" y="6263640"/>
            <a:ext cx="10972800" cy="274320"/>
          </a:xfrm>
          <a:prstGeom prst="rect">
            <a:avLst/>
          </a:prstGeom>
          <a:noFill/>
          <a:ln/>
        </p:spPr>
        <p:txBody>
          <a:bodyPr wrap="square" lIns="0" tIns="0" rIns="0" bIns="0" rtlCol="0" anchor="t"/>
          <a:lstStyle/>
          <a:p>
            <a:pPr algn="l" indent="0" marL="0">
              <a:lnSpc>
                <a:spcPct val="110000"/>
              </a:lnSpc>
              <a:buNone/>
            </a:pPr>
            <a:r>
              <a:rPr lang="en-US" sz="1100" i="1" dirty="0">
                <a:solidFill>
                  <a:srgbClr val="8A93A3"/>
                </a:solidFill>
                <a:latin typeface="Calibri" pitchFamily="34" charset="0"/>
                <a:ea typeface="Calibri" pitchFamily="34" charset="-122"/>
                <a:cs typeface="Calibri" pitchFamily="34" charset="-120"/>
              </a:rPr>
              <a:t>Bot in Azure Web Chat on Vishal's laptop.  Dashboard on the projector.  Real Claude, real Deepgram, nothing pre-recorded.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07  ·  ECONOMICS</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What each action costs, measured from response.usage</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583680" cy="914400"/>
        </p:xfrm>
        <a:graphic>
          <a:graphicData uri="http://schemas.openxmlformats.org/drawingml/2006/table">
            <a:tbl>
              <a:tblPr/>
              <a:tblGrid>
                <a:gridCol w="2103120"/>
                <a:gridCol w="2103120"/>
                <a:gridCol w="137160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Input mode</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 per action</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r>
              <a:tr h="45720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Shared contact (.vcf)</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$0.000000</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 ms</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r h="45720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Free text</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Sonnet 5, low effort</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$0.0019 – 0.0029</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2.4 – 3.0 s</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Business card photo</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Opus 5, default effort</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$0.009 – 0.011</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3.6 – 5 s</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r h="45720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Voice note</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Deepgram Nova-3 + Sonnet 5</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$0.0034</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 s</a:t>
                      </a:r>
                      <a:endParaRPr lang="en-US" sz="13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160520"/>
            <a:ext cx="6583680" cy="82296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Voice note splits as STT $0.0015 + LLM $0.0019. Rates verified against the pricing pages on 12 Sep 2026: Sonnet 5 $2 / $10 per MTok, Opus 5 $5 / $25, Deepgram $0.0043 per minute. Rates live in ledger.py and nowhere else.</a:t>
            </a:r>
            <a:endParaRPr lang="en-US" sz="1150" dirty="0"/>
          </a:p>
        </p:txBody>
      </p:sp>
      <p:graphicFrame>
        <p:nvGraphicFramePr>
          <p:cNvPr id="6" name="Chart 0" descr=""/>
          <p:cNvGraphicFramePr/>
          <p:nvPr/>
        </p:nvGraphicFramePr>
        <p:xfrm>
          <a:off x="7452360" y="1691640"/>
          <a:ext cx="4206240" cy="32918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48640" y="5074920"/>
            <a:ext cx="182880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AT SCALE</a:t>
            </a:r>
            <a:endParaRPr lang="en-US" sz="1100" dirty="0"/>
          </a:p>
        </p:txBody>
      </p:sp>
      <p:sp>
        <p:nvSpPr>
          <p:cNvPr id="8" name="Text 4"/>
          <p:cNvSpPr txBox="1"/>
          <p:nvPr/>
        </p:nvSpPr>
        <p:spPr>
          <a:xfrm>
            <a:off x="548640" y="5349240"/>
            <a:ext cx="1554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F2937"/>
                </a:solidFill>
                <a:latin typeface="Calibri" pitchFamily="34" charset="0"/>
                <a:ea typeface="Calibri" pitchFamily="34" charset="-122"/>
                <a:cs typeface="Calibri" pitchFamily="34" charset="-120"/>
              </a:rPr>
              <a:t>$0.06</a:t>
            </a:r>
            <a:endParaRPr lang="en-US" sz="2400" dirty="0"/>
          </a:p>
        </p:txBody>
      </p:sp>
      <p:sp>
        <p:nvSpPr>
          <p:cNvPr id="9" name="Text 5"/>
          <p:cNvSpPr txBox="1"/>
          <p:nvPr/>
        </p:nvSpPr>
        <p:spPr>
          <a:xfrm>
            <a:off x="548640" y="5806440"/>
            <a:ext cx="1554480" cy="2743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10 / day</a:t>
            </a:r>
            <a:endParaRPr lang="en-US" sz="1100" dirty="0"/>
          </a:p>
        </p:txBody>
      </p:sp>
      <p:sp>
        <p:nvSpPr>
          <p:cNvPr id="10" name="Text 6"/>
          <p:cNvSpPr txBox="1"/>
          <p:nvPr/>
        </p:nvSpPr>
        <p:spPr>
          <a:xfrm>
            <a:off x="2240280" y="5349240"/>
            <a:ext cx="1554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F2937"/>
                </a:solidFill>
                <a:latin typeface="Calibri" pitchFamily="34" charset="0"/>
                <a:ea typeface="Calibri" pitchFamily="34" charset="-122"/>
                <a:cs typeface="Calibri" pitchFamily="34" charset="-120"/>
              </a:rPr>
              <a:t>$0.57</a:t>
            </a:r>
            <a:endParaRPr lang="en-US" sz="2400" dirty="0"/>
          </a:p>
        </p:txBody>
      </p:sp>
      <p:sp>
        <p:nvSpPr>
          <p:cNvPr id="11" name="Text 7"/>
          <p:cNvSpPr txBox="1"/>
          <p:nvPr/>
        </p:nvSpPr>
        <p:spPr>
          <a:xfrm>
            <a:off x="2240280" y="5806440"/>
            <a:ext cx="1554480" cy="2743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100 / day</a:t>
            </a:r>
            <a:endParaRPr lang="en-US" sz="1100" dirty="0"/>
          </a:p>
        </p:txBody>
      </p:sp>
      <p:sp>
        <p:nvSpPr>
          <p:cNvPr id="12" name="Text 8"/>
          <p:cNvSpPr txBox="1"/>
          <p:nvPr/>
        </p:nvSpPr>
        <p:spPr>
          <a:xfrm>
            <a:off x="3931920" y="5349240"/>
            <a:ext cx="1554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F2937"/>
                </a:solidFill>
                <a:latin typeface="Calibri" pitchFamily="34" charset="0"/>
                <a:ea typeface="Calibri" pitchFamily="34" charset="-122"/>
                <a:cs typeface="Calibri" pitchFamily="34" charset="-120"/>
              </a:rPr>
              <a:t>$5.70</a:t>
            </a:r>
            <a:endParaRPr lang="en-US" sz="2400" dirty="0"/>
          </a:p>
        </p:txBody>
      </p:sp>
      <p:sp>
        <p:nvSpPr>
          <p:cNvPr id="13" name="Text 9"/>
          <p:cNvSpPr txBox="1"/>
          <p:nvPr/>
        </p:nvSpPr>
        <p:spPr>
          <a:xfrm>
            <a:off x="3931920" y="5806440"/>
            <a:ext cx="1554480" cy="2743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1,000 / day</a:t>
            </a:r>
            <a:endParaRPr lang="en-US" sz="1100" dirty="0"/>
          </a:p>
        </p:txBody>
      </p:sp>
      <p:sp>
        <p:nvSpPr>
          <p:cNvPr id="14" name="Text 10"/>
          <p:cNvSpPr txBox="1"/>
          <p:nvPr/>
        </p:nvSpPr>
        <p:spPr>
          <a:xfrm>
            <a:off x="5623560" y="5349240"/>
            <a:ext cx="1554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F2937"/>
                </a:solidFill>
                <a:latin typeface="Calibri" pitchFamily="34" charset="0"/>
                <a:ea typeface="Calibri" pitchFamily="34" charset="-122"/>
                <a:cs typeface="Calibri" pitchFamily="34" charset="-120"/>
              </a:rPr>
              <a:t>$57</a:t>
            </a:r>
            <a:endParaRPr lang="en-US" sz="2400" dirty="0"/>
          </a:p>
        </p:txBody>
      </p:sp>
      <p:sp>
        <p:nvSpPr>
          <p:cNvPr id="15" name="Text 11"/>
          <p:cNvSpPr txBox="1"/>
          <p:nvPr/>
        </p:nvSpPr>
        <p:spPr>
          <a:xfrm>
            <a:off x="5623560" y="5806440"/>
            <a:ext cx="1554480" cy="2743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10,000 / day</a:t>
            </a:r>
            <a:endParaRPr lang="en-US" sz="1100" dirty="0"/>
          </a:p>
        </p:txBody>
      </p:sp>
      <p:sp>
        <p:nvSpPr>
          <p:cNvPr id="16" name="Text 12"/>
          <p:cNvSpPr txBox="1"/>
          <p:nvPr/>
        </p:nvSpPr>
        <p:spPr>
          <a:xfrm>
            <a:off x="7452360" y="5212080"/>
            <a:ext cx="4206240" cy="868680"/>
          </a:xfrm>
          <a:prstGeom prst="rect">
            <a:avLst/>
          </a:prstGeom>
          <a:noFill/>
          <a:ln/>
        </p:spPr>
        <p:txBody>
          <a:bodyPr wrap="square" lIns="0" tIns="0" rIns="0" bIns="0" rtlCol="0" anchor="t"/>
          <a:lstStyle/>
          <a:p>
            <a:pPr algn="l" indent="0" marL="0">
              <a:lnSpc>
                <a:spcPct val="110000"/>
              </a:lnSpc>
              <a:buNone/>
            </a:pPr>
            <a:r>
              <a:rPr lang="en-US" sz="1050" i="1" dirty="0">
                <a:solidFill>
                  <a:srgbClr val="6B7280"/>
                </a:solidFill>
                <a:latin typeface="Calibri" pitchFamily="34" charset="0"/>
                <a:ea typeface="Calibri" pitchFamily="34" charset="-122"/>
                <a:cs typeface="Calibri" pitchFamily="34" charset="-120"/>
              </a:rPr>
              <a:t>Daily model spend at a blended cost per lead. Paid per-token pricing is what makes this table possible; a free tier would make it "zero", which cannot be extrapolated.</a:t>
            </a:r>
            <a:endParaRPr lang="en-US" sz="1050" dirty="0"/>
          </a:p>
        </p:txBody>
      </p:sp>
      <p:sp>
        <p:nvSpPr>
          <p:cNvPr id="17" name="Text 1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08  ·  TUNING AND CALIBRATION</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Measured four configs, picked per path, kept the evals green</a:t>
            </a:r>
            <a:endParaRPr lang="en-US" sz="3400" dirty="0"/>
          </a:p>
        </p:txBody>
      </p:sp>
      <p:sp>
        <p:nvSpPr>
          <p:cNvPr id="4" name="Shape 2"/>
          <p:cNvSpPr/>
          <p:nvPr/>
        </p:nvSpPr>
        <p:spPr>
          <a:xfrm>
            <a:off x="548640" y="1737360"/>
            <a:ext cx="5486400" cy="2514600"/>
          </a:xfrm>
          <a:prstGeom prst="roundRect">
            <a:avLst>
              <a:gd name="adj" fmla="val 4364"/>
            </a:avLst>
          </a:prstGeom>
          <a:solidFill>
            <a:srgbClr val="F3F4F6"/>
          </a:solidFill>
          <a:ln w="12700">
            <a:solidFill>
              <a:srgbClr val="F3F4F6"/>
            </a:solidFill>
            <a:prstDash val="solid"/>
          </a:ln>
        </p:spPr>
      </p:sp>
      <p:sp>
        <p:nvSpPr>
          <p:cNvPr id="5" name="Text 3"/>
          <p:cNvSpPr txBox="1"/>
          <p:nvPr/>
        </p:nvSpPr>
        <p:spPr>
          <a:xfrm>
            <a:off x="822960" y="1874520"/>
            <a:ext cx="274320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FREE-TEXT PATH</a:t>
            </a:r>
            <a:endParaRPr lang="en-US" sz="1100" dirty="0"/>
          </a:p>
        </p:txBody>
      </p:sp>
      <p:sp>
        <p:nvSpPr>
          <p:cNvPr id="6" name="Text 4"/>
          <p:cNvSpPr txBox="1"/>
          <p:nvPr/>
        </p:nvSpPr>
        <p:spPr>
          <a:xfrm>
            <a:off x="822960" y="2148840"/>
            <a:ext cx="2286000" cy="822960"/>
          </a:xfrm>
          <a:prstGeom prst="rect">
            <a:avLst/>
          </a:prstGeom>
          <a:noFill/>
          <a:ln/>
        </p:spPr>
        <p:txBody>
          <a:bodyPr wrap="square" lIns="0" tIns="0" rIns="0" bIns="0" rtlCol="0" anchor="b"/>
          <a:lstStyle/>
          <a:p>
            <a:pPr algn="l" indent="0" marL="0">
              <a:buNone/>
            </a:pPr>
            <a:r>
              <a:rPr lang="en-US" sz="3000" b="1" dirty="0">
                <a:solidFill>
                  <a:srgbClr val="6B7280"/>
                </a:solidFill>
                <a:latin typeface="Calibri" pitchFamily="34" charset="0"/>
                <a:ea typeface="Calibri" pitchFamily="34" charset="-122"/>
                <a:cs typeface="Calibri" pitchFamily="34" charset="-120"/>
              </a:rPr>
              <a:t>4,965 ms</a:t>
            </a:r>
            <a:endParaRPr lang="en-US" sz="3000" dirty="0"/>
          </a:p>
        </p:txBody>
      </p:sp>
      <p:sp>
        <p:nvSpPr>
          <p:cNvPr id="7" name="Text 5"/>
          <p:cNvSpPr txBox="1"/>
          <p:nvPr/>
        </p:nvSpPr>
        <p:spPr>
          <a:xfrm>
            <a:off x="822960" y="3017520"/>
            <a:ext cx="228600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Opus 5, default effort</a:t>
            </a:r>
            <a:endParaRPr lang="en-US" sz="1200" dirty="0"/>
          </a:p>
        </p:txBody>
      </p:sp>
      <p:sp>
        <p:nvSpPr>
          <p:cNvPr id="8" name="Text 6"/>
          <p:cNvSpPr txBox="1"/>
          <p:nvPr/>
        </p:nvSpPr>
        <p:spPr>
          <a:xfrm>
            <a:off x="822960" y="2880360"/>
            <a:ext cx="2286000" cy="822960"/>
          </a:xfrm>
          <a:prstGeom prst="rect">
            <a:avLst/>
          </a:prstGeom>
          <a:noFill/>
          <a:ln/>
        </p:spPr>
        <p:txBody>
          <a:bodyPr wrap="square" lIns="0" tIns="0" rIns="0" bIns="0" rtlCol="0" anchor="b"/>
          <a:lstStyle/>
          <a:p>
            <a:pPr algn="l" indent="0" marL="0">
              <a:buNone/>
            </a:pPr>
            <a:r>
              <a:rPr lang="en-US" sz="2200" b="1" dirty="0">
                <a:solidFill>
                  <a:srgbClr val="6B7280"/>
                </a:solidFill>
                <a:latin typeface="Calibri" pitchFamily="34" charset="0"/>
                <a:ea typeface="Calibri" pitchFamily="34" charset="-122"/>
                <a:cs typeface="Calibri" pitchFamily="34" charset="-120"/>
              </a:rPr>
              <a:t>$0.0097</a:t>
            </a:r>
            <a:endParaRPr lang="en-US" sz="2200" dirty="0"/>
          </a:p>
        </p:txBody>
      </p:sp>
      <p:sp>
        <p:nvSpPr>
          <p:cNvPr id="9" name="Text 7"/>
          <p:cNvSpPr txBox="1"/>
          <p:nvPr/>
        </p:nvSpPr>
        <p:spPr>
          <a:xfrm>
            <a:off x="822960" y="3749040"/>
            <a:ext cx="228600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per lead, before</a:t>
            </a:r>
            <a:endParaRPr lang="en-US" sz="1200" dirty="0"/>
          </a:p>
        </p:txBody>
      </p:sp>
      <p:sp>
        <p:nvSpPr>
          <p:cNvPr id="10" name="Shape 8"/>
          <p:cNvSpPr/>
          <p:nvPr/>
        </p:nvSpPr>
        <p:spPr>
          <a:xfrm>
            <a:off x="3246120" y="2834640"/>
            <a:ext cx="457200" cy="0"/>
          </a:xfrm>
          <a:prstGeom prst="line">
            <a:avLst/>
          </a:prstGeom>
          <a:noFill/>
          <a:ln w="38100">
            <a:solidFill>
              <a:srgbClr val="E9A23B"/>
            </a:solidFill>
            <a:prstDash val="solid"/>
            <a:tailEnd type="triangle"/>
          </a:ln>
        </p:spPr>
      </p:sp>
      <p:sp>
        <p:nvSpPr>
          <p:cNvPr id="11" name="Text 9"/>
          <p:cNvSpPr txBox="1"/>
          <p:nvPr/>
        </p:nvSpPr>
        <p:spPr>
          <a:xfrm>
            <a:off x="3840480" y="2148840"/>
            <a:ext cx="2194560" cy="822960"/>
          </a:xfrm>
          <a:prstGeom prst="rect">
            <a:avLst/>
          </a:prstGeom>
          <a:noFill/>
          <a:ln/>
        </p:spPr>
        <p:txBody>
          <a:bodyPr wrap="square" lIns="0" tIns="0" rIns="0" bIns="0" rtlCol="0" anchor="b"/>
          <a:lstStyle/>
          <a:p>
            <a:pPr algn="l" indent="0" marL="0">
              <a:buNone/>
            </a:pPr>
            <a:r>
              <a:rPr lang="en-US" sz="3000" b="1" dirty="0">
                <a:solidFill>
                  <a:srgbClr val="14181F"/>
                </a:solidFill>
                <a:latin typeface="Calibri" pitchFamily="34" charset="0"/>
                <a:ea typeface="Calibri" pitchFamily="34" charset="-122"/>
                <a:cs typeface="Calibri" pitchFamily="34" charset="-120"/>
              </a:rPr>
              <a:t>2,396 ms</a:t>
            </a:r>
            <a:endParaRPr lang="en-US" sz="3000" dirty="0"/>
          </a:p>
        </p:txBody>
      </p:sp>
      <p:sp>
        <p:nvSpPr>
          <p:cNvPr id="12" name="Text 10"/>
          <p:cNvSpPr txBox="1"/>
          <p:nvPr/>
        </p:nvSpPr>
        <p:spPr>
          <a:xfrm>
            <a:off x="3840480" y="3017520"/>
            <a:ext cx="219456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Sonnet 5, low effort</a:t>
            </a:r>
            <a:endParaRPr lang="en-US" sz="1200" dirty="0"/>
          </a:p>
        </p:txBody>
      </p:sp>
      <p:sp>
        <p:nvSpPr>
          <p:cNvPr id="13" name="Text 11"/>
          <p:cNvSpPr txBox="1"/>
          <p:nvPr/>
        </p:nvSpPr>
        <p:spPr>
          <a:xfrm>
            <a:off x="3840480" y="2880360"/>
            <a:ext cx="2194560" cy="822960"/>
          </a:xfrm>
          <a:prstGeom prst="rect">
            <a:avLst/>
          </a:prstGeom>
          <a:noFill/>
          <a:ln/>
        </p:spPr>
        <p:txBody>
          <a:bodyPr wrap="square" lIns="0" tIns="0" rIns="0" bIns="0" rtlCol="0" anchor="b"/>
          <a:lstStyle/>
          <a:p>
            <a:pPr algn="l" indent="0" marL="0">
              <a:buNone/>
            </a:pPr>
            <a:r>
              <a:rPr lang="en-US" sz="2200" b="1" dirty="0">
                <a:solidFill>
                  <a:srgbClr val="14181F"/>
                </a:solidFill>
                <a:latin typeface="Calibri" pitchFamily="34" charset="0"/>
                <a:ea typeface="Calibri" pitchFamily="34" charset="-122"/>
                <a:cs typeface="Calibri" pitchFamily="34" charset="-120"/>
              </a:rPr>
              <a:t>$0.0029</a:t>
            </a:r>
            <a:endParaRPr lang="en-US" sz="2200" dirty="0"/>
          </a:p>
        </p:txBody>
      </p:sp>
      <p:sp>
        <p:nvSpPr>
          <p:cNvPr id="14" name="Text 12"/>
          <p:cNvSpPr txBox="1"/>
          <p:nvPr/>
        </p:nvSpPr>
        <p:spPr>
          <a:xfrm>
            <a:off x="3840480" y="3749040"/>
            <a:ext cx="219456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per lead, after</a:t>
            </a:r>
            <a:endParaRPr lang="en-US" sz="1200" dirty="0"/>
          </a:p>
        </p:txBody>
      </p:sp>
      <p:sp>
        <p:nvSpPr>
          <p:cNvPr id="15" name="Text 13"/>
          <p:cNvSpPr txBox="1"/>
          <p:nvPr/>
        </p:nvSpPr>
        <p:spPr>
          <a:xfrm>
            <a:off x="548640" y="4434840"/>
            <a:ext cx="5486400" cy="17373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7"/>
                </a:solidFill>
                <a:latin typeface="Calibri" pitchFamily="34" charset="0"/>
                <a:ea typeface="Calibri" pitchFamily="34" charset="-122"/>
                <a:cs typeface="Calibri" pitchFamily="34" charset="-120"/>
              </a:rPr>
              <a:t>Four configurations measured: model × effort. Selected per path, not globally.</a:t>
            </a:r>
            <a:endParaRPr lang="en-US" sz="1200" dirty="0"/>
          </a:p>
          <a:p>
            <a:pPr marL="177800" indent="-177800">
              <a:spcAft>
                <a:spcPts val="500"/>
              </a:spcAft>
              <a:buSzPct val="100000"/>
              <a:buChar char="•"/>
            </a:pPr>
            <a:r>
              <a:rPr lang="en-US" sz="1200" dirty="0">
                <a:solidFill>
                  <a:srgbClr val="1F2937"/>
                </a:solidFill>
                <a:latin typeface="Calibri" pitchFamily="34" charset="0"/>
                <a:ea typeface="Calibri" pitchFamily="34" charset="-122"/>
                <a:cs typeface="Calibri" pitchFamily="34" charset="-120"/>
              </a:rPr>
              <a:t>Vision stayed on Opus 5 at default effort, deliberately. 4 business cards, every field correct.</a:t>
            </a:r>
            <a:endParaRPr lang="en-US" sz="1200" dirty="0"/>
          </a:p>
          <a:p>
            <a:pPr marL="177800" indent="-177800">
              <a:spcAft>
                <a:spcPts val="500"/>
              </a:spcAft>
              <a:buSzPct val="100000"/>
              <a:buChar char="•"/>
            </a:pPr>
            <a:r>
              <a:rPr lang="en-US" sz="1200" dirty="0">
                <a:solidFill>
                  <a:srgbClr val="1F2937"/>
                </a:solidFill>
                <a:latin typeface="Calibri" pitchFamily="34" charset="0"/>
                <a:ea typeface="Calibri" pitchFamily="34" charset="-122"/>
                <a:cs typeface="Calibri" pitchFamily="34" charset="-120"/>
              </a:rPr>
              <a:t>Haiku 4.5 rejected: the API returns 400 on the effort parameter.</a:t>
            </a:r>
            <a:endParaRPr lang="en-US" sz="1200" dirty="0"/>
          </a:p>
          <a:p>
            <a:pPr marL="177800" indent="-177800">
              <a:spcAft>
                <a:spcPts val="500"/>
              </a:spcAft>
              <a:buSzPct val="100000"/>
              <a:buChar char="•"/>
            </a:pPr>
            <a:r>
              <a:rPr lang="en-US" sz="1200" dirty="0">
                <a:solidFill>
                  <a:srgbClr val="1F2937"/>
                </a:solidFill>
                <a:latin typeface="Calibri" pitchFamily="34" charset="0"/>
                <a:ea typeface="Calibri" pitchFamily="34" charset="-122"/>
                <a:cs typeface="Calibri" pitchFamily="34" charset="-120"/>
              </a:rPr>
              <a:t>Found in passing: .env had pinned the model to Opus and was silently overriding the tuning.</a:t>
            </a:r>
            <a:endParaRPr lang="en-US" sz="1200" dirty="0"/>
          </a:p>
        </p:txBody>
      </p:sp>
      <p:sp>
        <p:nvSpPr>
          <p:cNvPr id="16" name="Text 14"/>
          <p:cNvSpPr txBox="1"/>
          <p:nvPr/>
        </p:nvSpPr>
        <p:spPr>
          <a:xfrm>
            <a:off x="6400800" y="1737360"/>
            <a:ext cx="521208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CONFIDENCE CALIBRATION, FROM THE EVALS</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0" y="2057400"/>
          <a:ext cx="5257800" cy="914400"/>
        </p:xfrm>
        <a:graphic>
          <a:graphicData uri="http://schemas.openxmlformats.org/drawingml/2006/table">
            <a:tbl>
              <a:tblPr/>
              <a:tblGrid>
                <a:gridCol w="2331720"/>
                <a:gridCol w="91440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Clean free text</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created</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Messy free text</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0.95</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created</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Name only</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below threshold, review</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"Thanks, see you tomorrow"</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not a lead</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Company only in email domain</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200" b="1" dirty="0">
                          <a:solidFill>
                            <a:srgbClr val="2E8B57"/>
                          </a:solidFill>
                          <a:latin typeface="Calibri" pitchFamily="34" charset="0"/>
                          <a:ea typeface="Calibri" pitchFamily="34" charset="-122"/>
                          <a:cs typeface="Calibri" pitchFamily="34" charset="-120"/>
                        </a:rPr>
                        <a:t>company = null, asks</a:t>
                      </a:r>
                      <a:endParaRPr lang="en-US" sz="120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bl>
          </a:graphicData>
        </a:graphic>
      </p:graphicFrame>
      <p:sp>
        <p:nvSpPr>
          <p:cNvPr id="18" name="Text 15"/>
          <p:cNvSpPr txBox="1"/>
          <p:nvPr/>
        </p:nvSpPr>
        <p:spPr>
          <a:xfrm>
            <a:off x="6400800" y="4526280"/>
            <a:ext cx="5257800" cy="777240"/>
          </a:xfrm>
          <a:prstGeom prst="rect">
            <a:avLst/>
          </a:prstGeom>
          <a:noFill/>
          <a:ln/>
        </p:spPr>
        <p:txBody>
          <a:bodyPr wrap="square" lIns="0" tIns="0" rIns="0" bIns="0" rtlCol="0" anchor="t"/>
          <a:lstStyle/>
          <a:p>
            <a:pPr algn="l" indent="0" marL="0">
              <a:lnSpc>
                <a:spcPct val="110000"/>
              </a:lnSpc>
              <a:buNone/>
            </a:pPr>
            <a:r>
              <a:rPr lang="en-US" sz="1150" dirty="0">
                <a:solidFill>
                  <a:srgbClr val="6B7280"/>
                </a:solidFill>
                <a:latin typeface="Calibri" pitchFamily="34" charset="0"/>
                <a:ea typeface="Calibri" pitchFamily="34" charset="-122"/>
                <a:cs typeface="Calibri" pitchFamily="34" charset="-120"/>
              </a:rPr>
              <a:t>Review threshold 0.6 does real work: it separates a lead from a pleasantry. The domain case is the one that matters: skylinefitout.ae is evidence, not a company name, so it comes back null and the bot asks.</a:t>
            </a:r>
            <a:endParaRPr lang="en-US" sz="1150" dirty="0"/>
          </a:p>
        </p:txBody>
      </p:sp>
      <p:sp>
        <p:nvSpPr>
          <p:cNvPr id="19" name="Text 16"/>
          <p:cNvSpPr txBox="1"/>
          <p:nvPr/>
        </p:nvSpPr>
        <p:spPr>
          <a:xfrm>
            <a:off x="6400800" y="5349240"/>
            <a:ext cx="2651760" cy="822960"/>
          </a:xfrm>
          <a:prstGeom prst="rect">
            <a:avLst/>
          </a:prstGeom>
          <a:noFill/>
          <a:ln/>
        </p:spPr>
        <p:txBody>
          <a:bodyPr wrap="square" lIns="0" tIns="0" rIns="0" bIns="0" rtlCol="0" anchor="b"/>
          <a:lstStyle/>
          <a:p>
            <a:pPr algn="l" indent="0" marL="0">
              <a:buNone/>
            </a:pPr>
            <a:r>
              <a:rPr lang="en-US" sz="2600" b="1" dirty="0">
                <a:solidFill>
                  <a:srgbClr val="2E8B57"/>
                </a:solidFill>
                <a:latin typeface="Calibri" pitchFamily="34" charset="0"/>
                <a:ea typeface="Calibri" pitchFamily="34" charset="-122"/>
                <a:cs typeface="Calibri" pitchFamily="34" charset="-120"/>
              </a:rPr>
              <a:t>70/70</a:t>
            </a:r>
            <a:endParaRPr lang="en-US" sz="2600" dirty="0"/>
          </a:p>
        </p:txBody>
      </p:sp>
      <p:sp>
        <p:nvSpPr>
          <p:cNvPr id="20" name="Text 17"/>
          <p:cNvSpPr txBox="1"/>
          <p:nvPr/>
        </p:nvSpPr>
        <p:spPr>
          <a:xfrm>
            <a:off x="6400800" y="6217920"/>
            <a:ext cx="265176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evals: 14 labelled cases × 5 fields, $0.07 per run</a:t>
            </a:r>
            <a:endParaRPr lang="en-US" sz="1200" dirty="0"/>
          </a:p>
        </p:txBody>
      </p:sp>
      <p:sp>
        <p:nvSpPr>
          <p:cNvPr id="21" name="Text 18"/>
          <p:cNvSpPr txBox="1"/>
          <p:nvPr/>
        </p:nvSpPr>
        <p:spPr>
          <a:xfrm>
            <a:off x="9144000" y="5349240"/>
            <a:ext cx="2514600" cy="822960"/>
          </a:xfrm>
          <a:prstGeom prst="rect">
            <a:avLst/>
          </a:prstGeom>
          <a:noFill/>
          <a:ln/>
        </p:spPr>
        <p:txBody>
          <a:bodyPr wrap="square" lIns="0" tIns="0" rIns="0" bIns="0" rtlCol="0" anchor="b"/>
          <a:lstStyle/>
          <a:p>
            <a:pPr algn="l" indent="0" marL="0">
              <a:buNone/>
            </a:pPr>
            <a:r>
              <a:rPr lang="en-US" sz="2600" b="1" dirty="0">
                <a:solidFill>
                  <a:srgbClr val="2E8B57"/>
                </a:solidFill>
                <a:latin typeface="Calibri" pitchFamily="34" charset="0"/>
                <a:ea typeface="Calibri" pitchFamily="34" charset="-122"/>
                <a:cs typeface="Calibri" pitchFamily="34" charset="-120"/>
              </a:rPr>
              <a:t>25/25</a:t>
            </a:r>
            <a:endParaRPr lang="en-US" sz="2600" dirty="0"/>
          </a:p>
        </p:txBody>
      </p:sp>
      <p:sp>
        <p:nvSpPr>
          <p:cNvPr id="22" name="Text 19"/>
          <p:cNvSpPr txBox="1"/>
          <p:nvPr/>
        </p:nvSpPr>
        <p:spPr>
          <a:xfrm>
            <a:off x="9144000" y="6217920"/>
            <a:ext cx="2514600" cy="457200"/>
          </a:xfrm>
          <a:prstGeom prst="rect">
            <a:avLst/>
          </a:prstGeom>
          <a:noFill/>
          <a:ln/>
        </p:spPr>
        <p:txBody>
          <a:bodyPr wrap="square" lIns="0" tIns="0" rIns="0" bIns="0" rtlCol="0" anchor="t"/>
          <a:lstStyle/>
          <a:p>
            <a:pPr algn="l" indent="0" marL="0">
              <a:buNone/>
            </a:pPr>
            <a:r>
              <a:rPr lang="en-US" sz="1200" dirty="0">
                <a:solidFill>
                  <a:srgbClr val="6B7280"/>
                </a:solidFill>
                <a:latin typeface="Calibri" pitchFamily="34" charset="0"/>
                <a:ea typeface="Calibri" pitchFamily="34" charset="-122"/>
                <a:cs typeface="Calibri" pitchFamily="34" charset="-120"/>
              </a:rPr>
              <a:t>demo_check, end to end, real vendors</a:t>
            </a:r>
            <a:endParaRPr lang="en-US" sz="1200" dirty="0"/>
          </a:p>
        </p:txBody>
      </p:sp>
      <p:sp>
        <p:nvSpPr>
          <p:cNvPr id="23"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09  ·  WHAT THE DEMO TAUGHT US</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Twelve bugs, all found by running the demo</a:t>
            </a:r>
            <a:endParaRPr lang="en-US" sz="3400" dirty="0"/>
          </a:p>
        </p:txBody>
      </p:sp>
      <p:sp>
        <p:nvSpPr>
          <p:cNvPr id="4" name="Shape 2"/>
          <p:cNvSpPr/>
          <p:nvPr/>
        </p:nvSpPr>
        <p:spPr>
          <a:xfrm>
            <a:off x="548640" y="1691640"/>
            <a:ext cx="5440680" cy="676656"/>
          </a:xfrm>
          <a:prstGeom prst="roundRect">
            <a:avLst>
              <a:gd name="adj" fmla="val 16216"/>
            </a:avLst>
          </a:prstGeom>
          <a:solidFill>
            <a:srgbClr val="F3F4F6"/>
          </a:solidFill>
          <a:ln w="12700">
            <a:solidFill>
              <a:srgbClr val="F3F4F6"/>
            </a:solidFill>
            <a:prstDash val="solid"/>
          </a:ln>
        </p:spPr>
      </p:sp>
      <p:sp>
        <p:nvSpPr>
          <p:cNvPr id="5" name="Shape 3"/>
          <p:cNvSpPr/>
          <p:nvPr/>
        </p:nvSpPr>
        <p:spPr>
          <a:xfrm>
            <a:off x="731520" y="1837944"/>
            <a:ext cx="384048" cy="384048"/>
          </a:xfrm>
          <a:prstGeom prst="ellipse">
            <a:avLst/>
          </a:prstGeom>
          <a:solidFill>
            <a:srgbClr val="14181F"/>
          </a:solidFill>
          <a:ln w="12700">
            <a:solidFill>
              <a:srgbClr val="14181F"/>
            </a:solidFill>
            <a:prstDash val="solid"/>
          </a:ln>
        </p:spPr>
      </p:sp>
      <p:sp>
        <p:nvSpPr>
          <p:cNvPr id="6" name="Text 4"/>
          <p:cNvSpPr txBox="1"/>
          <p:nvPr/>
        </p:nvSpPr>
        <p:spPr>
          <a:xfrm>
            <a:off x="731520" y="1837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34440" y="1764792"/>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conversationUpdate ran the pipeline</a:t>
            </a:r>
            <a:endParaRPr lang="en-US" sz="1250" dirty="0"/>
          </a:p>
        </p:txBody>
      </p:sp>
      <p:sp>
        <p:nvSpPr>
          <p:cNvPr id="8" name="Text 6"/>
          <p:cNvSpPr txBox="1"/>
          <p:nvPr/>
        </p:nvSpPr>
        <p:spPr>
          <a:xfrm>
            <a:off x="1234440" y="2020824"/>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Unprompted "which company?" card ate the first real lead.</a:t>
            </a:r>
            <a:endParaRPr lang="en-US" sz="1000" dirty="0"/>
          </a:p>
        </p:txBody>
      </p:sp>
      <p:sp>
        <p:nvSpPr>
          <p:cNvPr id="9" name="Shape 7"/>
          <p:cNvSpPr/>
          <p:nvPr/>
        </p:nvSpPr>
        <p:spPr>
          <a:xfrm>
            <a:off x="6217920" y="1691640"/>
            <a:ext cx="5440680" cy="676656"/>
          </a:xfrm>
          <a:prstGeom prst="roundRect">
            <a:avLst>
              <a:gd name="adj" fmla="val 16216"/>
            </a:avLst>
          </a:prstGeom>
          <a:solidFill>
            <a:srgbClr val="F3F4F6"/>
          </a:solidFill>
          <a:ln w="12700">
            <a:solidFill>
              <a:srgbClr val="F3F4F6"/>
            </a:solidFill>
            <a:prstDash val="solid"/>
          </a:ln>
        </p:spPr>
      </p:sp>
      <p:sp>
        <p:nvSpPr>
          <p:cNvPr id="10" name="Shape 8"/>
          <p:cNvSpPr/>
          <p:nvPr/>
        </p:nvSpPr>
        <p:spPr>
          <a:xfrm>
            <a:off x="6400800" y="1837944"/>
            <a:ext cx="384048" cy="384048"/>
          </a:xfrm>
          <a:prstGeom prst="ellipse">
            <a:avLst/>
          </a:prstGeom>
          <a:solidFill>
            <a:srgbClr val="14181F"/>
          </a:solidFill>
          <a:ln w="12700">
            <a:solidFill>
              <a:srgbClr val="14181F"/>
            </a:solidFill>
            <a:prstDash val="solid"/>
          </a:ln>
        </p:spPr>
      </p:sp>
      <p:sp>
        <p:nvSpPr>
          <p:cNvPr id="11" name="Text 9"/>
          <p:cNvSpPr txBox="1"/>
          <p:nvPr/>
        </p:nvSpPr>
        <p:spPr>
          <a:xfrm>
            <a:off x="6400800" y="1837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6903720" y="1764792"/>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Replies silently 400'd</a:t>
            </a:r>
            <a:endParaRPr lang="en-US" sz="1250" dirty="0"/>
          </a:p>
        </p:txBody>
      </p:sp>
      <p:sp>
        <p:nvSpPr>
          <p:cNvPr id="13" name="Text 11"/>
          <p:cNvSpPr txBox="1"/>
          <p:nvPr/>
        </p:nvSpPr>
        <p:spPr>
          <a:xfrm>
            <a:off x="6903720" y="2020824"/>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Activity.From missing on the outbound envelope.</a:t>
            </a:r>
            <a:endParaRPr lang="en-US" sz="1000" dirty="0"/>
          </a:p>
        </p:txBody>
      </p:sp>
      <p:sp>
        <p:nvSpPr>
          <p:cNvPr id="14" name="Shape 12"/>
          <p:cNvSpPr/>
          <p:nvPr/>
        </p:nvSpPr>
        <p:spPr>
          <a:xfrm>
            <a:off x="548640" y="2441448"/>
            <a:ext cx="5440680" cy="676656"/>
          </a:xfrm>
          <a:prstGeom prst="roundRect">
            <a:avLst>
              <a:gd name="adj" fmla="val 16216"/>
            </a:avLst>
          </a:prstGeom>
          <a:solidFill>
            <a:srgbClr val="F3F4F6"/>
          </a:solidFill>
          <a:ln w="12700">
            <a:solidFill>
              <a:srgbClr val="F3F4F6"/>
            </a:solidFill>
            <a:prstDash val="solid"/>
          </a:ln>
        </p:spPr>
      </p:sp>
      <p:sp>
        <p:nvSpPr>
          <p:cNvPr id="15" name="Shape 13"/>
          <p:cNvSpPr/>
          <p:nvPr/>
        </p:nvSpPr>
        <p:spPr>
          <a:xfrm>
            <a:off x="731520" y="2587752"/>
            <a:ext cx="384048" cy="384048"/>
          </a:xfrm>
          <a:prstGeom prst="ellipse">
            <a:avLst/>
          </a:prstGeom>
          <a:solidFill>
            <a:srgbClr val="14181F"/>
          </a:solidFill>
          <a:ln w="12700">
            <a:solidFill>
              <a:srgbClr val="14181F"/>
            </a:solidFill>
            <a:prstDash val="solid"/>
          </a:ln>
        </p:spPr>
      </p:sp>
      <p:sp>
        <p:nvSpPr>
          <p:cNvPr id="16" name="Text 14"/>
          <p:cNvSpPr txBox="1"/>
          <p:nvPr/>
        </p:nvSpPr>
        <p:spPr>
          <a:xfrm>
            <a:off x="731520" y="25877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234440" y="2514600"/>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Wrong token authority</a:t>
            </a:r>
            <a:endParaRPr lang="en-US" sz="1250" dirty="0"/>
          </a:p>
        </p:txBody>
      </p:sp>
      <p:sp>
        <p:nvSpPr>
          <p:cNvPr id="18" name="Text 16"/>
          <p:cNvSpPr txBox="1"/>
          <p:nvPr/>
        </p:nvSpPr>
        <p:spPr>
          <a:xfrm>
            <a:off x="1234440" y="2770632"/>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Single-tenant app, common authority.</a:t>
            </a:r>
            <a:endParaRPr lang="en-US" sz="1000" dirty="0"/>
          </a:p>
        </p:txBody>
      </p:sp>
      <p:sp>
        <p:nvSpPr>
          <p:cNvPr id="19" name="Shape 17"/>
          <p:cNvSpPr/>
          <p:nvPr/>
        </p:nvSpPr>
        <p:spPr>
          <a:xfrm>
            <a:off x="6217920" y="2441448"/>
            <a:ext cx="5440680" cy="676656"/>
          </a:xfrm>
          <a:prstGeom prst="roundRect">
            <a:avLst>
              <a:gd name="adj" fmla="val 16216"/>
            </a:avLst>
          </a:prstGeom>
          <a:solidFill>
            <a:srgbClr val="F3F4F6"/>
          </a:solidFill>
          <a:ln w="12700">
            <a:solidFill>
              <a:srgbClr val="F3F4F6"/>
            </a:solidFill>
            <a:prstDash val="solid"/>
          </a:ln>
        </p:spPr>
      </p:sp>
      <p:sp>
        <p:nvSpPr>
          <p:cNvPr id="20" name="Shape 18"/>
          <p:cNvSpPr/>
          <p:nvPr/>
        </p:nvSpPr>
        <p:spPr>
          <a:xfrm>
            <a:off x="6400800" y="2587752"/>
            <a:ext cx="384048" cy="384048"/>
          </a:xfrm>
          <a:prstGeom prst="ellipse">
            <a:avLst/>
          </a:prstGeom>
          <a:solidFill>
            <a:srgbClr val="14181F"/>
          </a:solidFill>
          <a:ln w="12700">
            <a:solidFill>
              <a:srgbClr val="14181F"/>
            </a:solidFill>
            <a:prstDash val="solid"/>
          </a:ln>
        </p:spPr>
      </p:sp>
      <p:sp>
        <p:nvSpPr>
          <p:cNvPr id="21" name="Text 19"/>
          <p:cNvSpPr txBox="1"/>
          <p:nvPr/>
        </p:nvSpPr>
        <p:spPr>
          <a:xfrm>
            <a:off x="6400800" y="25877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6903720" y="2514600"/>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Buttons claiming writes they never made</a:t>
            </a:r>
            <a:endParaRPr lang="en-US" sz="1250" dirty="0"/>
          </a:p>
        </p:txBody>
      </p:sp>
      <p:sp>
        <p:nvSpPr>
          <p:cNvPr id="23" name="Text 21"/>
          <p:cNvSpPr txBox="1"/>
          <p:nvPr/>
        </p:nvSpPr>
        <p:spPr>
          <a:xfrm>
            <a:off x="6903720" y="2770632"/>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provide_company removed rather than faked.</a:t>
            </a:r>
            <a:endParaRPr lang="en-US" sz="1000" dirty="0"/>
          </a:p>
        </p:txBody>
      </p:sp>
      <p:sp>
        <p:nvSpPr>
          <p:cNvPr id="24" name="Shape 22"/>
          <p:cNvSpPr/>
          <p:nvPr/>
        </p:nvSpPr>
        <p:spPr>
          <a:xfrm>
            <a:off x="548640" y="3191256"/>
            <a:ext cx="5440680" cy="676656"/>
          </a:xfrm>
          <a:prstGeom prst="roundRect">
            <a:avLst>
              <a:gd name="adj" fmla="val 16216"/>
            </a:avLst>
          </a:prstGeom>
          <a:solidFill>
            <a:srgbClr val="F3F4F6"/>
          </a:solidFill>
          <a:ln w="12700">
            <a:solidFill>
              <a:srgbClr val="F3F4F6"/>
            </a:solidFill>
            <a:prstDash val="solid"/>
          </a:ln>
        </p:spPr>
      </p:sp>
      <p:sp>
        <p:nvSpPr>
          <p:cNvPr id="25" name="Shape 23"/>
          <p:cNvSpPr/>
          <p:nvPr/>
        </p:nvSpPr>
        <p:spPr>
          <a:xfrm>
            <a:off x="731520" y="3337560"/>
            <a:ext cx="384048" cy="384048"/>
          </a:xfrm>
          <a:prstGeom prst="ellipse">
            <a:avLst/>
          </a:prstGeom>
          <a:solidFill>
            <a:srgbClr val="14181F"/>
          </a:solidFill>
          <a:ln w="12700">
            <a:solidFill>
              <a:srgbClr val="14181F"/>
            </a:solidFill>
            <a:prstDash val="solid"/>
          </a:ln>
        </p:spPr>
      </p:sp>
      <p:sp>
        <p:nvSpPr>
          <p:cNvPr id="26" name="Text 24"/>
          <p:cNvSpPr txBox="1"/>
          <p:nvPr/>
        </p:nvSpPr>
        <p:spPr>
          <a:xfrm>
            <a:off x="731520" y="3337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1234440" y="3264408"/>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Base64 attachments utf-8-encoded into bytes</a:t>
            </a:r>
            <a:endParaRPr lang="en-US" sz="1250" dirty="0"/>
          </a:p>
        </p:txBody>
      </p:sp>
      <p:sp>
        <p:nvSpPr>
          <p:cNvPr id="28" name="Text 26"/>
          <p:cNvSpPr txBox="1"/>
          <p:nvPr/>
        </p:nvSpPr>
        <p:spPr>
          <a:xfrm>
            <a:off x="1234440" y="3520440"/>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Every image and audio file via the API was corrupt. vCards passed by accident and hid it.</a:t>
            </a:r>
            <a:endParaRPr lang="en-US" sz="1000" dirty="0"/>
          </a:p>
        </p:txBody>
      </p:sp>
      <p:sp>
        <p:nvSpPr>
          <p:cNvPr id="29" name="Shape 27"/>
          <p:cNvSpPr/>
          <p:nvPr/>
        </p:nvSpPr>
        <p:spPr>
          <a:xfrm>
            <a:off x="6217920" y="3191256"/>
            <a:ext cx="5440680" cy="676656"/>
          </a:xfrm>
          <a:prstGeom prst="roundRect">
            <a:avLst>
              <a:gd name="adj" fmla="val 16216"/>
            </a:avLst>
          </a:prstGeom>
          <a:solidFill>
            <a:srgbClr val="F3F4F6"/>
          </a:solidFill>
          <a:ln w="12700">
            <a:solidFill>
              <a:srgbClr val="F3F4F6"/>
            </a:solidFill>
            <a:prstDash val="solid"/>
          </a:ln>
        </p:spPr>
      </p:sp>
      <p:sp>
        <p:nvSpPr>
          <p:cNvPr id="30" name="Shape 28"/>
          <p:cNvSpPr/>
          <p:nvPr/>
        </p:nvSpPr>
        <p:spPr>
          <a:xfrm>
            <a:off x="6400800" y="3337560"/>
            <a:ext cx="384048" cy="384048"/>
          </a:xfrm>
          <a:prstGeom prst="ellipse">
            <a:avLst/>
          </a:prstGeom>
          <a:solidFill>
            <a:srgbClr val="14181F"/>
          </a:solidFill>
          <a:ln w="12700">
            <a:solidFill>
              <a:srgbClr val="14181F"/>
            </a:solidFill>
            <a:prstDash val="solid"/>
          </a:ln>
        </p:spPr>
      </p:sp>
      <p:sp>
        <p:nvSpPr>
          <p:cNvPr id="31" name="Text 29"/>
          <p:cNvSpPr txBox="1"/>
          <p:nvPr/>
        </p:nvSpPr>
        <p:spPr>
          <a:xfrm>
            <a:off x="6400800" y="3337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6903720" y="3264408"/>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A stale question hijacked the next message</a:t>
            </a:r>
            <a:endParaRPr lang="en-US" sz="1250" dirty="0"/>
          </a:p>
        </p:txBody>
      </p:sp>
      <p:sp>
        <p:nvSpPr>
          <p:cNvPr id="33" name="Text 31"/>
          <p:cNvSpPr txBox="1"/>
          <p:nvPr/>
        </p:nvSpPr>
        <p:spPr>
          <a:xfrm>
            <a:off x="6903720" y="3520440"/>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Meeting notes became a 30-word company name. Questions now expire, and an Add-note tap clears them.</a:t>
            </a:r>
            <a:endParaRPr lang="en-US" sz="1000" dirty="0"/>
          </a:p>
        </p:txBody>
      </p:sp>
      <p:sp>
        <p:nvSpPr>
          <p:cNvPr id="34" name="Shape 32"/>
          <p:cNvSpPr/>
          <p:nvPr/>
        </p:nvSpPr>
        <p:spPr>
          <a:xfrm>
            <a:off x="548640" y="3941064"/>
            <a:ext cx="5440680" cy="676656"/>
          </a:xfrm>
          <a:prstGeom prst="roundRect">
            <a:avLst>
              <a:gd name="adj" fmla="val 16216"/>
            </a:avLst>
          </a:prstGeom>
          <a:solidFill>
            <a:srgbClr val="F3F4F6"/>
          </a:solidFill>
          <a:ln w="12700">
            <a:solidFill>
              <a:srgbClr val="F3F4F6"/>
            </a:solidFill>
            <a:prstDash val="solid"/>
          </a:ln>
        </p:spPr>
      </p:sp>
      <p:sp>
        <p:nvSpPr>
          <p:cNvPr id="35" name="Shape 33"/>
          <p:cNvSpPr/>
          <p:nvPr/>
        </p:nvSpPr>
        <p:spPr>
          <a:xfrm>
            <a:off x="731520" y="4087368"/>
            <a:ext cx="384048" cy="384048"/>
          </a:xfrm>
          <a:prstGeom prst="ellipse">
            <a:avLst/>
          </a:prstGeom>
          <a:solidFill>
            <a:srgbClr val="14181F"/>
          </a:solidFill>
          <a:ln w="12700">
            <a:solidFill>
              <a:srgbClr val="14181F"/>
            </a:solidFill>
            <a:prstDash val="solid"/>
          </a:ln>
        </p:spPr>
      </p:sp>
      <p:sp>
        <p:nvSpPr>
          <p:cNvPr id="36" name="Text 34"/>
          <p:cNvSpPr txBox="1"/>
          <p:nvPr/>
        </p:nvSpPr>
        <p:spPr>
          <a:xfrm>
            <a:off x="731520" y="4087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txBox="1"/>
          <p:nvPr/>
        </p:nvSpPr>
        <p:spPr>
          <a:xfrm>
            <a:off x="1234440" y="4014216"/>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Spoken numbers unparsed</a:t>
            </a:r>
            <a:endParaRPr lang="en-US" sz="1250" dirty="0"/>
          </a:p>
        </p:txBody>
      </p:sp>
      <p:sp>
        <p:nvSpPr>
          <p:cNvPr id="38" name="Text 36"/>
          <p:cNvSpPr txBox="1"/>
          <p:nvPr/>
        </p:nvSpPr>
        <p:spPr>
          <a:xfrm>
            <a:off x="1234440" y="4270248"/>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"Two days" made every voice follow-up ambiguous.</a:t>
            </a:r>
            <a:endParaRPr lang="en-US" sz="1000" dirty="0"/>
          </a:p>
        </p:txBody>
      </p:sp>
      <p:sp>
        <p:nvSpPr>
          <p:cNvPr id="39" name="Shape 37"/>
          <p:cNvSpPr/>
          <p:nvPr/>
        </p:nvSpPr>
        <p:spPr>
          <a:xfrm>
            <a:off x="6217920" y="3941064"/>
            <a:ext cx="5440680" cy="676656"/>
          </a:xfrm>
          <a:prstGeom prst="roundRect">
            <a:avLst>
              <a:gd name="adj" fmla="val 16216"/>
            </a:avLst>
          </a:prstGeom>
          <a:solidFill>
            <a:srgbClr val="F3F4F6"/>
          </a:solidFill>
          <a:ln w="12700">
            <a:solidFill>
              <a:srgbClr val="F3F4F6"/>
            </a:solidFill>
            <a:prstDash val="solid"/>
          </a:ln>
        </p:spPr>
      </p:sp>
      <p:sp>
        <p:nvSpPr>
          <p:cNvPr id="40" name="Shape 38"/>
          <p:cNvSpPr/>
          <p:nvPr/>
        </p:nvSpPr>
        <p:spPr>
          <a:xfrm>
            <a:off x="6400800" y="4087368"/>
            <a:ext cx="384048" cy="384048"/>
          </a:xfrm>
          <a:prstGeom prst="ellipse">
            <a:avLst/>
          </a:prstGeom>
          <a:solidFill>
            <a:srgbClr val="14181F"/>
          </a:solidFill>
          <a:ln w="12700">
            <a:solidFill>
              <a:srgbClr val="14181F"/>
            </a:solidFill>
            <a:prstDash val="solid"/>
          </a:ln>
        </p:spPr>
      </p:sp>
      <p:sp>
        <p:nvSpPr>
          <p:cNvPr id="41" name="Text 39"/>
          <p:cNvSpPr txBox="1"/>
          <p:nvPr/>
        </p:nvSpPr>
        <p:spPr>
          <a:xfrm>
            <a:off x="6400800" y="4087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txBox="1"/>
          <p:nvPr/>
        </p:nvSpPr>
        <p:spPr>
          <a:xfrm>
            <a:off x="6903720" y="4014216"/>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A bare voice note failed outright</a:t>
            </a:r>
            <a:endParaRPr lang="en-US" sz="1250" dirty="0"/>
          </a:p>
        </p:txBody>
      </p:sp>
      <p:sp>
        <p:nvSpPr>
          <p:cNvPr id="43" name="Text 41"/>
          <p:cNvSpPr txBox="1"/>
          <p:nvPr/>
        </p:nvSpPr>
        <p:spPr>
          <a:xfrm>
            <a:off x="6903720" y="4270248"/>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Only worked after an Add-note tap. Now works cold.</a:t>
            </a:r>
            <a:endParaRPr lang="en-US" sz="1000" dirty="0"/>
          </a:p>
        </p:txBody>
      </p:sp>
      <p:sp>
        <p:nvSpPr>
          <p:cNvPr id="44" name="Shape 42"/>
          <p:cNvSpPr/>
          <p:nvPr/>
        </p:nvSpPr>
        <p:spPr>
          <a:xfrm>
            <a:off x="548640" y="4690872"/>
            <a:ext cx="5440680" cy="676656"/>
          </a:xfrm>
          <a:prstGeom prst="roundRect">
            <a:avLst>
              <a:gd name="adj" fmla="val 16216"/>
            </a:avLst>
          </a:prstGeom>
          <a:solidFill>
            <a:srgbClr val="F3F4F6"/>
          </a:solidFill>
          <a:ln w="12700">
            <a:solidFill>
              <a:srgbClr val="F3F4F6"/>
            </a:solidFill>
            <a:prstDash val="solid"/>
          </a:ln>
        </p:spPr>
      </p:sp>
      <p:sp>
        <p:nvSpPr>
          <p:cNvPr id="45" name="Shape 43"/>
          <p:cNvSpPr/>
          <p:nvPr/>
        </p:nvSpPr>
        <p:spPr>
          <a:xfrm>
            <a:off x="731520" y="4837176"/>
            <a:ext cx="384048" cy="384048"/>
          </a:xfrm>
          <a:prstGeom prst="ellipse">
            <a:avLst/>
          </a:prstGeom>
          <a:solidFill>
            <a:srgbClr val="14181F"/>
          </a:solidFill>
          <a:ln w="12700">
            <a:solidFill>
              <a:srgbClr val="14181F"/>
            </a:solidFill>
            <a:prstDash val="solid"/>
          </a:ln>
        </p:spPr>
      </p:sp>
      <p:sp>
        <p:nvSpPr>
          <p:cNvPr id="46" name="Text 44"/>
          <p:cNvSpPr txBox="1"/>
          <p:nvPr/>
        </p:nvSpPr>
        <p:spPr>
          <a:xfrm>
            <a:off x="731520" y="4837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7" name="Text 45"/>
          <p:cNvSpPr txBox="1"/>
          <p:nvPr/>
        </p:nvSpPr>
        <p:spPr>
          <a:xfrm>
            <a:off x="1234440" y="4764024"/>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.env pinned the model</a:t>
            </a:r>
            <a:endParaRPr lang="en-US" sz="1250" dirty="0"/>
          </a:p>
        </p:txBody>
      </p:sp>
      <p:sp>
        <p:nvSpPr>
          <p:cNvPr id="48" name="Text 46"/>
          <p:cNvSpPr txBox="1"/>
          <p:nvPr/>
        </p:nvSpPr>
        <p:spPr>
          <a:xfrm>
            <a:off x="1234440" y="5020056"/>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Silently overrode the measured tuning.</a:t>
            </a:r>
            <a:endParaRPr lang="en-US" sz="1000" dirty="0"/>
          </a:p>
        </p:txBody>
      </p:sp>
      <p:sp>
        <p:nvSpPr>
          <p:cNvPr id="49" name="Shape 47"/>
          <p:cNvSpPr/>
          <p:nvPr/>
        </p:nvSpPr>
        <p:spPr>
          <a:xfrm>
            <a:off x="6217920" y="4690872"/>
            <a:ext cx="5440680" cy="676656"/>
          </a:xfrm>
          <a:prstGeom prst="roundRect">
            <a:avLst>
              <a:gd name="adj" fmla="val 16216"/>
            </a:avLst>
          </a:prstGeom>
          <a:solidFill>
            <a:srgbClr val="F3F4F6"/>
          </a:solidFill>
          <a:ln w="12700">
            <a:solidFill>
              <a:srgbClr val="F3F4F6"/>
            </a:solidFill>
            <a:prstDash val="solid"/>
          </a:ln>
        </p:spPr>
      </p:sp>
      <p:sp>
        <p:nvSpPr>
          <p:cNvPr id="50" name="Shape 48"/>
          <p:cNvSpPr/>
          <p:nvPr/>
        </p:nvSpPr>
        <p:spPr>
          <a:xfrm>
            <a:off x="6400800" y="4837176"/>
            <a:ext cx="384048" cy="384048"/>
          </a:xfrm>
          <a:prstGeom prst="ellipse">
            <a:avLst/>
          </a:prstGeom>
          <a:solidFill>
            <a:srgbClr val="14181F"/>
          </a:solidFill>
          <a:ln w="12700">
            <a:solidFill>
              <a:srgbClr val="14181F"/>
            </a:solidFill>
            <a:prstDash val="solid"/>
          </a:ln>
        </p:spPr>
      </p:sp>
      <p:sp>
        <p:nvSpPr>
          <p:cNvPr id="51" name="Text 49"/>
          <p:cNvSpPr txBox="1"/>
          <p:nvPr/>
        </p:nvSpPr>
        <p:spPr>
          <a:xfrm>
            <a:off x="6400800" y="4837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52" name="Text 50"/>
          <p:cNvSpPr txBox="1"/>
          <p:nvPr/>
        </p:nvSpPr>
        <p:spPr>
          <a:xfrm>
            <a:off x="6903720" y="4764024"/>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Live JWTs in raw captures</a:t>
            </a:r>
            <a:endParaRPr lang="en-US" sz="1250" dirty="0"/>
          </a:p>
        </p:txBody>
      </p:sp>
      <p:sp>
        <p:nvSpPr>
          <p:cNvPr id="53" name="Text 51"/>
          <p:cNvSpPr txBox="1"/>
          <p:nvPr/>
        </p:nvSpPr>
        <p:spPr>
          <a:xfrm>
            <a:off x="6903720" y="5020056"/>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Public repo. Scrubbed, rotated, fixtures redacted.</a:t>
            </a:r>
            <a:endParaRPr lang="en-US" sz="1000" dirty="0"/>
          </a:p>
        </p:txBody>
      </p:sp>
      <p:sp>
        <p:nvSpPr>
          <p:cNvPr id="54" name="Shape 52"/>
          <p:cNvSpPr/>
          <p:nvPr/>
        </p:nvSpPr>
        <p:spPr>
          <a:xfrm>
            <a:off x="548640" y="5440680"/>
            <a:ext cx="5440680" cy="676656"/>
          </a:xfrm>
          <a:prstGeom prst="roundRect">
            <a:avLst>
              <a:gd name="adj" fmla="val 16216"/>
            </a:avLst>
          </a:prstGeom>
          <a:solidFill>
            <a:srgbClr val="F3F4F6"/>
          </a:solidFill>
          <a:ln w="12700">
            <a:solidFill>
              <a:srgbClr val="F3F4F6"/>
            </a:solidFill>
            <a:prstDash val="solid"/>
          </a:ln>
        </p:spPr>
      </p:sp>
      <p:sp>
        <p:nvSpPr>
          <p:cNvPr id="55" name="Shape 53"/>
          <p:cNvSpPr/>
          <p:nvPr/>
        </p:nvSpPr>
        <p:spPr>
          <a:xfrm>
            <a:off x="731520" y="5586984"/>
            <a:ext cx="384048" cy="384048"/>
          </a:xfrm>
          <a:prstGeom prst="ellipse">
            <a:avLst/>
          </a:prstGeom>
          <a:solidFill>
            <a:srgbClr val="14181F"/>
          </a:solidFill>
          <a:ln w="12700">
            <a:solidFill>
              <a:srgbClr val="14181F"/>
            </a:solidFill>
            <a:prstDash val="solid"/>
          </a:ln>
        </p:spPr>
      </p:sp>
      <p:sp>
        <p:nvSpPr>
          <p:cNvPr id="56" name="Text 54"/>
          <p:cNvSpPr txBox="1"/>
          <p:nvPr/>
        </p:nvSpPr>
        <p:spPr>
          <a:xfrm>
            <a:off x="731520" y="55869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57" name="Text 55"/>
          <p:cNvSpPr txBox="1"/>
          <p:nvPr/>
        </p:nvSpPr>
        <p:spPr>
          <a:xfrm>
            <a:off x="1234440" y="5513832"/>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A short lead line became the company name</a:t>
            </a:r>
            <a:endParaRPr lang="en-US" sz="1250" dirty="0"/>
          </a:p>
        </p:txBody>
      </p:sp>
      <p:sp>
        <p:nvSpPr>
          <p:cNvPr id="58" name="Text 56"/>
          <p:cNvSpPr txBox="1"/>
          <p:nvPr/>
        </p:nvSpPr>
        <p:spPr>
          <a:xfrm>
            <a:off x="1234440" y="5769864"/>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"Omar, Lumen Facades, omar@..." fits in 8 words. Now an @, commas or length re-routes it.</a:t>
            </a:r>
            <a:endParaRPr lang="en-US" sz="1000" dirty="0"/>
          </a:p>
        </p:txBody>
      </p:sp>
      <p:sp>
        <p:nvSpPr>
          <p:cNvPr id="59" name="Shape 57"/>
          <p:cNvSpPr/>
          <p:nvPr/>
        </p:nvSpPr>
        <p:spPr>
          <a:xfrm>
            <a:off x="6217920" y="5440680"/>
            <a:ext cx="5440680" cy="676656"/>
          </a:xfrm>
          <a:prstGeom prst="roundRect">
            <a:avLst>
              <a:gd name="adj" fmla="val 16216"/>
            </a:avLst>
          </a:prstGeom>
          <a:solidFill>
            <a:srgbClr val="F3F4F6"/>
          </a:solidFill>
          <a:ln w="12700">
            <a:solidFill>
              <a:srgbClr val="F3F4F6"/>
            </a:solidFill>
            <a:prstDash val="solid"/>
          </a:ln>
        </p:spPr>
      </p:sp>
      <p:sp>
        <p:nvSpPr>
          <p:cNvPr id="60" name="Shape 58"/>
          <p:cNvSpPr/>
          <p:nvPr/>
        </p:nvSpPr>
        <p:spPr>
          <a:xfrm>
            <a:off x="6400800" y="5586984"/>
            <a:ext cx="384048" cy="384048"/>
          </a:xfrm>
          <a:prstGeom prst="ellipse">
            <a:avLst/>
          </a:prstGeom>
          <a:solidFill>
            <a:srgbClr val="14181F"/>
          </a:solidFill>
          <a:ln w="12700">
            <a:solidFill>
              <a:srgbClr val="14181F"/>
            </a:solidFill>
            <a:prstDash val="solid"/>
          </a:ln>
        </p:spPr>
      </p:sp>
      <p:sp>
        <p:nvSpPr>
          <p:cNvPr id="61" name="Text 59"/>
          <p:cNvSpPr txBox="1"/>
          <p:nvPr/>
        </p:nvSpPr>
        <p:spPr>
          <a:xfrm>
            <a:off x="6400800" y="55869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62" name="Text 60"/>
          <p:cNvSpPr txBox="1"/>
          <p:nvPr/>
        </p:nvSpPr>
        <p:spPr>
          <a:xfrm>
            <a:off x="6903720" y="5513832"/>
            <a:ext cx="4617720" cy="274320"/>
          </a:xfrm>
          <a:prstGeom prst="rect">
            <a:avLst/>
          </a:prstGeom>
          <a:noFill/>
          <a:ln/>
        </p:spPr>
        <p:txBody>
          <a:bodyPr wrap="square" lIns="0" tIns="0" rIns="0" bIns="0" rtlCol="0" anchor="t"/>
          <a:lstStyle/>
          <a:p>
            <a:pPr algn="l" indent="0" marL="0">
              <a:lnSpc>
                <a:spcPct val="110000"/>
              </a:lnSpc>
              <a:buNone/>
            </a:pPr>
            <a:r>
              <a:rPr lang="en-US" sz="1250" b="1" dirty="0">
                <a:solidFill>
                  <a:srgbClr val="1F2937"/>
                </a:solidFill>
                <a:latin typeface="Calibri" pitchFamily="34" charset="0"/>
                <a:ea typeface="Calibri" pitchFamily="34" charset="-122"/>
                <a:cs typeface="Calibri" pitchFamily="34" charset="-120"/>
              </a:rPr>
              <a:t>No way out of a pending state</a:t>
            </a:r>
            <a:endParaRPr lang="en-US" sz="1250" dirty="0"/>
          </a:p>
        </p:txBody>
      </p:sp>
      <p:sp>
        <p:nvSpPr>
          <p:cNvPr id="63" name="Text 61"/>
          <p:cNvSpPr txBox="1"/>
          <p:nvPr/>
        </p:nvSpPr>
        <p:spPr>
          <a:xfrm>
            <a:off x="6903720" y="5769864"/>
            <a:ext cx="4617720" cy="347472"/>
          </a:xfrm>
          <a:prstGeom prst="rect">
            <a:avLst/>
          </a:prstGeom>
          <a:noFill/>
          <a:ln/>
        </p:spPr>
        <p:txBody>
          <a:bodyPr wrap="square" lIns="0" tIns="0" rIns="0" bIns="0" rtlCol="0" anchor="t"/>
          <a:lstStyle/>
          <a:p>
            <a:pPr algn="l" indent="0" marL="0">
              <a:lnSpc>
                <a:spcPct val="110000"/>
              </a:lnSpc>
              <a:buNone/>
            </a:pPr>
            <a:r>
              <a:rPr lang="en-US" sz="1000" dirty="0">
                <a:solidFill>
                  <a:srgbClr val="6B7280"/>
                </a:solidFill>
                <a:latin typeface="Calibri" pitchFamily="34" charset="0"/>
                <a:ea typeface="Calibri" pitchFamily="34" charset="-122"/>
                <a:cs typeface="Calibri" pitchFamily="34" charset="-120"/>
              </a:rPr>
              <a:t>A mistaken Add-note tap stuck for 10 min. "cancel" / "never mind" now clears it and says so.</a:t>
            </a:r>
            <a:endParaRPr lang="en-US" sz="100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10  ·  RISKS AND WHAT IS MOCKED</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What is real, what is ours, what production needs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828800"/>
                <a:gridCol w="4572000"/>
                <a:gridCol w="4690872"/>
              </a:tblGrid>
              <a:tr h="6858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Boundary</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Today</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Production would need</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14181F"/>
                    </a:solidFill>
                  </a:tcPr>
                </a:tc>
              </a:tr>
              <a:tr h="685800">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Data store</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Our own SQLite behind a Store interface. Not Intrakore's CRM: no sandbox, no credentials.</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CRM auth and token refresh, field mapping, idempotency keys, rate limits, an error taxonomy, retry and dead-letter queue.</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r h="685800">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Inbound auth</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The webhook does not validate the Bot Framework JWT.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Validate the token against the Bot Framework OpenID metadata on every request.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r>
              <a:tr h="685800">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PII</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Names, phones, emails and voice go to Anthropic and Deepgram over the API.</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Data processing agreements, redaction before the model call, or Claude on Amazon Bedrock inside Intrakore's own AWS account.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r h="685800">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Teams client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Sideloading blocked at tenant level. Demo runs in Azure Web Chat. File and .vcf attachments are unvalidated in Web Chat.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Tenant admin approval for the app package, then validate the attachment paths against a real Teams client.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FFFFF"/>
                    </a:solidFill>
                  </a:tcPr>
                </a:tc>
              </a:tr>
              <a:tr h="685800">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Speech-to-text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Deepgram Nova-3, real. Heard a synthetic "Skyline Fitout" as "skyline feet out".</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Vocabulary boosting for customer names, or a native-audio model. The original transcript is retained either way.</a:t>
                      </a:r>
                      <a:endParaRPr lang="en-US" sz="1150" dirty="0">
                        <a:latin typeface="Calibri" charset="0"/>
                        <a:ea typeface="Calibri" charset="0"/>
                        <a:cs typeface="Calibri" charset="0"/>
                      </a:endParaRPr>
                    </a:p>
                  </a:txBody>
                  <a:tcPr marL="91440" marR="91440" marT="54864" marB="54864" anchor="ctr">
                    <a:lnL w="9525" cap="flat" cmpd="sng" algn="ctr">
                      <a:solidFill>
                        <a:srgbClr val="E9EBEF"/>
                      </a:solidFill>
                      <a:prstDash val="solid"/>
                      <a:round/>
                      <a:headEnd type="none" w="med" len="med"/>
                      <a:tailEnd type="none" w="med" len="med"/>
                    </a:lnL>
                    <a:lnR w="9525" cap="flat" cmpd="sng" algn="ctr">
                      <a:solidFill>
                        <a:srgbClr val="E9EBEF"/>
                      </a:solidFill>
                      <a:prstDash val="solid"/>
                      <a:round/>
                      <a:headEnd type="none" w="med" len="med"/>
                      <a:tailEnd type="none" w="med" len="med"/>
                    </a:lnR>
                    <a:lnT w="9525" cap="flat" cmpd="sng" algn="ctr">
                      <a:solidFill>
                        <a:srgbClr val="E9EBEF"/>
                      </a:solidFill>
                      <a:prstDash val="solid"/>
                      <a:round/>
                      <a:headEnd type="none" w="med" len="med"/>
                      <a:tailEnd type="none" w="med" len="med"/>
                    </a:lnT>
                    <a:lnB w="9525" cap="flat" cmpd="sng" algn="ctr">
                      <a:solidFill>
                        <a:srgbClr val="E9EBEF"/>
                      </a:solidFill>
                      <a:prstDash val="solid"/>
                      <a:round/>
                      <a:headEnd type="none" w="med" len="med"/>
                      <a:tailEnd type="none" w="med" len="med"/>
                    </a:lnB>
                    <a:solidFill>
                      <a:srgbClr val="F3F4F6"/>
                    </a:solidFill>
                  </a:tcPr>
                </a:tc>
              </a:tr>
            </a:tbl>
          </a:graphicData>
        </a:graphic>
      </p:graphicFrame>
      <p:sp>
        <p:nvSpPr>
          <p:cNvPr id="5" name="Text 2"/>
          <p:cNvSpPr txBox="1"/>
          <p:nvPr/>
        </p:nvSpPr>
        <p:spPr>
          <a:xfrm>
            <a:off x="548640" y="6035040"/>
            <a:ext cx="10972800" cy="320040"/>
          </a:xfrm>
          <a:prstGeom prst="rect">
            <a:avLst/>
          </a:prstGeom>
          <a:noFill/>
          <a:ln/>
        </p:spPr>
        <p:txBody>
          <a:bodyPr wrap="square" lIns="0" tIns="0" rIns="0" bIns="0" rtlCol="0" anchor="t"/>
          <a:lstStyle/>
          <a:p>
            <a:pPr algn="l" indent="0" marL="0">
              <a:lnSpc>
                <a:spcPct val="110000"/>
              </a:lnSpc>
              <a:buNone/>
            </a:pPr>
            <a:r>
              <a:rPr lang="en-US" sz="1100" i="1" dirty="0">
                <a:solidFill>
                  <a:srgbClr val="6B7280"/>
                </a:solidFill>
                <a:latin typeface="Calibri" pitchFamily="34" charset="0"/>
                <a:ea typeface="Calibri" pitchFamily="34" charset="-122"/>
                <a:cs typeface="Calibri" pitchFamily="34" charset="-120"/>
              </a:rPr>
              <a:t>Everything in the "Today" column is labelled in the code. The brief scores transparency; a hidden gap gets dismantled in Q&amp;A, a named one reads as a plan.</a:t>
            </a:r>
            <a:endParaRPr lang="en-US" sz="11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B97A1E"/>
                </a:solidFill>
                <a:latin typeface="Calibri" pitchFamily="34" charset="0"/>
                <a:ea typeface="Calibri" pitchFamily="34" charset="-122"/>
                <a:cs typeface="Calibri" pitchFamily="34" charset="-120"/>
              </a:rPr>
              <a:t>11  ·  WHERE IT GOES</a:t>
            </a:r>
            <a:endParaRPr lang="en-US" sz="1100" dirty="0"/>
          </a:p>
        </p:txBody>
      </p:sp>
      <p:sp>
        <p:nvSpPr>
          <p:cNvPr id="3" name="Text 1"/>
          <p:cNvSpPr txBox="1"/>
          <p:nvPr/>
        </p:nvSpPr>
        <p:spPr>
          <a:xfrm>
            <a:off x="548640" y="685800"/>
            <a:ext cx="11091672" cy="822960"/>
          </a:xfrm>
          <a:prstGeom prst="rect">
            <a:avLst/>
          </a:prstGeom>
          <a:noFill/>
          <a:ln/>
        </p:spPr>
        <p:txBody>
          <a:bodyPr wrap="square" lIns="0" tIns="0" rIns="0" bIns="0" rtlCol="0" anchor="t"/>
          <a:lstStyle/>
          <a:p>
            <a:pPr indent="0" marL="0">
              <a:buNone/>
            </a:pPr>
            <a:r>
              <a:rPr lang="en-US" sz="3400" b="1" dirty="0">
                <a:solidFill>
                  <a:srgbClr val="14181F"/>
                </a:solidFill>
                <a:latin typeface="Calibri" pitchFamily="34" charset="0"/>
                <a:ea typeface="Calibri" pitchFamily="34" charset="-122"/>
                <a:cs typeface="Calibri" pitchFamily="34" charset="-120"/>
              </a:rPr>
              <a:t>Same model, inside your AWS account</a:t>
            </a:r>
            <a:endParaRPr lang="en-US" sz="3400" dirty="0"/>
          </a:p>
        </p:txBody>
      </p:sp>
      <p:sp>
        <p:nvSpPr>
          <p:cNvPr id="4" name="Shape 2"/>
          <p:cNvSpPr/>
          <p:nvPr/>
        </p:nvSpPr>
        <p:spPr>
          <a:xfrm>
            <a:off x="548640" y="1737360"/>
            <a:ext cx="5486400" cy="4389120"/>
          </a:xfrm>
          <a:prstGeom prst="roundRect">
            <a:avLst>
              <a:gd name="adj" fmla="val 2500"/>
            </a:avLst>
          </a:prstGeom>
          <a:solidFill>
            <a:srgbClr val="14181F"/>
          </a:solidFill>
          <a:ln w="12700">
            <a:solidFill>
              <a:srgbClr val="14181F"/>
            </a:solidFill>
            <a:prstDash val="solid"/>
          </a:ln>
        </p:spPr>
      </p:sp>
      <p:sp>
        <p:nvSpPr>
          <p:cNvPr id="5" name="Text 3"/>
          <p:cNvSpPr txBox="1"/>
          <p:nvPr/>
        </p:nvSpPr>
        <p:spPr>
          <a:xfrm>
            <a:off x="822960" y="1920240"/>
            <a:ext cx="2743200" cy="274320"/>
          </a:xfrm>
          <a:prstGeom prst="rect">
            <a:avLst/>
          </a:prstGeom>
          <a:noFill/>
          <a:ln/>
        </p:spPr>
        <p:txBody>
          <a:bodyPr wrap="square" lIns="0" tIns="0" rIns="0" bIns="0" rtlCol="0" anchor="t"/>
          <a:lstStyle/>
          <a:p>
            <a:pPr algn="l" indent="0" marL="0">
              <a:lnSpc>
                <a:spcPct val="110000"/>
              </a:lnSpc>
              <a:buNone/>
            </a:pPr>
            <a:r>
              <a:rPr lang="en-US" sz="1100" b="1" dirty="0">
                <a:solidFill>
                  <a:srgbClr val="E9A23B"/>
                </a:solidFill>
                <a:latin typeface="Calibri" pitchFamily="34" charset="0"/>
                <a:ea typeface="Calibri" pitchFamily="34" charset="-122"/>
                <a:cs typeface="Calibri" pitchFamily="34" charset="-120"/>
              </a:rPr>
              <a:t>DEPLOYMENT PATH</a:t>
            </a:r>
            <a:endParaRPr lang="en-US" sz="1100" dirty="0"/>
          </a:p>
        </p:txBody>
      </p:sp>
      <p:sp>
        <p:nvSpPr>
          <p:cNvPr id="6" name="Text 4"/>
          <p:cNvSpPr txBox="1"/>
          <p:nvPr/>
        </p:nvSpPr>
        <p:spPr>
          <a:xfrm>
            <a:off x="822960" y="2240280"/>
            <a:ext cx="49377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Calibri" pitchFamily="34" charset="0"/>
                <a:ea typeface="Calibri" pitchFamily="34" charset="-122"/>
                <a:cs typeface="Calibri" pitchFamily="34" charset="-120"/>
              </a:rPr>
              <a:t>Intrakore runs on AWS</a:t>
            </a:r>
            <a:endParaRPr lang="en-US" sz="2200" dirty="0"/>
          </a:p>
        </p:txBody>
      </p:sp>
      <p:sp>
        <p:nvSpPr>
          <p:cNvPr id="7" name="Text 5"/>
          <p:cNvSpPr txBox="1"/>
          <p:nvPr/>
        </p:nvSpPr>
        <p:spPr>
          <a:xfrm>
            <a:off x="822960" y="2743200"/>
            <a:ext cx="4937760" cy="548640"/>
          </a:xfrm>
          <a:prstGeom prst="rect">
            <a:avLst/>
          </a:prstGeom>
          <a:noFill/>
          <a:ln/>
        </p:spPr>
        <p:txBody>
          <a:bodyPr wrap="square" lIns="0" tIns="0" rIns="0" bIns="0" rtlCol="0" anchor="t"/>
          <a:lstStyle/>
          <a:p>
            <a:pPr algn="l" indent="0" marL="0">
              <a:lnSpc>
                <a:spcPct val="110000"/>
              </a:lnSpc>
              <a:buNone/>
            </a:pPr>
            <a:r>
              <a:rPr lang="en-US" sz="1200" dirty="0">
                <a:solidFill>
                  <a:srgbClr val="C9CED6"/>
                </a:solidFill>
                <a:latin typeface="Calibri" pitchFamily="34" charset="0"/>
                <a:ea typeface="Calibri" pitchFamily="34" charset="-122"/>
                <a:cs typeface="Calibri" pitchFamily="34" charset="-120"/>
              </a:rPr>
              <a:t>Verified, not inferred: app, portal, login and api subdomains resolve to EC2 in us-east-1.</a:t>
            </a:r>
            <a:endParaRPr lang="en-US" sz="1200" dirty="0"/>
          </a:p>
        </p:txBody>
      </p:sp>
      <p:sp>
        <p:nvSpPr>
          <p:cNvPr id="8" name="Text 6"/>
          <p:cNvSpPr txBox="1"/>
          <p:nvPr/>
        </p:nvSpPr>
        <p:spPr>
          <a:xfrm>
            <a:off x="822960" y="3429000"/>
            <a:ext cx="4937760" cy="256032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E5E7EB"/>
                </a:solidFill>
                <a:latin typeface="Calibri" pitchFamily="34" charset="0"/>
                <a:ea typeface="Calibri" pitchFamily="34" charset="-122"/>
                <a:cs typeface="Calibri" pitchFamily="34" charset="-120"/>
              </a:rPr>
              <a:t>Claude is available natively on Amazon Bedrock. Same model, same code, inside the existing AWS account and its data boundary.</a:t>
            </a:r>
            <a:endParaRPr lang="en-US" sz="1200" dirty="0"/>
          </a:p>
          <a:p>
            <a:pPr marL="177800" indent="-177800">
              <a:spcAft>
                <a:spcPts val="700"/>
              </a:spcAft>
              <a:buSzPct val="100000"/>
              <a:buChar char="•"/>
            </a:pPr>
            <a:r>
              <a:rPr lang="en-US" sz="1200" dirty="0">
                <a:solidFill>
                  <a:srgbClr val="E5E7EB"/>
                </a:solidFill>
                <a:latin typeface="Calibri" pitchFamily="34" charset="0"/>
                <a:ea typeface="Calibri" pitchFamily="34" charset="-122"/>
                <a:cs typeface="Calibri" pitchFamily="34" charset="-120"/>
              </a:rPr>
              <a:t>The model is behind two files. Pointing them at Bedrock is a client change, not a rewrite.</a:t>
            </a:r>
            <a:endParaRPr lang="en-US" sz="1200" dirty="0"/>
          </a:p>
          <a:p>
            <a:pPr marL="177800" indent="-177800">
              <a:spcAft>
                <a:spcPts val="700"/>
              </a:spcAft>
              <a:buSzPct val="100000"/>
              <a:buChar char="•"/>
            </a:pPr>
            <a:r>
              <a:rPr lang="en-US" sz="1200" dirty="0">
                <a:solidFill>
                  <a:srgbClr val="E5E7EB"/>
                </a:solidFill>
                <a:latin typeface="Calibri" pitchFamily="34" charset="0"/>
                <a:ea typeface="Calibri" pitchFamily="34" charset="-122"/>
                <a:cs typeface="Calibri" pitchFamily="34" charset="-120"/>
              </a:rPr>
              <a:t>PII never leaves the account. That answers the third row of the risks slide.</a:t>
            </a:r>
            <a:endParaRPr lang="en-US" sz="1200" dirty="0"/>
          </a:p>
          <a:p>
            <a:pPr marL="177800" indent="-177800">
              <a:spcAft>
                <a:spcPts val="700"/>
              </a:spcAft>
              <a:buSzPct val="100000"/>
              <a:buChar char="•"/>
            </a:pPr>
            <a:r>
              <a:rPr lang="en-US" sz="1200" dirty="0">
                <a:solidFill>
                  <a:srgbClr val="E5E7EB"/>
                </a:solidFill>
                <a:latin typeface="Calibri" pitchFamily="34" charset="0"/>
                <a:ea typeface="Calibri" pitchFamily="34" charset="-122"/>
                <a:cs typeface="Calibri" pitchFamily="34" charset="-120"/>
              </a:rPr>
              <a:t>Pricing on Bedrock is set by AWS: same range, not identical. We will quote it, not assume it.</a:t>
            </a:r>
            <a:endParaRPr lang="en-US" sz="1200" dirty="0"/>
          </a:p>
        </p:txBody>
      </p:sp>
      <p:sp>
        <p:nvSpPr>
          <p:cNvPr id="9" name="Text 7"/>
          <p:cNvSpPr txBox="1"/>
          <p:nvPr/>
        </p:nvSpPr>
        <p:spPr>
          <a:xfrm>
            <a:off x="6400800" y="1737360"/>
            <a:ext cx="2743200" cy="274320"/>
          </a:xfrm>
          <a:prstGeom prst="rect">
            <a:avLst/>
          </a:prstGeom>
          <a:noFill/>
          <a:ln/>
        </p:spPr>
        <p:txBody>
          <a:bodyPr wrap="square" lIns="0" tIns="0" rIns="0" bIns="0" rtlCol="0" anchor="t"/>
          <a:lstStyle/>
          <a:p>
            <a:pPr algn="l" indent="0" marL="0">
              <a:lnSpc>
                <a:spcPct val="110000"/>
              </a:lnSpc>
              <a:buNone/>
            </a:pPr>
            <a:r>
              <a:rPr lang="en-US" sz="1100" b="1" dirty="0">
                <a:solidFill>
                  <a:srgbClr val="B97A1E"/>
                </a:solidFill>
                <a:latin typeface="Calibri" pitchFamily="34" charset="0"/>
                <a:ea typeface="Calibri" pitchFamily="34" charset="-122"/>
                <a:cs typeface="Calibri" pitchFamily="34" charset="-120"/>
              </a:rPr>
              <a:t>WEEK TWO</a:t>
            </a:r>
            <a:endParaRPr lang="en-US" sz="1100" dirty="0"/>
          </a:p>
        </p:txBody>
      </p:sp>
      <p:sp>
        <p:nvSpPr>
          <p:cNvPr id="10" name="Text 8"/>
          <p:cNvSpPr txBox="1"/>
          <p:nvPr/>
        </p:nvSpPr>
        <p:spPr>
          <a:xfrm>
            <a:off x="6400800" y="2057400"/>
            <a:ext cx="5257800" cy="292608"/>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Gemini 2.5 Flash against the eval set</a:t>
            </a:r>
            <a:endParaRPr lang="en-US" sz="1400" dirty="0"/>
          </a:p>
        </p:txBody>
      </p:sp>
      <p:sp>
        <p:nvSpPr>
          <p:cNvPr id="11" name="Text 9"/>
          <p:cNvSpPr txBox="1"/>
          <p:nvPr/>
        </p:nvSpPr>
        <p:spPr>
          <a:xfrm>
            <a:off x="6400800" y="2359152"/>
            <a:ext cx="5257800" cy="7315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Roughly 4–6× cheaper per text lead on our token counts, and it takes audio natively, which would remove Deepgram as a vendor. Decided by the 70-case evals, not by a slide. No Bedrock path, which counts against it for this stack.</a:t>
            </a:r>
            <a:endParaRPr lang="en-US" sz="1100" dirty="0"/>
          </a:p>
        </p:txBody>
      </p:sp>
      <p:sp>
        <p:nvSpPr>
          <p:cNvPr id="12" name="Text 10"/>
          <p:cNvSpPr txBox="1"/>
          <p:nvPr/>
        </p:nvSpPr>
        <p:spPr>
          <a:xfrm>
            <a:off x="6400800" y="3081528"/>
            <a:ext cx="5257800" cy="292608"/>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Chat CRUD by tool use</a:t>
            </a:r>
            <a:endParaRPr lang="en-US" sz="1400" dirty="0"/>
          </a:p>
        </p:txBody>
      </p:sp>
      <p:sp>
        <p:nvSpPr>
          <p:cNvPr id="13" name="Text 11"/>
          <p:cNvSpPr txBox="1"/>
          <p:nvPr/>
        </p:nvSpPr>
        <p:spPr>
          <a:xfrm>
            <a:off x="6400800" y="3383280"/>
            <a:ext cx="5257800" cy="7315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"Change the mobile for the Acme lead." The one genuinely open-ended surface, via the SDK's own tool runner with strict tools. Designed, not built.</a:t>
            </a:r>
            <a:endParaRPr lang="en-US" sz="1100" dirty="0"/>
          </a:p>
        </p:txBody>
      </p:sp>
      <p:sp>
        <p:nvSpPr>
          <p:cNvPr id="14" name="Text 12"/>
          <p:cNvSpPr txBox="1"/>
          <p:nvPr/>
        </p:nvSpPr>
        <p:spPr>
          <a:xfrm>
            <a:off x="6400800" y="4105656"/>
            <a:ext cx="5257800" cy="292608"/>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Harden the channel</a:t>
            </a:r>
            <a:endParaRPr lang="en-US" sz="1400" dirty="0"/>
          </a:p>
        </p:txBody>
      </p:sp>
      <p:sp>
        <p:nvSpPr>
          <p:cNvPr id="15" name="Text 13"/>
          <p:cNvSpPr txBox="1"/>
          <p:nvPr/>
        </p:nvSpPr>
        <p:spPr>
          <a:xfrm>
            <a:off x="6400800" y="4407408"/>
            <a:ext cx="5257800" cy="7315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JWT validation, the real Teams client once sideloading is approved, an adversarial business-card set hard enough to lower confidence.</a:t>
            </a:r>
            <a:endParaRPr lang="en-US" sz="1100" dirty="0"/>
          </a:p>
        </p:txBody>
      </p:sp>
      <p:sp>
        <p:nvSpPr>
          <p:cNvPr id="16" name="Text 14"/>
          <p:cNvSpPr txBox="1"/>
          <p:nvPr/>
        </p:nvSpPr>
        <p:spPr>
          <a:xfrm>
            <a:off x="6400800" y="5129784"/>
            <a:ext cx="5257800" cy="292608"/>
          </a:xfrm>
          <a:prstGeom prst="rect">
            <a:avLst/>
          </a:prstGeom>
          <a:noFill/>
          <a:ln/>
        </p:spPr>
        <p:txBody>
          <a:bodyPr wrap="square" lIns="0" tIns="0" rIns="0" bIns="0" rtlCol="0" anchor="t"/>
          <a:lstStyle/>
          <a:p>
            <a:pPr algn="l" indent="0" marL="0">
              <a:lnSpc>
                <a:spcPct val="110000"/>
              </a:lnSpc>
              <a:buNone/>
            </a:pPr>
            <a:r>
              <a:rPr lang="en-US" sz="1400" b="1" dirty="0">
                <a:solidFill>
                  <a:srgbClr val="1F2937"/>
                </a:solidFill>
                <a:latin typeface="Calibri" pitchFamily="34" charset="0"/>
                <a:ea typeface="Calibri" pitchFamily="34" charset="-122"/>
                <a:cs typeface="Calibri" pitchFamily="34" charset="-120"/>
              </a:rPr>
              <a:t>Connect the store</a:t>
            </a:r>
            <a:endParaRPr lang="en-US" sz="1400" dirty="0"/>
          </a:p>
        </p:txBody>
      </p:sp>
      <p:sp>
        <p:nvSpPr>
          <p:cNvPr id="17" name="Text 15"/>
          <p:cNvSpPr txBox="1"/>
          <p:nvPr/>
        </p:nvSpPr>
        <p:spPr>
          <a:xfrm>
            <a:off x="6400800" y="5431536"/>
            <a:ext cx="5257800" cy="731520"/>
          </a:xfrm>
          <a:prstGeom prst="rect">
            <a:avLst/>
          </a:prstGeom>
          <a:noFill/>
          <a:ln/>
        </p:spPr>
        <p:txBody>
          <a:bodyPr wrap="square" lIns="0" tIns="0" rIns="0" bIns="0" rtlCol="0" anchor="t"/>
          <a:lstStyle/>
          <a:p>
            <a:pPr algn="l" indent="0" marL="0">
              <a:lnSpc>
                <a:spcPct val="110000"/>
              </a:lnSpc>
              <a:buNone/>
            </a:pPr>
            <a:r>
              <a:rPr lang="en-US" sz="1100" dirty="0">
                <a:solidFill>
                  <a:srgbClr val="6B7280"/>
                </a:solidFill>
                <a:latin typeface="Calibri" pitchFamily="34" charset="0"/>
                <a:ea typeface="Calibri" pitchFamily="34" charset="-122"/>
                <a:cs typeface="Calibri" pitchFamily="34" charset="-120"/>
              </a:rPr>
              <a:t>Replace the SQLite implementation of Store with Intrakore's CRM, using the field mapping from the CTO's answer.</a:t>
            </a:r>
            <a:endParaRPr lang="en-US" sz="1100" dirty="0"/>
          </a:p>
        </p:txBody>
      </p:sp>
      <p:sp>
        <p:nvSpPr>
          <p:cNvPr id="18" name="Text 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ctr"/>
          <a:lstStyle/>
          <a:p>
            <a:pPr indent="0" marL="0">
              <a:buNone/>
            </a:pPr>
            <a:r>
              <a:rPr lang="en-US" sz="1100" b="1" spc="200" kern="0" dirty="0">
                <a:solidFill>
                  <a:srgbClr val="E9A23B"/>
                </a:solidFill>
                <a:latin typeface="Calibri" pitchFamily="34" charset="0"/>
                <a:ea typeface="Calibri" pitchFamily="34" charset="-122"/>
                <a:cs typeface="Calibri" pitchFamily="34" charset="-120"/>
              </a:rPr>
              <a:t>12  ·  QUESTIONS</a:t>
            </a:r>
            <a:endParaRPr lang="en-US" sz="1100" dirty="0"/>
          </a:p>
        </p:txBody>
      </p:sp>
      <p:sp>
        <p:nvSpPr>
          <p:cNvPr id="3" name="Text 1"/>
          <p:cNvSpPr txBox="1"/>
          <p:nvPr/>
        </p:nvSpPr>
        <p:spPr>
          <a:xfrm>
            <a:off x="548640" y="1828800"/>
            <a:ext cx="10972800" cy="128016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Null, not a guess.</a:t>
            </a:r>
            <a:endParaRPr lang="en-US" sz="6000" dirty="0"/>
          </a:p>
        </p:txBody>
      </p:sp>
      <p:sp>
        <p:nvSpPr>
          <p:cNvPr id="4" name="Text 2"/>
          <p:cNvSpPr txBox="1"/>
          <p:nvPr/>
        </p:nvSpPr>
        <p:spPr>
          <a:xfrm>
            <a:off x="548640" y="3108960"/>
            <a:ext cx="9144000" cy="548640"/>
          </a:xfrm>
          <a:prstGeom prst="rect">
            <a:avLst/>
          </a:prstGeom>
          <a:noFill/>
          <a:ln/>
        </p:spPr>
        <p:txBody>
          <a:bodyPr wrap="square" lIns="0" tIns="0" rIns="0" bIns="0" rtlCol="0" anchor="ctr"/>
          <a:lstStyle/>
          <a:p>
            <a:pPr indent="0" marL="0">
              <a:buNone/>
            </a:pPr>
            <a:r>
              <a:rPr lang="en-US" sz="1800" dirty="0">
                <a:solidFill>
                  <a:srgbClr val="C9CED6"/>
                </a:solidFill>
                <a:latin typeface="Calibri" pitchFamily="34" charset="0"/>
                <a:ea typeface="Calibri" pitchFamily="34" charset="-122"/>
                <a:cs typeface="Calibri" pitchFamily="34" charset="-120"/>
              </a:rPr>
              <a:t>A lead the bot is unsure about is a question to the salesperson, not a record in the CRM.</a:t>
            </a:r>
            <a:endParaRPr lang="en-US" sz="1800" dirty="0"/>
          </a:p>
        </p:txBody>
      </p:sp>
      <p:sp>
        <p:nvSpPr>
          <p:cNvPr id="5" name="Text 3"/>
          <p:cNvSpPr txBox="1"/>
          <p:nvPr/>
        </p:nvSpPr>
        <p:spPr>
          <a:xfrm>
            <a:off x="548640" y="4754880"/>
            <a:ext cx="3566160" cy="320040"/>
          </a:xfrm>
          <a:prstGeom prst="rect">
            <a:avLst/>
          </a:prstGeom>
          <a:noFill/>
          <a:ln/>
        </p:spPr>
        <p:txBody>
          <a:bodyPr wrap="square" lIns="0" tIns="0" rIns="0" bIns="0" rtlCol="0" anchor="t"/>
          <a:lstStyle/>
          <a:p>
            <a:pPr algn="l" indent="0" marL="0">
              <a:lnSpc>
                <a:spcPct val="110000"/>
              </a:lnSpc>
              <a:buNone/>
            </a:pPr>
            <a:r>
              <a:rPr lang="en-US" sz="1300" b="1" dirty="0">
                <a:solidFill>
                  <a:srgbClr val="E9A23B"/>
                </a:solidFill>
                <a:latin typeface="Calibri" pitchFamily="34" charset="0"/>
                <a:ea typeface="Calibri" pitchFamily="34" charset="-122"/>
                <a:cs typeface="Calibri" pitchFamily="34" charset="-120"/>
              </a:rPr>
              <a:t>github.com/Iroh02/kore-agent-kit</a:t>
            </a:r>
            <a:endParaRPr lang="en-US" sz="1300" dirty="0"/>
          </a:p>
        </p:txBody>
      </p:sp>
      <p:sp>
        <p:nvSpPr>
          <p:cNvPr id="6" name="Text 4"/>
          <p:cNvSpPr txBox="1"/>
          <p:nvPr/>
        </p:nvSpPr>
        <p:spPr>
          <a:xfrm>
            <a:off x="548640" y="5074920"/>
            <a:ext cx="3566160" cy="64008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Public. DECISIONS.md has the why for every choice, D1 to D16.</a:t>
            </a:r>
            <a:endParaRPr lang="en-US" sz="1150" dirty="0"/>
          </a:p>
        </p:txBody>
      </p:sp>
      <p:sp>
        <p:nvSpPr>
          <p:cNvPr id="7" name="Text 5"/>
          <p:cNvSpPr txBox="1"/>
          <p:nvPr/>
        </p:nvSpPr>
        <p:spPr>
          <a:xfrm>
            <a:off x="4297680" y="4754880"/>
            <a:ext cx="3566160" cy="320040"/>
          </a:xfrm>
          <a:prstGeom prst="rect">
            <a:avLst/>
          </a:prstGeom>
          <a:noFill/>
          <a:ln/>
        </p:spPr>
        <p:txBody>
          <a:bodyPr wrap="square" lIns="0" tIns="0" rIns="0" bIns="0" rtlCol="0" anchor="t"/>
          <a:lstStyle/>
          <a:p>
            <a:pPr algn="l" indent="0" marL="0">
              <a:lnSpc>
                <a:spcPct val="110000"/>
              </a:lnSpc>
              <a:buNone/>
            </a:pPr>
            <a:r>
              <a:rPr lang="en-US" sz="1300" b="1" dirty="0">
                <a:solidFill>
                  <a:srgbClr val="E9A23B"/>
                </a:solidFill>
                <a:latin typeface="Calibri" pitchFamily="34" charset="0"/>
                <a:ea typeface="Calibri" pitchFamily="34" charset="-122"/>
                <a:cs typeface="Calibri" pitchFamily="34" charset="-120"/>
              </a:rPr>
              <a:t>/docs on the running server</a:t>
            </a:r>
            <a:endParaRPr lang="en-US" sz="1300" dirty="0"/>
          </a:p>
        </p:txBody>
      </p:sp>
      <p:sp>
        <p:nvSpPr>
          <p:cNvPr id="8" name="Text 6"/>
          <p:cNvSpPr txBox="1"/>
          <p:nvPr/>
        </p:nvSpPr>
        <p:spPr>
          <a:xfrm>
            <a:off x="4297680" y="5074920"/>
            <a:ext cx="3566160" cy="64008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Live OpenAPI page: the architecture artifact.</a:t>
            </a:r>
            <a:endParaRPr lang="en-US" sz="1150" dirty="0"/>
          </a:p>
        </p:txBody>
      </p:sp>
      <p:sp>
        <p:nvSpPr>
          <p:cNvPr id="9" name="Text 7"/>
          <p:cNvSpPr txBox="1"/>
          <p:nvPr/>
        </p:nvSpPr>
        <p:spPr>
          <a:xfrm>
            <a:off x="8046720" y="4754880"/>
            <a:ext cx="3566160" cy="320040"/>
          </a:xfrm>
          <a:prstGeom prst="rect">
            <a:avLst/>
          </a:prstGeom>
          <a:noFill/>
          <a:ln/>
        </p:spPr>
        <p:txBody>
          <a:bodyPr wrap="square" lIns="0" tIns="0" rIns="0" bIns="0" rtlCol="0" anchor="t"/>
          <a:lstStyle/>
          <a:p>
            <a:pPr algn="l" indent="0" marL="0">
              <a:lnSpc>
                <a:spcPct val="110000"/>
              </a:lnSpc>
              <a:buNone/>
            </a:pPr>
            <a:r>
              <a:rPr lang="en-US" sz="1300" b="1" dirty="0">
                <a:solidFill>
                  <a:srgbClr val="E9A23B"/>
                </a:solidFill>
                <a:latin typeface="Calibri" pitchFamily="34" charset="0"/>
                <a:ea typeface="Calibri" pitchFamily="34" charset="-122"/>
                <a:cs typeface="Calibri" pitchFamily="34" charset="-120"/>
              </a:rPr>
              <a:t>tests/evals.py · tests/demo_check.py</a:t>
            </a:r>
            <a:endParaRPr lang="en-US" sz="1300" dirty="0"/>
          </a:p>
        </p:txBody>
      </p:sp>
      <p:sp>
        <p:nvSpPr>
          <p:cNvPr id="10" name="Text 8"/>
          <p:cNvSpPr txBox="1"/>
          <p:nvPr/>
        </p:nvSpPr>
        <p:spPr>
          <a:xfrm>
            <a:off x="8046720" y="5074920"/>
            <a:ext cx="3566160" cy="640080"/>
          </a:xfrm>
          <a:prstGeom prst="rect">
            <a:avLst/>
          </a:prstGeom>
          <a:noFill/>
          <a:ln/>
        </p:spPr>
        <p:txBody>
          <a:bodyPr wrap="square" lIns="0" tIns="0" rIns="0" bIns="0" rtlCol="0" anchor="t"/>
          <a:lstStyle/>
          <a:p>
            <a:pPr algn="l" indent="0" marL="0">
              <a:lnSpc>
                <a:spcPct val="110000"/>
              </a:lnSpc>
              <a:buNone/>
            </a:pPr>
            <a:r>
              <a:rPr lang="en-US" sz="1150" dirty="0">
                <a:solidFill>
                  <a:srgbClr val="C9CED6"/>
                </a:solidFill>
                <a:latin typeface="Calibri" pitchFamily="34" charset="0"/>
                <a:ea typeface="Calibri" pitchFamily="34" charset="-122"/>
                <a:cs typeface="Calibri" pitchFamily="34" charset="-120"/>
              </a:rPr>
              <a:t>70/70 and 25/25. Re-runnable in front of you.</a:t>
            </a:r>
            <a:endParaRPr lang="en-US" sz="1150" dirty="0"/>
          </a:p>
        </p:txBody>
      </p:sp>
      <p:sp>
        <p:nvSpPr>
          <p:cNvPr id="11" name="Text 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93A3"/>
                </a:solidFill>
                <a:latin typeface="Calibri" pitchFamily="34" charset="0"/>
                <a:ea typeface="Calibri" pitchFamily="34" charset="-122"/>
                <a:cs typeface="Calibri" pitchFamily="34" charset="-120"/>
              </a:rPr>
              <a:t>Chat-to-Lead  ·  Intrakore AI Hackathon  ·  Use Case 01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Chat-to-Lead</dc:title>
  <dc:subject>PptxGenJS Presentation</dc:subject>
  <dc:creator>Nandita &amp; Vishal</dc:creator>
  <cp:lastModifiedBy>Nandita &amp; Vishal</cp:lastModifiedBy>
  <cp:revision>1</cp:revision>
  <dcterms:created xsi:type="dcterms:W3CDTF">2026-09-12T10:48:18Z</dcterms:created>
  <dcterms:modified xsi:type="dcterms:W3CDTF">2026-09-12T10:48:18Z</dcterms:modified>
</cp:coreProperties>
</file>