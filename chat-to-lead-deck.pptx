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F2937"/>
                </a:solidFill>
                <a:latin typeface="Calibri"/>
              </a:defRPr>
            </a:pPr>
            <a:r>
              <a:rPr sz="1100" b="0" i="0" u="none" strike="noStrike">
                <a:solidFill>
                  <a:srgbClr val="1F2937"/>
                </a:solidFill>
                <a:latin typeface="Calibri"/>
              </a:rPr>
              <a:t>Cost per action, USD (midpoint of measured range)</a:t>
            </a:r>
          </a:p>
        </c:rich>
      </c:tx>
      <c:layout/>
      <c:overlay val="0"/>
    </c:title>
    <c:autoTitleDeleted val="0"/>
    <c:plotArea>
      <c:layout/>
      <c:barChart>
        <c:barDir val="col"/>
        <c:grouping val="clustered"/>
        <c:varyColors val="0"/>
        <c:ser>
          <c:idx val="0"/>
          <c:order val="0"/>
          <c:tx>
            <c:strRef>
              <c:f>Sheet1!$B$1</c:f>
              <c:strCache>
                <c:ptCount val="1"/>
                <c:pt idx="0">
                  <c:v>Cost per action ($)</c:v>
                </c:pt>
              </c:strCache>
            </c:strRef>
          </c:tx>
          <c:spPr>
            <a:solidFill>
              <a:srgbClr val="E9A23B"/>
            </a:solidFill>
            <a:effectLst/>
          </c:spPr>
          <c:invertIfNegative val="0"/>
          <c:dLbls>
            <c:numFmt formatCode="$0.00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Sheet1!$A$2:$A$5</c:f>
              <c:multiLvlStrCache>
                <c:ptCount val="4"/>
                <c:lvl>
                  <c:pt idx="0">
                    <c:v>Contact</c:v>
                  </c:pt>
                  <c:pt idx="1">
                    <c:v>Free text</c:v>
                  </c:pt>
                  <c:pt idx="2">
                    <c:v>Voice note</c:v>
                  </c:pt>
                  <c:pt idx="3">
                    <c:v>Business card</c:v>
                  </c:pt>
                </c:lvl>
              </c:multiLvlStrCache>
            </c:multiLvlStrRef>
          </c:cat>
          <c:val>
            <c:numRef>
              <c:f>Sheet1!$B$2:$B$5</c:f>
              <c:numCache>
                <c:formatCode>General</c:formatCode>
                <c:ptCount val="4"/>
                <c:pt idx="0">
                  <c:v>0</c:v>
                </c:pt>
                <c:pt idx="1">
                  <c:v>0.0024</c:v>
                </c:pt>
                <c:pt idx="2">
                  <c:v>0.0034</c:v>
                </c:pt>
                <c:pt idx="3">
                  <c:v>0.01</c:v>
                </c:pt>
              </c:numCache>
            </c:numRef>
          </c:val>
        </c:ser>
        <c:dLbls>
          <c:numFmt formatCode="$0.00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0.012"/>
        </c:scaling>
        <c:delete val="0"/>
        <c:axPos val="l"/>
        <c:majorGridlines>
          <c:spPr>
            <a:ln w="6350" cap="flat">
              <a:solidFill>
                <a:srgbClr val="E9EBEF"/>
              </a:solidFill>
              <a:prstDash val="solid"/>
              <a:round/>
            </a:ln>
          </c:spPr>
        </c:majorGridlines>
        <c:numFmt formatCode="$0.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NANDITA opens. 0:00.</a:t>
            </a:r>
          </a:p>
          <a:p/>
          <a:p>
            <a:r>
              <a:t>"A salesperson meets a lead. The details are on a business card in their pocket, or in a voice note they recorded walking to the car. By the time anyone types that into a CRM - if anyone ever does - it's three days old and half of it is missing. That's the gap. Not lead generation. Lead CAPTURE."</a:t>
            </a:r>
          </a:p>
          <a:p/>
          <a:p>
            <a:r>
              <a:t>Numbers on this slide: 25/25 demo checks, 70/70 evals, $0.002 per typed lead.</a:t>
            </a:r>
          </a:p>
          <a:p/>
          <a:p>
            <a:r>
              <a:t>NEVER say "twenty-four defects" today. It is nineteen.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NANDITA, 0:30-2:00.</a:t>
            </a:r>
          </a:p>
          <a:p/>
          <a:p>
            <a:r>
              <a:t>"So we put it where they already are: a chat window."</a:t>
            </a:r>
          </a:p>
          <a:p/>
          <a:p>
            <a:r>
              <a:t>"They send whatever they have. Typed details. A photo of a card. A shared contact. A voice note walking out of the meeting."</a:t>
            </a:r>
          </a:p>
          <a:p/>
          <a:p>
            <a:r>
              <a:t>"The bot reads it, confirms back what it captured, and - this is the part that matters - ASKS WHEN IT ISN'T SURE, INSTEAD OF GUESSING."</a:t>
            </a:r>
          </a:p>
          <a:p/>
          <a:p>
            <a:r>
              <a:t>"Then they say when to follow up, in their own words. 'After two days.' 'Next week sometime.' And it schedules it, or it asks which day."</a:t>
            </a:r>
          </a:p>
          <a:p/>
          <a:p>
            <a:r>
              <a:t>Three things fall in the gap: the contact, the notes, the follow-up date. The bot sits where the conversation already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NANDITA, 1:15-2:00. Three design decisions you will watch happen.</a:t>
            </a:r>
          </a:p>
          <a:p/>
          <a:p>
            <a:r>
              <a:t>"It NEVER INVENTS A VALUE. A missing company comes back as a question, not a plausible guess from the email domain."</a:t>
            </a:r>
          </a:p>
          <a:p/>
          <a:p>
            <a:r>
              <a:t>"It NEVER SILENTLY GUESSES A DATE. Vague timing gets a question back."</a:t>
            </a:r>
          </a:p>
          <a:p/>
          <a:p>
            <a:r>
              <a:t>"EVERY SINGLE ACTION IS PRICED AND TIMED - real money, real usage, per component. That panel on the right is live the whole way through."</a:t>
            </a:r>
          </a:p>
          <a:p/>
          <a:p>
            <a:r>
              <a:t>Point at the contact column: $0.000, no model at all. Point at the OUT row: a missing field is null and the bot asks. That sentence is the whole design.</a:t>
            </a:r>
          </a:p>
          <a:p/>
          <a:p>
            <a:r>
              <a:t>HAND OVER: "Vishal's going to run it live. I'll call the numbers as they land."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7 minutes. V drives, N narrates the numbers. One sentence, then stop.</a:t>
            </a:r>
          </a:p>
          <a:p/>
          <a:p>
            <a:r>
              <a:t>BEFORE THIS SLIDE: send.py reset, reload dashboard, WARM THE CACHE (one typed lead + one card ~60s earlier, then reset again). Web Chat left third, dashboard right two-thirds, browser at 125%.</a:t>
            </a:r>
          </a:p>
          <a:p/>
          <a:p>
            <a:r>
              <a:t>1. TYPED LEAD - use THIS version so project and budget land:</a:t>
            </a:r>
          </a:p>
          <a:p>
            <a:r>
              <a:t>"New lead - Fatima Al Mansoori at Skyline Fitout, mobile 971 50 332 8890, email f.mansoori@skylinefitout.ae. 40-unit villa project, budget 3.2m AED."</a:t>
            </a:r>
          </a:p>
          <a:p>
            <a:r>
              <a:t>N: "Two-tenths of a cent. Two and a half seconds. Bottom of the card."</a:t>
            </a:r>
          </a:p>
          <a:p/>
          <a:p>
            <a:r>
              <a:t>2. Tap Add note, then: "Met Fatima on site. She wants a revised proposal. Follow up in 2 minutes."</a:t>
            </a:r>
          </a:p>
          <a:p>
            <a:r>
              <a:t>V: "Two minutes is so it fires while we're still standing here."</a:t>
            </a:r>
          </a:p>
          <a:p/>
          <a:p>
            <a:r>
              <a:t>3. KEY BEAT - card with no company (04_no_company.png). Say nothing while it uploads.</a:t>
            </a:r>
          </a:p>
          <a:p>
            <a:r>
              <a:t>V: "Her email is outlook.com. A system that wanted to look clever would infer the company from the domain. It asked instead." PAUSE. Then type: Delta Steel</a:t>
            </a:r>
          </a:p>
          <a:p>
            <a:r>
              <a:t>N: "That question cost nothing. The extraction is parked, not re-run - refusing to guess is cheaper than guessing wrong."</a:t>
            </a:r>
          </a:p>
          <a:p/>
          <a:p>
            <a:r>
              <a:t>4. PHOTO CARD (05_photo_dark.jpg). N: "About two cents, roughly five seconds. That's the vision call - the single most expensive thing we do, which is exactly why we price per component."</a:t>
            </a:r>
          </a:p>
          <a:p/>
          <a:p>
            <a:r>
              <a:t>5. DUPLICATE: "Lead: Fatima Al Mansoori, Skyline Fitout, f.mansoori@skylinefitout.ae"</a:t>
            </a:r>
          </a:p>
          <a:p>
            <a:r>
              <a:t>V: "It tells you which field matched. It doesn't merge anything behind your back."</a:t>
            </a:r>
          </a:p>
          <a:p/>
          <a:p>
            <a:r>
              <a:t>6. KEY BEAT - Add note on Skyline, then: "Good call with Fatima, she likes the pricing. Follow up next week sometime."</a:t>
            </a:r>
          </a:p>
          <a:p>
            <a:r>
              <a:t>V: "It could have picked Monday and been right most of the time. Most of the time isn't good enough for something that books your calendar." Then: Monday</a:t>
            </a:r>
          </a:p>
          <a:p>
            <a:r>
              <a:t>N: "The date was resolved by a regex, not by the model. A regex cannot hallucinate a Tuesday."</a:t>
            </a:r>
          </a:p>
          <a:p/>
          <a:p>
            <a:r>
              <a:t>7. THE REMINDER FIRES. SAY NOTHING. Let it arrive. DO NOT TYPE A REPLY.</a:t>
            </a:r>
          </a:p>
          <a:p/>
          <a:p>
            <a:r>
              <a:t>8. VOICE NOTE: send.py note &lt;lead_id&gt;, then send.py voice &lt;file&gt;. If Deepgram mishears: "That's the raw transcript, unedited, stored next to the summary - which is exactly why we keep the original."</a:t>
            </a:r>
          </a:p>
          <a:p/>
          <a:p>
            <a:r>
              <a:t>9. EDIT then DELETE from the card. N: "Zero, about a millisecond. No model in that path at all."</a:t>
            </a:r>
          </a:p>
          <a:p/>
          <a:p>
            <a:r>
              <a:t>10. ECONOMICS PANEL, then /docs GET /api/leads - show project_name and estimated_value.</a:t>
            </a:r>
          </a:p>
          <a:p/>
          <a:p>
            <a:r>
              <a:t>IF ANYTHING STICKS: type "cancel". Free, instant, says what it dropped.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NANDITA, ~40 seconds. Every number from response.usage times the published rate.</a:t>
            </a:r>
          </a:p>
          <a:p/>
          <a:p>
            <a:r>
              <a:t>THE SHARED CONTACT IS YOUR STRONGEST NUMBER: "Zero. Not rounded - zero. No model was called at all. A vCard is already structured, so we parse it. One millisecond." Land it and stop.</a:t>
            </a:r>
          </a:p>
          <a:p/>
          <a:p>
            <a:r>
              <a:t>The card costs 5x the text because it is Opus at full effort, deliberately.</a:t>
            </a:r>
          </a:p>
          <a:p/>
          <a:p>
            <a:r>
              <a:t>COLD CACHE RECOVERY - if the first typed lead reads ~$0.0056 instead of $0.002:</a:t>
            </a:r>
          </a:p>
          <a:p>
            <a:r>
              <a:t>"That's the first call of the session paying to write the prompt cache - fifteen hundred tokens of schema. Every call after it reads that at a tenth of the price. Watch the next one drop."</a:t>
            </a:r>
          </a:p>
          <a:p/>
          <a:p>
            <a:r>
              <a:t>The FIRST card of the session is $0.021, not $0.011. Say "about two cents", never "one cent".</a:t>
            </a:r>
          </a:p>
          <a:p/>
          <a:p>
            <a:r>
              <a:t>AT SCALE, if pressed on the mix: honest range at 10,000/day is about $22 if every lead is typed and about $110 if every one is a photographed card. DO NOT INVENT A BLEND. "The reason I can give you a range rather than one number is that we price per component."</a:t>
            </a:r>
          </a:p>
          <a:p/>
          <a:p>
            <a:r>
              <a:t>Quote the MODEL-CALLS-ONLY latency figure from the dashboard, not the all-activities one.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NANDITA, ~1:20. This is an argument, not a tour. Do not list files.</a:t>
            </a:r>
          </a:p>
          <a:p/>
          <a:p>
            <a:r>
              <a:t>"It's a FIXED PIPELINE, NOT AN AGENT. We know what comes in and what has to come out, so the steps are code. The model does one job at one station: reading fields out of text, a photo or a transcript."</a:t>
            </a:r>
          </a:p>
          <a:p/>
          <a:p>
            <a:r>
              <a:t>"That's why we can tell you it costs two-tenths of a cent and takes two and a half seconds. An agent picks its own number of calls, and then you can't quote a number at all."</a:t>
            </a:r>
          </a:p>
          <a:p/>
          <a:p>
            <a:r>
              <a:t>"The model FILLS A FORM. It never writes prose we then parse. Output is schema-validated; invalid output retries once with the error fed back, then abstains and asks."</a:t>
            </a:r>
          </a:p>
          <a:p/>
          <a:p>
            <a:r>
              <a:t>DO NOT SAY "we use tool-calling for CRUD" - it is not built. Say this instead:</a:t>
            </a:r>
          </a:p>
          <a:p/>
          <a:p>
            <a:r>
              <a:t>"There is one surface that would genuinely earn an agent, and it's free-text CRUD - 'change the mobile on the Acme lead.' Which record, which field, which operation genuinely can't be enumerated at design time. That's our test for when an agent is justified, and it's the first thing we'd build next. Today CRUD runs off card buttons, which are deterministic - and that's what you just watched."</a:t>
            </a:r>
          </a:p>
          <a:p/>
          <a:p>
            <a:r>
              <a:t>"The model lives in two files. Swapping vendors is a file change, not an architecture change."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VISHAL, 1:20-2:30.</a:t>
            </a:r>
          </a:p>
          <a:p/>
          <a:p>
            <a:r>
              <a:t>"My half is transport. Bytes in and out of the chat, and a card back."</a:t>
            </a:r>
          </a:p>
          <a:p/>
          <a:p>
            <a:r>
              <a:t>"No Microsoft SDK. The Bot Framework is JSON over HTTPS - about a hundred and thirty lines we wrote ourselves. Get a token, post an activity, download an attachment."</a:t>
            </a:r>
          </a:p>
          <a:p/>
          <a:p>
            <a:r>
              <a:t>"Everything downstream speaks a plain Python object. The chat app is an adapter, not the architecture - which is why the pipeline was built and tested all day without the channel being up."</a:t>
            </a:r>
          </a:p>
          <a:p/>
          <a:p>
            <a:r>
              <a:t>WAR STORY - 40 seconds, keep it fast:</a:t>
            </a:r>
          </a:p>
          <a:p/>
          <a:p>
            <a:r>
              <a:t>"Two bugs ate our morning, and they're the real cost of a new channel."</a:t>
            </a:r>
          </a:p>
          <a:p/>
          <a:p>
            <a:r>
              <a:t>"The bot couldn't get a security pass at all - 'application not found in directory.' Our bot is registered to OUR directory; we were asking Microsoft's. Wrong front desk. One word in one URL."</a:t>
            </a:r>
          </a:p>
          <a:p/>
          <a:p>
            <a:r>
              <a:t>"Then it could read every message perfectly and couldn't reply. Every reply rejected - missing property. A reply has to say who it's FROM, and the sender is sitting on the incoming message: the bot is who the message was addressed to. Swap two fields, send it back."</a:t>
            </a:r>
          </a:p>
          <a:p/>
          <a:p>
            <a:r>
              <a:t>"Neither is in a tutorial. That's why we proved the channel before writing a line of AI code."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VISHAL, 1 minute. Say these BEFORE anyone asks. It reads as judgement, not gaps.</a:t>
            </a:r>
          </a:p>
          <a:p/>
          <a:p>
            <a:r>
              <a:t>"THE DATASTORE IS OURS, NOT INTRAKORE'S CRM. No sandbox, no credentials. The brief allows a working data store, and this is one. Production needs field mapping, auth and token refresh, idempotency keys, rate limits, an error taxonomy and a retry queue. We can name all six because we know exactly where the boundary is."</a:t>
            </a:r>
          </a:p>
          <a:p/>
          <a:p>
            <a:r>
              <a:t>"WE'RE IN MICROSOFT'S WEB CHAT, NOT THE TEAMS CLIENT. Installing a custom app needs a tenant with upload enabled. Same bot registration, same protocol, same card renderer. What we lose is Teams-native file attachments, built to the documented contract but unverified on a live tenant."</a:t>
            </a:r>
          </a:p>
          <a:p/>
          <a:p>
            <a:r>
              <a:t>"NO AUTH ON THE WEBHOOK, NO RATE LIMITING. Deliberate one-day cuts."</a:t>
            </a:r>
          </a:p>
          <a:p/>
          <a:p>
            <a:r>
              <a:t>"THE FOLLOW-UP REMINDER IS ONE-WAY. Closing it from the chat needs a state machine on the follow-up, not a keyword. Day two." </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NANDITA or VISHAL, 30 seconds, then Q&amp;A.</a:t>
            </a:r>
          </a:p>
          <a:p/>
          <a:p>
            <a:r>
              <a:t>"Claude runs natively on Amazon Bedrock, and you're on AWS - verified by DNS: your app, portal, login and api subdomains resolve to EC2 in us-east-1. Same model, same code, inside your own account and data boundary. Pointing our two model files at Bedrock is a client change, not a rewrite."</a:t>
            </a:r>
          </a:p>
          <a:p/>
          <a:p>
            <a:r>
              <a:t>DO NOT SAY "SAME PRICE". AWS sets Bedrock pricing: same range, not identical. "I'd quote you Bedrock pricing rather than assume it."</a:t>
            </a:r>
          </a:p>
          <a:p/>
          <a:p>
            <a:r>
              <a:t>"Gemini 2.5 Flash is four to six times cheaper per text lead on our token counts and takes audio natively - which would remove our speech vendor entirely. That's our first week-two experiment, decided by the eval set, not by a slide. The one thing that counts against it for your stack is that it has no Bedrock path."</a:t>
            </a:r>
          </a:p>
          <a:p/>
          <a:p>
            <a:r>
              <a:t>CLOSE WITH THE ASK, not a thank-you:</a:t>
            </a:r>
          </a:p>
          <a:p>
            <a:r>
              <a:t>"Enable custom app upload for one pilot team and this is inside Teams the same day."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5 minutes.</a:t>
            </a:r>
          </a:p>
          <a:p/>
          <a:p>
            <a:r>
              <a:t>"IS THIS JUST CHATGPT IN A WRAPPER?" - "No. The flow is deterministic code. The model does one job - reading fields - and its output is schema-validated, so a bad read is a caught error, not a wrong record. That's also why we can quote you a fixed cost per lead instead of a range."</a:t>
            </a:r>
          </a:p>
          <a:p/>
          <a:p>
            <a:r>
              <a:t>"WHERE DOES OUR DATA GO?" - "Names, phones, emails and voice go to Anthropic and Deepgram today. No DPA, no redaction - that's on the risks slide because it's the first question your legal team asks. The answer for you specifically is Bedrock, in your own AWS account."</a:t>
            </a:r>
          </a:p>
          <a:p/>
          <a:p>
            <a:r>
              <a:t>"CONCURRENCY? TWENTY SALESPEOPLE AT ONCE?" - "One worker, and extraction runs synchronously. For today that's a feature - it's why the latency numbers are clean and uncontended. For production it's a queue plus load testing we haven't done. I know the shape of the fix; I won't quote you a throughput number."</a:t>
            </a:r>
          </a:p>
          <a:p/>
          <a:p>
            <a:r>
              <a:t>"YOUR DEDUPE ONLY CHECKS EMAIL AND MOBILE." - "Exact match on normalised email, then mobile, last nine digits, so every GCC format collides the way you'd want. Fuzzy company matching was on the design list and didn't get built - I'd rather tell you that than describe it as if it ran."</a:t>
            </a:r>
          </a:p>
          <a:p/>
          <a:p>
            <a:r>
              <a:t>"PROMPT INJECTION IN A BUSINESS CARD?" - "Not hardened, and the blast radius is deliberately small. The model has no tools and can't act - it fills a fixed form and hands it back to code. Worst case is a bad field value on a card a human is already reading."</a:t>
            </a:r>
          </a:p>
          <a:p/>
          <a:p>
            <a:r>
              <a:t>"CAN YOU MAKE IT CHEAPER?" - Gemini Flash, 4-6x, week two, decided by the evals.</a:t>
            </a:r>
          </a:p>
          <a:p/>
          <a:p>
            <a:r>
              <a:t>APPENDIX SLIDES 11-13 ARE BEHIND THIS ONE, not presented:</a:t>
            </a:r>
          </a:p>
          <a:p>
            <a:r>
              <a:t>  11 - the six rules (use for "does it hallucinate?")</a:t>
            </a:r>
          </a:p>
          <a:p>
            <a:r>
              <a:t>  12 - tuning and confidence calibration (use for "how accurate is it?")</a:t>
            </a:r>
          </a:p>
          <a:p>
            <a:r>
              <a:t>  13 - the bug list (use for "how do you know it's reliable?")</a:t>
            </a:r>
          </a:p>
          <a:p/>
          <a:p>
            <a:r>
              <a:t>IF SOMETHING BREAKS: have Vishal type "cancel". Clears any pending state, costs nothing, says what it dropped.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NOT PRESENTED. Pull this up in Q&amp;A if asked.</a:t>
            </a:r>
          </a:p>
          <a:p/>
          <a:p>
            <a:r>
              <a:t>NANDITA, inside the architecture slot.</a:t>
            </a:r>
          </a:p>
          <a:p/>
          <a:p>
            <a:r>
              <a:t>Rule 1 is the single most important line in the repo. Rules 1 and 2 are what the demo shows. Demoing the system REFUSING to guess is worth more than demoing it guessing right.</a:t>
            </a:r>
          </a:p>
          <a:p/>
          <a:p>
            <a:r>
              <a:t>If asked "does it hallucinate?":</a:t>
            </a:r>
          </a:p>
          <a:p/>
          <a:p>
            <a:r>
              <a:t>"The failure mode we designed against is inventing a field, and the defence is structural, not a prompt instruction. Every field in the schema is Optional, so a missing value comes back as null, and null becomes a question. The eval case that proves it is a contact whose only company evidence is an outlook.com address - the clever-looking answer is 'Outlook' and the correct answer is to ask."</a:t>
            </a:r>
          </a:p>
          <a:p/>
          <a:p>
            <a:r>
              <a:t>"Where it CAN still go wrong is inside a field it did extract - a digit off a blurry card. That's why every value goes back on a confirmation card a human reads, and why low confidence writes the record as NEEDS_REVIEW instead of NEW."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NOT PRESENTED. Pull this up in Q&amp;A if asked.</a:t>
            </a:r>
          </a:p>
          <a:p/>
          <a:p>
            <a:r>
              <a:t>NANDITA, inside the economics slot.</a:t>
            </a:r>
          </a:p>
          <a:p/>
          <a:p>
            <a:r>
              <a:t>"The text path went from just under five seconds and a cent, to about two-point-four seconds and three-tenths of a cent, by moving to Sonnet 5 at low effort - because output tokens ARE the latency. Vision stayed on Opus at full effort deliberately: a photographed card is the genuinely hard input."</a:t>
            </a:r>
          </a:p>
          <a:p/>
          <a:p>
            <a:r>
              <a:t>"Haiku 4.5 was rejected outright - the API four-hundreds on the effort parameter, so we have no measurement for it. Three configurations produced numbers, not four."</a:t>
            </a:r>
          </a:p>
          <a:p/>
          <a:p>
            <a:r>
              <a:t>70/70 = 14 labelled cases x 5 fields. IT IS A REGRESSION HARNESS, NOT A BENCHMARK. If pressed:</a:t>
            </a:r>
          </a:p>
          <a:p>
            <a:r>
              <a:t>"Fourteen cases we wrote is enough to catch a regression and nowhere near enough to quote an accuracy rate to a customer. Week one of production is a hundred labelled cases from your actual salespeople, run three times, with the variance reported."</a:t>
            </a:r>
          </a:p>
          <a:p/>
          <a:p>
            <a:r>
              <a:t>CONFIDENCE IS A SELF-REPORT, not calibrated - messy text scores higher than clean. Say so if challenged: "It's a triage signal. Below 0.6 the record is written for review and the bot names which fields it was unsure about."</a:t>
            </a:r>
          </a:p>
          <a:p/>
          <a:p>
            <a:r>
              <a:t>25/25 IS THE PIPELINE. It does not cover the channel. Never let it imply otherwise.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APPENDIX - NOT PRESENTED. Pull this up in Q&amp;A if asked.</a:t>
            </a:r>
          </a:p>
          <a:p/>
          <a:p>
            <a:r>
              <a:t>EITHER, 30 seconds. Skip if over time.</a:t>
            </a:r>
          </a:p>
          <a:p/>
          <a:p>
            <a:r>
              <a:t>SAY, WORD FOR WORD: "Nineteen. The slide shows twelve - we found seven more after we built the deck."</a:t>
            </a:r>
          </a:p>
          <a:p/>
          <a:p>
            <a:r>
              <a:t>NEVER SAY TWENTY-FOUR. Six of the nineteen were the channel.</a:t>
            </a:r>
          </a:p>
          <a:p/>
          <a:p>
            <a:r>
              <a:t>The one to name is number 5: "Every image and audio file through the API was corrupt, and the vCard path passing by accident hid it from us for hours."</a:t>
            </a:r>
          </a:p>
          <a:p/>
          <a:p>
            <a:r>
              <a:t>THE METHOD IS THE POINT: "We stopped adding features at two o'clock and spent three hours running the demo against ourselves. Nearly every one of these came from that - including one that would have frozen the whole process for thirty minutes on a bad network."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548640" y="1097280"/>
            <a:ext cx="7315200" cy="274320"/>
          </a:xfrm>
          <a:prstGeom prst="rect">
            <a:avLst/>
          </a:prstGeom>
          <a:noFill/>
          <a:ln/>
        </p:spPr>
        <p:txBody>
          <a:bodyPr wrap="square" lIns="0" tIns="0" rIns="0" bIns="0" rtlCol="0" anchor="ctr"/>
          <a:lstStyle/>
          <a:p>
            <a:pPr indent="0" marL="0">
              <a:buNone/>
            </a:pPr>
            <a:r>
              <a:rPr lang="en-US" sz="1100" b="1" spc="200" kern="0" dirty="0">
                <a:solidFill>
                  <a:srgbClr val="E9A23B"/>
                </a:solidFill>
                <a:latin typeface="Calibri" pitchFamily="34" charset="0"/>
                <a:ea typeface="Calibri" pitchFamily="34" charset="-122"/>
                <a:cs typeface="Calibri" pitchFamily="34" charset="-120"/>
              </a:rPr>
              <a:t>INTRAKORE AI HACKATHON  ·  USE CASE 01</a:t>
            </a:r>
            <a:endParaRPr lang="en-US" sz="1100" dirty="0"/>
          </a:p>
        </p:txBody>
      </p:sp>
      <p:sp>
        <p:nvSpPr>
          <p:cNvPr id="3" name="Text 1"/>
          <p:cNvSpPr txBox="1"/>
          <p:nvPr/>
        </p:nvSpPr>
        <p:spPr>
          <a:xfrm>
            <a:off x="548640" y="1463040"/>
            <a:ext cx="8229600" cy="1371600"/>
          </a:xfrm>
          <a:prstGeom prst="rect">
            <a:avLst/>
          </a:prstGeom>
          <a:noFill/>
          <a:ln/>
        </p:spPr>
        <p:txBody>
          <a:bodyPr wrap="square" lIns="0" tIns="0" rIns="0" bIns="0" rtlCol="0" anchor="ctr"/>
          <a:lstStyle/>
          <a:p>
            <a:pPr indent="0" marL="0">
              <a:buNone/>
            </a:pPr>
            <a:r>
              <a:rPr lang="en-US" sz="6600" b="1" dirty="0">
                <a:solidFill>
                  <a:srgbClr val="FFFFFF"/>
                </a:solidFill>
                <a:latin typeface="Calibri" pitchFamily="34" charset="0"/>
                <a:ea typeface="Calibri" pitchFamily="34" charset="-122"/>
                <a:cs typeface="Calibri" pitchFamily="34" charset="-120"/>
              </a:rPr>
              <a:t>Chat-to-Lead</a:t>
            </a:r>
            <a:endParaRPr lang="en-US" sz="6600" dirty="0"/>
          </a:p>
        </p:txBody>
      </p:sp>
      <p:sp>
        <p:nvSpPr>
          <p:cNvPr id="4" name="Text 2"/>
          <p:cNvSpPr txBox="1"/>
          <p:nvPr/>
        </p:nvSpPr>
        <p:spPr>
          <a:xfrm>
            <a:off x="548640" y="2880360"/>
            <a:ext cx="8686800" cy="1097280"/>
          </a:xfrm>
          <a:prstGeom prst="rect">
            <a:avLst/>
          </a:prstGeom>
          <a:noFill/>
          <a:ln/>
        </p:spPr>
        <p:txBody>
          <a:bodyPr wrap="square" lIns="0" tIns="0" rIns="0" bIns="0" rtlCol="0" anchor="ctr"/>
          <a:lstStyle/>
          <a:p>
            <a:pPr indent="0" marL="0">
              <a:buNone/>
            </a:pPr>
            <a:r>
              <a:rPr lang="en-US" sz="1800" dirty="0">
                <a:solidFill>
                  <a:srgbClr val="C9CED6"/>
                </a:solidFill>
                <a:latin typeface="Calibri" pitchFamily="34" charset="0"/>
                <a:ea typeface="Calibri" pitchFamily="34" charset="-122"/>
                <a:cs typeface="Calibri" pitchFamily="34" charset="-120"/>
              </a:rPr>
              <a:t>Lead capture and follow-up from a Microsoft Teams conversation.</a:t>
            </a:r>
            <a:endParaRPr lang="en-US" sz="1800" dirty="0"/>
          </a:p>
          <a:p>
            <a:pPr indent="0" marL="0">
              <a:buNone/>
            </a:pPr>
            <a:r>
              <a:rPr lang="en-US" sz="1800" dirty="0">
                <a:solidFill>
                  <a:srgbClr val="C9CED6"/>
                </a:solidFill>
                <a:latin typeface="Calibri" pitchFamily="34" charset="0"/>
                <a:ea typeface="Calibri" pitchFamily="34" charset="-122"/>
                <a:cs typeface="Calibri" pitchFamily="34" charset="-120"/>
              </a:rPr>
              <a:t>Text, a shared contact, a business-card photo, or a voice note in. A priced, timed lead record out.</a:t>
            </a:r>
            <a:endParaRPr lang="en-US" sz="1800" dirty="0"/>
          </a:p>
        </p:txBody>
      </p:sp>
      <p:sp>
        <p:nvSpPr>
          <p:cNvPr id="5" name="Text 3"/>
          <p:cNvSpPr txBox="1"/>
          <p:nvPr/>
        </p:nvSpPr>
        <p:spPr>
          <a:xfrm>
            <a:off x="548640" y="4572000"/>
            <a:ext cx="3108960" cy="822960"/>
          </a:xfrm>
          <a:prstGeom prst="rect">
            <a:avLst/>
          </a:prstGeom>
          <a:noFill/>
          <a:ln/>
        </p:spPr>
        <p:txBody>
          <a:bodyPr wrap="square" lIns="0" tIns="0" rIns="0" bIns="0" rtlCol="0" anchor="b"/>
          <a:lstStyle/>
          <a:p>
            <a:pPr algn="l" indent="0" marL="0">
              <a:buNone/>
            </a:pPr>
            <a:r>
              <a:rPr lang="en-US" sz="3600" b="1" dirty="0">
                <a:solidFill>
                  <a:srgbClr val="E9A23B"/>
                </a:solidFill>
                <a:latin typeface="Calibri" pitchFamily="34" charset="0"/>
                <a:ea typeface="Calibri" pitchFamily="34" charset="-122"/>
                <a:cs typeface="Calibri" pitchFamily="34" charset="-120"/>
              </a:rPr>
              <a:t>25/25</a:t>
            </a:r>
            <a:endParaRPr lang="en-US" sz="3600" dirty="0"/>
          </a:p>
        </p:txBody>
      </p:sp>
      <p:sp>
        <p:nvSpPr>
          <p:cNvPr id="6" name="Text 4"/>
          <p:cNvSpPr txBox="1"/>
          <p:nvPr/>
        </p:nvSpPr>
        <p:spPr>
          <a:xfrm>
            <a:off x="548640" y="5440680"/>
            <a:ext cx="310896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demo checks, real Claude + real Deepgram</a:t>
            </a:r>
            <a:endParaRPr lang="en-US" sz="1200" dirty="0"/>
          </a:p>
        </p:txBody>
      </p:sp>
      <p:sp>
        <p:nvSpPr>
          <p:cNvPr id="7" name="Text 5"/>
          <p:cNvSpPr txBox="1"/>
          <p:nvPr/>
        </p:nvSpPr>
        <p:spPr>
          <a:xfrm>
            <a:off x="3840480" y="4572000"/>
            <a:ext cx="3291840" cy="822960"/>
          </a:xfrm>
          <a:prstGeom prst="rect">
            <a:avLst/>
          </a:prstGeom>
          <a:noFill/>
          <a:ln/>
        </p:spPr>
        <p:txBody>
          <a:bodyPr wrap="square" lIns="0" tIns="0" rIns="0" bIns="0" rtlCol="0" anchor="b"/>
          <a:lstStyle/>
          <a:p>
            <a:pPr algn="l" indent="0" marL="0">
              <a:buNone/>
            </a:pPr>
            <a:r>
              <a:rPr lang="en-US" sz="3600" b="1" dirty="0">
                <a:solidFill>
                  <a:srgbClr val="E9A23B"/>
                </a:solidFill>
                <a:latin typeface="Calibri" pitchFamily="34" charset="0"/>
                <a:ea typeface="Calibri" pitchFamily="34" charset="-122"/>
                <a:cs typeface="Calibri" pitchFamily="34" charset="-120"/>
              </a:rPr>
              <a:t>70/70</a:t>
            </a:r>
            <a:endParaRPr lang="en-US" sz="3600" dirty="0"/>
          </a:p>
        </p:txBody>
      </p:sp>
      <p:sp>
        <p:nvSpPr>
          <p:cNvPr id="8" name="Text 6"/>
          <p:cNvSpPr txBox="1"/>
          <p:nvPr/>
        </p:nvSpPr>
        <p:spPr>
          <a:xfrm>
            <a:off x="3840480" y="5440680"/>
            <a:ext cx="329184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extraction evals, 14 labelled cases, 5 fields</a:t>
            </a:r>
            <a:endParaRPr lang="en-US" sz="1200" dirty="0"/>
          </a:p>
        </p:txBody>
      </p:sp>
      <p:sp>
        <p:nvSpPr>
          <p:cNvPr id="9" name="Text 7"/>
          <p:cNvSpPr txBox="1"/>
          <p:nvPr/>
        </p:nvSpPr>
        <p:spPr>
          <a:xfrm>
            <a:off x="7315200" y="4572000"/>
            <a:ext cx="3291840" cy="822960"/>
          </a:xfrm>
          <a:prstGeom prst="rect">
            <a:avLst/>
          </a:prstGeom>
          <a:noFill/>
          <a:ln/>
        </p:spPr>
        <p:txBody>
          <a:bodyPr wrap="square" lIns="0" tIns="0" rIns="0" bIns="0" rtlCol="0" anchor="b"/>
          <a:lstStyle/>
          <a:p>
            <a:pPr algn="l" indent="0" marL="0">
              <a:buNone/>
            </a:pPr>
            <a:r>
              <a:rPr lang="en-US" sz="3600" b="1" dirty="0">
                <a:solidFill>
                  <a:srgbClr val="E9A23B"/>
                </a:solidFill>
                <a:latin typeface="Calibri" pitchFamily="34" charset="0"/>
                <a:ea typeface="Calibri" pitchFamily="34" charset="-122"/>
                <a:cs typeface="Calibri" pitchFamily="34" charset="-120"/>
              </a:rPr>
              <a:t>$0.002</a:t>
            </a:r>
            <a:endParaRPr lang="en-US" sz="3600" dirty="0"/>
          </a:p>
        </p:txBody>
      </p:sp>
      <p:sp>
        <p:nvSpPr>
          <p:cNvPr id="10" name="Text 8"/>
          <p:cNvSpPr txBox="1"/>
          <p:nvPr/>
        </p:nvSpPr>
        <p:spPr>
          <a:xfrm>
            <a:off x="7315200" y="5440680"/>
            <a:ext cx="329184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per free-text lead, measured from usage</a:t>
            </a:r>
            <a:endParaRPr lang="en-US" sz="1200" dirty="0"/>
          </a:p>
        </p:txBody>
      </p:sp>
      <p:sp>
        <p:nvSpPr>
          <p:cNvPr id="11" name="Text 9"/>
          <p:cNvSpPr txBox="1"/>
          <p:nvPr/>
        </p:nvSpPr>
        <p:spPr>
          <a:xfrm>
            <a:off x="7982712" y="6080760"/>
            <a:ext cx="3657600" cy="365760"/>
          </a:xfrm>
          <a:prstGeom prst="rect">
            <a:avLst/>
          </a:prstGeom>
          <a:noFill/>
          <a:ln/>
        </p:spPr>
        <p:txBody>
          <a:bodyPr wrap="square" lIns="0" tIns="0" rIns="0" bIns="0" rtlCol="0" anchor="ctr"/>
          <a:lstStyle/>
          <a:p>
            <a:pPr algn="r" indent="0" marL="0">
              <a:buNone/>
            </a:pPr>
            <a:r>
              <a:rPr lang="en-US" sz="1400" dirty="0">
                <a:solidFill>
                  <a:srgbClr val="C9CED6"/>
                </a:solidFill>
                <a:latin typeface="Calibri" pitchFamily="34" charset="0"/>
                <a:ea typeface="Calibri" pitchFamily="34" charset="-122"/>
                <a:cs typeface="Calibri" pitchFamily="34" charset="-120"/>
              </a:rPr>
              <a:t>Nandita  ·  Vishal</a:t>
            </a:r>
            <a:endParaRPr lang="en-US" sz="1400" dirty="0"/>
          </a:p>
        </p:txBody>
      </p:sp>
      <p:sp>
        <p:nvSpPr>
          <p:cNvPr id="12" name="Text 10"/>
          <p:cNvSpPr txBox="1"/>
          <p:nvPr/>
        </p:nvSpPr>
        <p:spPr>
          <a:xfrm>
            <a:off x="7982712" y="6400800"/>
            <a:ext cx="3657600" cy="274320"/>
          </a:xfrm>
          <a:prstGeom prst="rect">
            <a:avLst/>
          </a:prstGeom>
          <a:noFill/>
          <a:ln/>
        </p:spPr>
        <p:txBody>
          <a:bodyPr wrap="square" lIns="0" tIns="0" rIns="0" bIns="0" rtlCol="0" anchor="ctr"/>
          <a:lstStyle/>
          <a:p>
            <a:pPr algn="r" indent="0" marL="0">
              <a:buNone/>
            </a:pPr>
            <a:r>
              <a:rPr lang="en-US" sz="1100" dirty="0">
                <a:solidFill>
                  <a:srgbClr val="8A93A3"/>
                </a:solidFill>
                <a:latin typeface="Calibri" pitchFamily="34" charset="0"/>
                <a:ea typeface="Calibri" pitchFamily="34" charset="-122"/>
                <a:cs typeface="Calibri" pitchFamily="34" charset="-120"/>
              </a:rPr>
              <a:t>12 September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USER FLOW  ·  2 MIN</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The lead that never reaches the CRM</a:t>
            </a:r>
            <a:endParaRPr lang="en-US" sz="3400" dirty="0"/>
          </a:p>
        </p:txBody>
      </p:sp>
      <p:sp>
        <p:nvSpPr>
          <p:cNvPr id="4" name="Text 2"/>
          <p:cNvSpPr txBox="1"/>
          <p:nvPr/>
        </p:nvSpPr>
        <p:spPr>
          <a:xfrm>
            <a:off x="548640" y="1691640"/>
            <a:ext cx="5120640" cy="1188720"/>
          </a:xfrm>
          <a:prstGeom prst="rect">
            <a:avLst/>
          </a:prstGeom>
          <a:noFill/>
          <a:ln/>
        </p:spPr>
        <p:txBody>
          <a:bodyPr wrap="square" lIns="0" tIns="0" rIns="0" bIns="0" rtlCol="0" anchor="t"/>
          <a:lstStyle/>
          <a:p>
            <a:pPr algn="l" indent="0" marL="0">
              <a:lnSpc>
                <a:spcPct val="110000"/>
              </a:lnSpc>
              <a:buNone/>
            </a:pPr>
            <a:r>
              <a:rPr lang="en-US" sz="1600" dirty="0">
                <a:solidFill>
                  <a:srgbClr val="1F2937"/>
                </a:solidFill>
                <a:latin typeface="Calibri" pitchFamily="34" charset="0"/>
                <a:ea typeface="Calibri" pitchFamily="34" charset="-122"/>
                <a:cs typeface="Calibri" pitchFamily="34" charset="-120"/>
              </a:rPr>
              <a:t>A salesperson leaves a site visit with a business card, a phone contact, and ten minutes of notes. They drop it all into a Teams chat on the drive back and promise to follow up.</a:t>
            </a:r>
            <a:endParaRPr lang="en-US" sz="1600" dirty="0"/>
          </a:p>
        </p:txBody>
      </p:sp>
      <p:sp>
        <p:nvSpPr>
          <p:cNvPr id="5" name="Text 3"/>
          <p:cNvSpPr txBox="1"/>
          <p:nvPr/>
        </p:nvSpPr>
        <p:spPr>
          <a:xfrm>
            <a:off x="548640" y="2971800"/>
            <a:ext cx="5120640" cy="1188720"/>
          </a:xfrm>
          <a:prstGeom prst="rect">
            <a:avLst/>
          </a:prstGeom>
          <a:noFill/>
          <a:ln/>
        </p:spPr>
        <p:txBody>
          <a:bodyPr wrap="square" lIns="0" tIns="0" rIns="0" bIns="0" rtlCol="0" anchor="t"/>
          <a:lstStyle/>
          <a:p>
            <a:pPr algn="l" indent="0" marL="0">
              <a:lnSpc>
                <a:spcPct val="110000"/>
              </a:lnSpc>
              <a:buNone/>
            </a:pPr>
            <a:r>
              <a:rPr lang="en-US" sz="1600" dirty="0">
                <a:solidFill>
                  <a:srgbClr val="1F2937"/>
                </a:solidFill>
                <a:latin typeface="Calibri" pitchFamily="34" charset="0"/>
                <a:ea typeface="Calibri" pitchFamily="34" charset="-122"/>
                <a:cs typeface="Calibri" pitchFamily="34" charset="-120"/>
              </a:rPr>
              <a:t>The CRM entry happens tonight, or on Friday, or never. The follow-up date lives in someone's head. The record that does get typed in is missing the mobile number.</a:t>
            </a:r>
            <a:endParaRPr lang="en-US" sz="1600" dirty="0"/>
          </a:p>
        </p:txBody>
      </p:sp>
      <p:sp>
        <p:nvSpPr>
          <p:cNvPr id="6" name="Text 4"/>
          <p:cNvSpPr txBox="1"/>
          <p:nvPr/>
        </p:nvSpPr>
        <p:spPr>
          <a:xfrm>
            <a:off x="548640" y="4297680"/>
            <a:ext cx="5120640" cy="1371600"/>
          </a:xfrm>
          <a:prstGeom prst="rect">
            <a:avLst/>
          </a:prstGeom>
          <a:noFill/>
          <a:ln/>
        </p:spPr>
        <p:txBody>
          <a:bodyPr wrap="square" lIns="0" tIns="0" rIns="0" bIns="0" rtlCol="0" anchor="t"/>
          <a:lstStyle/>
          <a:p>
            <a:pPr algn="l" indent="0" marL="0">
              <a:lnSpc>
                <a:spcPct val="110000"/>
              </a:lnSpc>
              <a:buNone/>
            </a:pPr>
            <a:r>
              <a:rPr lang="en-US" sz="1500" i="1" dirty="0">
                <a:solidFill>
                  <a:srgbClr val="6B7280"/>
                </a:solidFill>
                <a:latin typeface="Calibri" pitchFamily="34" charset="0"/>
                <a:ea typeface="Calibri" pitchFamily="34" charset="-122"/>
                <a:cs typeface="Calibri" pitchFamily="34" charset="-120"/>
              </a:rPr>
              <a:t>Intrakore's own thesis is that margin lives in the gaps between the site and the system. This is one of those gaps, and it opens every time a lead is discussed in chat instead of entered in a form.</a:t>
            </a:r>
            <a:endParaRPr lang="en-US" sz="1500" dirty="0"/>
          </a:p>
        </p:txBody>
      </p:sp>
      <p:sp>
        <p:nvSpPr>
          <p:cNvPr id="7" name="Shape 5"/>
          <p:cNvSpPr/>
          <p:nvPr/>
        </p:nvSpPr>
        <p:spPr>
          <a:xfrm>
            <a:off x="6400800" y="1691640"/>
            <a:ext cx="5212080" cy="1234440"/>
          </a:xfrm>
          <a:prstGeom prst="roundRect">
            <a:avLst>
              <a:gd name="adj" fmla="val 8889"/>
            </a:avLst>
          </a:prstGeom>
          <a:solidFill>
            <a:srgbClr val="F3F4F6"/>
          </a:solidFill>
          <a:ln w="12700">
            <a:solidFill>
              <a:srgbClr val="F3F4F6"/>
            </a:solidFill>
            <a:prstDash val="solid"/>
          </a:ln>
        </p:spPr>
      </p:sp>
      <p:sp>
        <p:nvSpPr>
          <p:cNvPr id="8" name="Shape 6"/>
          <p:cNvSpPr/>
          <p:nvPr/>
        </p:nvSpPr>
        <p:spPr>
          <a:xfrm>
            <a:off x="6629400" y="1920240"/>
            <a:ext cx="384048" cy="384048"/>
          </a:xfrm>
          <a:prstGeom prst="ellipse">
            <a:avLst/>
          </a:prstGeom>
          <a:solidFill>
            <a:srgbClr val="E9A23B"/>
          </a:solidFill>
          <a:ln w="12700">
            <a:solidFill>
              <a:srgbClr val="E9A23B"/>
            </a:solidFill>
            <a:prstDash val="solid"/>
          </a:ln>
        </p:spPr>
      </p:sp>
      <p:sp>
        <p:nvSpPr>
          <p:cNvPr id="9" name="Text 7"/>
          <p:cNvSpPr txBox="1"/>
          <p:nvPr/>
        </p:nvSpPr>
        <p:spPr>
          <a:xfrm>
            <a:off x="6629400" y="192024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7178040" y="1874520"/>
            <a:ext cx="4297680" cy="320040"/>
          </a:xfrm>
          <a:prstGeom prst="rect">
            <a:avLst/>
          </a:prstGeom>
          <a:noFill/>
          <a:ln/>
        </p:spPr>
        <p:txBody>
          <a:bodyPr wrap="square" lIns="0" tIns="0" rIns="0" bIns="0" rtlCol="0" anchor="t"/>
          <a:lstStyle/>
          <a:p>
            <a:pPr algn="l" indent="0" marL="0">
              <a:lnSpc>
                <a:spcPct val="110000"/>
              </a:lnSpc>
              <a:buNone/>
            </a:pPr>
            <a:r>
              <a:rPr lang="en-US" sz="1600" b="1" dirty="0">
                <a:solidFill>
                  <a:srgbClr val="1F2937"/>
                </a:solidFill>
                <a:latin typeface="Calibri" pitchFamily="34" charset="0"/>
                <a:ea typeface="Calibri" pitchFamily="34" charset="-122"/>
                <a:cs typeface="Calibri" pitchFamily="34" charset="-120"/>
              </a:rPr>
              <a:t>Contact details</a:t>
            </a:r>
            <a:endParaRPr lang="en-US" sz="1600" dirty="0"/>
          </a:p>
        </p:txBody>
      </p:sp>
      <p:sp>
        <p:nvSpPr>
          <p:cNvPr id="11" name="Text 9"/>
          <p:cNvSpPr txBox="1"/>
          <p:nvPr/>
        </p:nvSpPr>
        <p:spPr>
          <a:xfrm>
            <a:off x="7178040" y="2212848"/>
            <a:ext cx="4297680" cy="685800"/>
          </a:xfrm>
          <a:prstGeom prst="rect">
            <a:avLst/>
          </a:prstGeom>
          <a:noFill/>
          <a:ln/>
        </p:spPr>
        <p:txBody>
          <a:bodyPr wrap="square" lIns="0" tIns="0" rIns="0" bIns="0" rtlCol="0" anchor="t"/>
          <a:lstStyle/>
          <a:p>
            <a:pPr algn="l" indent="0" marL="0">
              <a:lnSpc>
                <a:spcPct val="110000"/>
              </a:lnSpc>
              <a:buNone/>
            </a:pPr>
            <a:r>
              <a:rPr lang="en-US" sz="1250" dirty="0">
                <a:solidFill>
                  <a:srgbClr val="6B7280"/>
                </a:solidFill>
                <a:latin typeface="Calibri" pitchFamily="34" charset="0"/>
                <a:ea typeface="Calibri" pitchFamily="34" charset="-122"/>
                <a:cs typeface="Calibri" pitchFamily="34" charset="-120"/>
              </a:rPr>
              <a:t>Name, company, email, mobile. Typed later from memory, or from a photo nobody re-opens.</a:t>
            </a:r>
            <a:endParaRPr lang="en-US" sz="1250" dirty="0"/>
          </a:p>
        </p:txBody>
      </p:sp>
      <p:sp>
        <p:nvSpPr>
          <p:cNvPr id="12" name="Shape 10"/>
          <p:cNvSpPr/>
          <p:nvPr/>
        </p:nvSpPr>
        <p:spPr>
          <a:xfrm>
            <a:off x="6400800" y="3108960"/>
            <a:ext cx="5212080" cy="1234440"/>
          </a:xfrm>
          <a:prstGeom prst="roundRect">
            <a:avLst>
              <a:gd name="adj" fmla="val 8889"/>
            </a:avLst>
          </a:prstGeom>
          <a:solidFill>
            <a:srgbClr val="F3F4F6"/>
          </a:solidFill>
          <a:ln w="12700">
            <a:solidFill>
              <a:srgbClr val="F3F4F6"/>
            </a:solidFill>
            <a:prstDash val="solid"/>
          </a:ln>
        </p:spPr>
      </p:sp>
      <p:sp>
        <p:nvSpPr>
          <p:cNvPr id="13" name="Shape 11"/>
          <p:cNvSpPr/>
          <p:nvPr/>
        </p:nvSpPr>
        <p:spPr>
          <a:xfrm>
            <a:off x="6629400" y="3337560"/>
            <a:ext cx="384048" cy="384048"/>
          </a:xfrm>
          <a:prstGeom prst="ellipse">
            <a:avLst/>
          </a:prstGeom>
          <a:solidFill>
            <a:srgbClr val="E9A23B"/>
          </a:solidFill>
          <a:ln w="12700">
            <a:solidFill>
              <a:srgbClr val="E9A23B"/>
            </a:solidFill>
            <a:prstDash val="solid"/>
          </a:ln>
        </p:spPr>
      </p:sp>
      <p:sp>
        <p:nvSpPr>
          <p:cNvPr id="14" name="Text 12"/>
          <p:cNvSpPr txBox="1"/>
          <p:nvPr/>
        </p:nvSpPr>
        <p:spPr>
          <a:xfrm>
            <a:off x="6629400" y="333756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2</a:t>
            </a:r>
            <a:endParaRPr lang="en-US" sz="1300" dirty="0"/>
          </a:p>
        </p:txBody>
      </p:sp>
      <p:sp>
        <p:nvSpPr>
          <p:cNvPr id="15" name="Text 13"/>
          <p:cNvSpPr txBox="1"/>
          <p:nvPr/>
        </p:nvSpPr>
        <p:spPr>
          <a:xfrm>
            <a:off x="7178040" y="3291840"/>
            <a:ext cx="4297680" cy="320040"/>
          </a:xfrm>
          <a:prstGeom prst="rect">
            <a:avLst/>
          </a:prstGeom>
          <a:noFill/>
          <a:ln/>
        </p:spPr>
        <p:txBody>
          <a:bodyPr wrap="square" lIns="0" tIns="0" rIns="0" bIns="0" rtlCol="0" anchor="t"/>
          <a:lstStyle/>
          <a:p>
            <a:pPr algn="l" indent="0" marL="0">
              <a:lnSpc>
                <a:spcPct val="110000"/>
              </a:lnSpc>
              <a:buNone/>
            </a:pPr>
            <a:r>
              <a:rPr lang="en-US" sz="1600" b="1" dirty="0">
                <a:solidFill>
                  <a:srgbClr val="1F2937"/>
                </a:solidFill>
                <a:latin typeface="Calibri" pitchFamily="34" charset="0"/>
                <a:ea typeface="Calibri" pitchFamily="34" charset="-122"/>
                <a:cs typeface="Calibri" pitchFamily="34" charset="-120"/>
              </a:rPr>
              <a:t>Meeting notes</a:t>
            </a:r>
            <a:endParaRPr lang="en-US" sz="1600" dirty="0"/>
          </a:p>
        </p:txBody>
      </p:sp>
      <p:sp>
        <p:nvSpPr>
          <p:cNvPr id="16" name="Text 14"/>
          <p:cNvSpPr txBox="1"/>
          <p:nvPr/>
        </p:nvSpPr>
        <p:spPr>
          <a:xfrm>
            <a:off x="7178040" y="3630168"/>
            <a:ext cx="4297680" cy="685800"/>
          </a:xfrm>
          <a:prstGeom prst="rect">
            <a:avLst/>
          </a:prstGeom>
          <a:noFill/>
          <a:ln/>
        </p:spPr>
        <p:txBody>
          <a:bodyPr wrap="square" lIns="0" tIns="0" rIns="0" bIns="0" rtlCol="0" anchor="t"/>
          <a:lstStyle/>
          <a:p>
            <a:pPr algn="l" indent="0" marL="0">
              <a:lnSpc>
                <a:spcPct val="110000"/>
              </a:lnSpc>
              <a:buNone/>
            </a:pPr>
            <a:r>
              <a:rPr lang="en-US" sz="1250" dirty="0">
                <a:solidFill>
                  <a:srgbClr val="6B7280"/>
                </a:solidFill>
                <a:latin typeface="Calibri" pitchFamily="34" charset="0"/>
                <a:ea typeface="Calibri" pitchFamily="34" charset="-122"/>
                <a:cs typeface="Calibri" pitchFamily="34" charset="-120"/>
              </a:rPr>
              <a:t>What was discussed, what was promised. Summarised in a message, then buried under the next thread.</a:t>
            </a:r>
            <a:endParaRPr lang="en-US" sz="1250" dirty="0"/>
          </a:p>
        </p:txBody>
      </p:sp>
      <p:sp>
        <p:nvSpPr>
          <p:cNvPr id="17" name="Shape 15"/>
          <p:cNvSpPr/>
          <p:nvPr/>
        </p:nvSpPr>
        <p:spPr>
          <a:xfrm>
            <a:off x="6400800" y="4526280"/>
            <a:ext cx="5212080" cy="1234440"/>
          </a:xfrm>
          <a:prstGeom prst="roundRect">
            <a:avLst>
              <a:gd name="adj" fmla="val 8889"/>
            </a:avLst>
          </a:prstGeom>
          <a:solidFill>
            <a:srgbClr val="F3F4F6"/>
          </a:solidFill>
          <a:ln w="12700">
            <a:solidFill>
              <a:srgbClr val="F3F4F6"/>
            </a:solidFill>
            <a:prstDash val="solid"/>
          </a:ln>
        </p:spPr>
      </p:sp>
      <p:sp>
        <p:nvSpPr>
          <p:cNvPr id="18" name="Shape 16"/>
          <p:cNvSpPr/>
          <p:nvPr/>
        </p:nvSpPr>
        <p:spPr>
          <a:xfrm>
            <a:off x="6629400" y="4754880"/>
            <a:ext cx="384048" cy="384048"/>
          </a:xfrm>
          <a:prstGeom prst="ellipse">
            <a:avLst/>
          </a:prstGeom>
          <a:solidFill>
            <a:srgbClr val="E9A23B"/>
          </a:solidFill>
          <a:ln w="12700">
            <a:solidFill>
              <a:srgbClr val="E9A23B"/>
            </a:solidFill>
            <a:prstDash val="solid"/>
          </a:ln>
        </p:spPr>
      </p:sp>
      <p:sp>
        <p:nvSpPr>
          <p:cNvPr id="19" name="Text 17"/>
          <p:cNvSpPr txBox="1"/>
          <p:nvPr/>
        </p:nvSpPr>
        <p:spPr>
          <a:xfrm>
            <a:off x="6629400" y="475488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7178040" y="4709160"/>
            <a:ext cx="4297680" cy="320040"/>
          </a:xfrm>
          <a:prstGeom prst="rect">
            <a:avLst/>
          </a:prstGeom>
          <a:noFill/>
          <a:ln/>
        </p:spPr>
        <p:txBody>
          <a:bodyPr wrap="square" lIns="0" tIns="0" rIns="0" bIns="0" rtlCol="0" anchor="t"/>
          <a:lstStyle/>
          <a:p>
            <a:pPr algn="l" indent="0" marL="0">
              <a:lnSpc>
                <a:spcPct val="110000"/>
              </a:lnSpc>
              <a:buNone/>
            </a:pPr>
            <a:r>
              <a:rPr lang="en-US" sz="1600" b="1" dirty="0">
                <a:solidFill>
                  <a:srgbClr val="1F2937"/>
                </a:solidFill>
                <a:latin typeface="Calibri" pitchFamily="34" charset="0"/>
                <a:ea typeface="Calibri" pitchFamily="34" charset="-122"/>
                <a:cs typeface="Calibri" pitchFamily="34" charset="-120"/>
              </a:rPr>
              <a:t>The follow-up</a:t>
            </a:r>
            <a:endParaRPr lang="en-US" sz="1600" dirty="0"/>
          </a:p>
        </p:txBody>
      </p:sp>
      <p:sp>
        <p:nvSpPr>
          <p:cNvPr id="21" name="Text 19"/>
          <p:cNvSpPr txBox="1"/>
          <p:nvPr/>
        </p:nvSpPr>
        <p:spPr>
          <a:xfrm>
            <a:off x="7178040" y="5047488"/>
            <a:ext cx="4297680" cy="685800"/>
          </a:xfrm>
          <a:prstGeom prst="rect">
            <a:avLst/>
          </a:prstGeom>
          <a:noFill/>
          <a:ln/>
        </p:spPr>
        <p:txBody>
          <a:bodyPr wrap="square" lIns="0" tIns="0" rIns="0" bIns="0" rtlCol="0" anchor="t"/>
          <a:lstStyle/>
          <a:p>
            <a:pPr algn="l" indent="0" marL="0">
              <a:lnSpc>
                <a:spcPct val="110000"/>
              </a:lnSpc>
              <a:buNone/>
            </a:pPr>
            <a:r>
              <a:rPr lang="en-US" sz="1250" dirty="0">
                <a:solidFill>
                  <a:srgbClr val="6B7280"/>
                </a:solidFill>
                <a:latin typeface="Calibri" pitchFamily="34" charset="0"/>
                <a:ea typeface="Calibri" pitchFamily="34" charset="-122"/>
                <a:cs typeface="Calibri" pitchFamily="34" charset="-120"/>
              </a:rPr>
              <a:t>"Call them after two days." Never scheduled, because scheduling means switching apps.</a:t>
            </a:r>
            <a:endParaRPr lang="en-US" sz="1250" dirty="0"/>
          </a:p>
        </p:txBody>
      </p:sp>
      <p:sp>
        <p:nvSpPr>
          <p:cNvPr id="22"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USER FLOW  ·  2 MIN</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Four ways in. One record out. Every action priced.</a:t>
            </a:r>
            <a:endParaRPr lang="en-US" sz="3400" dirty="0"/>
          </a:p>
        </p:txBody>
      </p:sp>
      <p:sp>
        <p:nvSpPr>
          <p:cNvPr id="4" name="Shape 2"/>
          <p:cNvSpPr/>
          <p:nvPr/>
        </p:nvSpPr>
        <p:spPr>
          <a:xfrm>
            <a:off x="548640" y="1737360"/>
            <a:ext cx="2651760" cy="2240280"/>
          </a:xfrm>
          <a:prstGeom prst="roundRect">
            <a:avLst>
              <a:gd name="adj" fmla="val 4898"/>
            </a:avLst>
          </a:prstGeom>
          <a:solidFill>
            <a:srgbClr val="F3F4F6"/>
          </a:solidFill>
          <a:ln w="12700">
            <a:solidFill>
              <a:srgbClr val="F3F4F6"/>
            </a:solidFill>
            <a:prstDash val="solid"/>
          </a:ln>
        </p:spPr>
      </p:sp>
      <p:sp>
        <p:nvSpPr>
          <p:cNvPr id="5" name="Text 3"/>
          <p:cNvSpPr txBox="1"/>
          <p:nvPr/>
        </p:nvSpPr>
        <p:spPr>
          <a:xfrm>
            <a:off x="777240" y="1920240"/>
            <a:ext cx="2194560" cy="365760"/>
          </a:xfrm>
          <a:prstGeom prst="rect">
            <a:avLst/>
          </a:prstGeom>
          <a:noFill/>
          <a:ln/>
        </p:spPr>
        <p:txBody>
          <a:bodyPr wrap="square" lIns="0" tIns="0" rIns="0" bIns="0" rtlCol="0" anchor="t"/>
          <a:lstStyle/>
          <a:p>
            <a:pPr algn="l" indent="0" marL="0">
              <a:lnSpc>
                <a:spcPct val="110000"/>
              </a:lnSpc>
              <a:buNone/>
            </a:pPr>
            <a:r>
              <a:rPr lang="en-US" sz="1700" b="1" dirty="0">
                <a:solidFill>
                  <a:srgbClr val="1F2937"/>
                </a:solidFill>
                <a:latin typeface="Calibri" pitchFamily="34" charset="0"/>
                <a:ea typeface="Calibri" pitchFamily="34" charset="-122"/>
                <a:cs typeface="Calibri" pitchFamily="34" charset="-120"/>
              </a:rPr>
              <a:t>Free text</a:t>
            </a:r>
            <a:endParaRPr lang="en-US" sz="1700" dirty="0"/>
          </a:p>
        </p:txBody>
      </p:sp>
      <p:sp>
        <p:nvSpPr>
          <p:cNvPr id="6" name="Text 4"/>
          <p:cNvSpPr txBox="1"/>
          <p:nvPr/>
        </p:nvSpPr>
        <p:spPr>
          <a:xfrm>
            <a:off x="777240" y="2331720"/>
            <a:ext cx="2194560" cy="1188720"/>
          </a:xfrm>
          <a:prstGeom prst="rect">
            <a:avLst/>
          </a:prstGeom>
          <a:noFill/>
          <a:ln/>
        </p:spPr>
        <p:txBody>
          <a:bodyPr wrap="square" lIns="0" tIns="0" rIns="0" bIns="0" rtlCol="0" anchor="t"/>
          <a:lstStyle/>
          <a:p>
            <a:pPr algn="l" indent="0" marL="0">
              <a:lnSpc>
                <a:spcPct val="110000"/>
              </a:lnSpc>
              <a:buNone/>
            </a:pPr>
            <a:r>
              <a:rPr lang="en-US" sz="1200" dirty="0">
                <a:solidFill>
                  <a:srgbClr val="1F2937"/>
                </a:solidFill>
                <a:latin typeface="Calibri" pitchFamily="34" charset="0"/>
                <a:ea typeface="Calibri" pitchFamily="34" charset="-122"/>
                <a:cs typeface="Calibri" pitchFamily="34" charset="-120"/>
              </a:rPr>
              <a:t>"Met Omar from Skyline Fitout, 050 123 4567, follow up in 2 days"</a:t>
            </a:r>
            <a:endParaRPr lang="en-US" sz="1200" dirty="0"/>
          </a:p>
        </p:txBody>
      </p:sp>
      <p:sp>
        <p:nvSpPr>
          <p:cNvPr id="7" name="Text 5"/>
          <p:cNvSpPr txBox="1"/>
          <p:nvPr/>
        </p:nvSpPr>
        <p:spPr>
          <a:xfrm>
            <a:off x="777240" y="3566160"/>
            <a:ext cx="219456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Sonnet 5, low effort</a:t>
            </a:r>
            <a:endParaRPr lang="en-US" sz="1100" dirty="0"/>
          </a:p>
        </p:txBody>
      </p:sp>
      <p:sp>
        <p:nvSpPr>
          <p:cNvPr id="8" name="Shape 6"/>
          <p:cNvSpPr/>
          <p:nvPr/>
        </p:nvSpPr>
        <p:spPr>
          <a:xfrm>
            <a:off x="3383280" y="1737360"/>
            <a:ext cx="2651760" cy="2240280"/>
          </a:xfrm>
          <a:prstGeom prst="roundRect">
            <a:avLst>
              <a:gd name="adj" fmla="val 4898"/>
            </a:avLst>
          </a:prstGeom>
          <a:solidFill>
            <a:srgbClr val="F3F4F6"/>
          </a:solidFill>
          <a:ln w="12700">
            <a:solidFill>
              <a:srgbClr val="F3F4F6"/>
            </a:solidFill>
            <a:prstDash val="solid"/>
          </a:ln>
        </p:spPr>
      </p:sp>
      <p:sp>
        <p:nvSpPr>
          <p:cNvPr id="9" name="Text 7"/>
          <p:cNvSpPr txBox="1"/>
          <p:nvPr/>
        </p:nvSpPr>
        <p:spPr>
          <a:xfrm>
            <a:off x="3611880" y="1920240"/>
            <a:ext cx="2194560" cy="365760"/>
          </a:xfrm>
          <a:prstGeom prst="rect">
            <a:avLst/>
          </a:prstGeom>
          <a:noFill/>
          <a:ln/>
        </p:spPr>
        <p:txBody>
          <a:bodyPr wrap="square" lIns="0" tIns="0" rIns="0" bIns="0" rtlCol="0" anchor="t"/>
          <a:lstStyle/>
          <a:p>
            <a:pPr algn="l" indent="0" marL="0">
              <a:lnSpc>
                <a:spcPct val="110000"/>
              </a:lnSpc>
              <a:buNone/>
            </a:pPr>
            <a:r>
              <a:rPr lang="en-US" sz="1700" b="1" dirty="0">
                <a:solidFill>
                  <a:srgbClr val="1F2937"/>
                </a:solidFill>
                <a:latin typeface="Calibri" pitchFamily="34" charset="0"/>
                <a:ea typeface="Calibri" pitchFamily="34" charset="-122"/>
                <a:cs typeface="Calibri" pitchFamily="34" charset="-120"/>
              </a:rPr>
              <a:t>Shared contact</a:t>
            </a:r>
            <a:endParaRPr lang="en-US" sz="1700" dirty="0"/>
          </a:p>
        </p:txBody>
      </p:sp>
      <p:sp>
        <p:nvSpPr>
          <p:cNvPr id="10" name="Text 8"/>
          <p:cNvSpPr txBox="1"/>
          <p:nvPr/>
        </p:nvSpPr>
        <p:spPr>
          <a:xfrm>
            <a:off x="3611880" y="2331720"/>
            <a:ext cx="2194560" cy="1188720"/>
          </a:xfrm>
          <a:prstGeom prst="rect">
            <a:avLst/>
          </a:prstGeom>
          <a:noFill/>
          <a:ln/>
        </p:spPr>
        <p:txBody>
          <a:bodyPr wrap="square" lIns="0" tIns="0" rIns="0" bIns="0" rtlCol="0" anchor="t"/>
          <a:lstStyle/>
          <a:p>
            <a:pPr algn="l" indent="0" marL="0">
              <a:lnSpc>
                <a:spcPct val="110000"/>
              </a:lnSpc>
              <a:buNone/>
            </a:pPr>
            <a:r>
              <a:rPr lang="en-US" sz="1200" dirty="0">
                <a:solidFill>
                  <a:srgbClr val="1F2937"/>
                </a:solidFill>
                <a:latin typeface="Calibri" pitchFamily="34" charset="0"/>
                <a:ea typeface="Calibri" pitchFamily="34" charset="-122"/>
                <a:cs typeface="Calibri" pitchFamily="34" charset="-120"/>
              </a:rPr>
              <a:t>A .vcf attachment. Deterministic parse, no model at all. Refuses when company is missing.</a:t>
            </a:r>
            <a:endParaRPr lang="en-US" sz="1200" dirty="0"/>
          </a:p>
        </p:txBody>
      </p:sp>
      <p:sp>
        <p:nvSpPr>
          <p:cNvPr id="11" name="Text 9"/>
          <p:cNvSpPr txBox="1"/>
          <p:nvPr/>
        </p:nvSpPr>
        <p:spPr>
          <a:xfrm>
            <a:off x="3611880" y="3566160"/>
            <a:ext cx="219456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No model  ·  $0.000</a:t>
            </a:r>
            <a:endParaRPr lang="en-US" sz="1100" dirty="0"/>
          </a:p>
        </p:txBody>
      </p:sp>
      <p:sp>
        <p:nvSpPr>
          <p:cNvPr id="12" name="Shape 10"/>
          <p:cNvSpPr/>
          <p:nvPr/>
        </p:nvSpPr>
        <p:spPr>
          <a:xfrm>
            <a:off x="6217920" y="1737360"/>
            <a:ext cx="2651760" cy="2240280"/>
          </a:xfrm>
          <a:prstGeom prst="roundRect">
            <a:avLst>
              <a:gd name="adj" fmla="val 4898"/>
            </a:avLst>
          </a:prstGeom>
          <a:solidFill>
            <a:srgbClr val="F3F4F6"/>
          </a:solidFill>
          <a:ln w="12700">
            <a:solidFill>
              <a:srgbClr val="F3F4F6"/>
            </a:solidFill>
            <a:prstDash val="solid"/>
          </a:ln>
        </p:spPr>
      </p:sp>
      <p:sp>
        <p:nvSpPr>
          <p:cNvPr id="13" name="Text 11"/>
          <p:cNvSpPr txBox="1"/>
          <p:nvPr/>
        </p:nvSpPr>
        <p:spPr>
          <a:xfrm>
            <a:off x="6446520" y="1920240"/>
            <a:ext cx="2194560" cy="365760"/>
          </a:xfrm>
          <a:prstGeom prst="rect">
            <a:avLst/>
          </a:prstGeom>
          <a:noFill/>
          <a:ln/>
        </p:spPr>
        <p:txBody>
          <a:bodyPr wrap="square" lIns="0" tIns="0" rIns="0" bIns="0" rtlCol="0" anchor="t"/>
          <a:lstStyle/>
          <a:p>
            <a:pPr algn="l" indent="0" marL="0">
              <a:lnSpc>
                <a:spcPct val="110000"/>
              </a:lnSpc>
              <a:buNone/>
            </a:pPr>
            <a:r>
              <a:rPr lang="en-US" sz="1700" b="1" dirty="0">
                <a:solidFill>
                  <a:srgbClr val="1F2937"/>
                </a:solidFill>
                <a:latin typeface="Calibri" pitchFamily="34" charset="0"/>
                <a:ea typeface="Calibri" pitchFamily="34" charset="-122"/>
                <a:cs typeface="Calibri" pitchFamily="34" charset="-120"/>
              </a:rPr>
              <a:t>Business card</a:t>
            </a:r>
            <a:endParaRPr lang="en-US" sz="1700" dirty="0"/>
          </a:p>
        </p:txBody>
      </p:sp>
      <p:sp>
        <p:nvSpPr>
          <p:cNvPr id="14" name="Text 12"/>
          <p:cNvSpPr txBox="1"/>
          <p:nvPr/>
        </p:nvSpPr>
        <p:spPr>
          <a:xfrm>
            <a:off x="6446520" y="2331720"/>
            <a:ext cx="2194560" cy="1188720"/>
          </a:xfrm>
          <a:prstGeom prst="rect">
            <a:avLst/>
          </a:prstGeom>
          <a:noFill/>
          <a:ln/>
        </p:spPr>
        <p:txBody>
          <a:bodyPr wrap="square" lIns="0" tIns="0" rIns="0" bIns="0" rtlCol="0" anchor="t"/>
          <a:lstStyle/>
          <a:p>
            <a:pPr algn="l" indent="0" marL="0">
              <a:lnSpc>
                <a:spcPct val="110000"/>
              </a:lnSpc>
              <a:buNone/>
            </a:pPr>
            <a:r>
              <a:rPr lang="en-US" sz="1200" dirty="0">
                <a:solidFill>
                  <a:srgbClr val="1F2937"/>
                </a:solidFill>
                <a:latin typeface="Calibri" pitchFamily="34" charset="0"/>
                <a:ea typeface="Calibri" pitchFamily="34" charset="-122"/>
                <a:cs typeface="Calibri" pitchFamily="34" charset="-120"/>
              </a:rPr>
              <a:t>A photo. Opus 5 reads it as an image block on the same extraction call. No separate OCR.</a:t>
            </a:r>
            <a:endParaRPr lang="en-US" sz="1200" dirty="0"/>
          </a:p>
        </p:txBody>
      </p:sp>
      <p:sp>
        <p:nvSpPr>
          <p:cNvPr id="15" name="Text 13"/>
          <p:cNvSpPr txBox="1"/>
          <p:nvPr/>
        </p:nvSpPr>
        <p:spPr>
          <a:xfrm>
            <a:off x="6446520" y="3566160"/>
            <a:ext cx="219456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Opus 5 vision</a:t>
            </a:r>
            <a:endParaRPr lang="en-US" sz="1100" dirty="0"/>
          </a:p>
        </p:txBody>
      </p:sp>
      <p:sp>
        <p:nvSpPr>
          <p:cNvPr id="16" name="Shape 14"/>
          <p:cNvSpPr/>
          <p:nvPr/>
        </p:nvSpPr>
        <p:spPr>
          <a:xfrm>
            <a:off x="9052560" y="1737360"/>
            <a:ext cx="2651760" cy="2240280"/>
          </a:xfrm>
          <a:prstGeom prst="roundRect">
            <a:avLst>
              <a:gd name="adj" fmla="val 4898"/>
            </a:avLst>
          </a:prstGeom>
          <a:solidFill>
            <a:srgbClr val="F3F4F6"/>
          </a:solidFill>
          <a:ln w="12700">
            <a:solidFill>
              <a:srgbClr val="F3F4F6"/>
            </a:solidFill>
            <a:prstDash val="solid"/>
          </a:ln>
        </p:spPr>
      </p:sp>
      <p:sp>
        <p:nvSpPr>
          <p:cNvPr id="17" name="Text 15"/>
          <p:cNvSpPr txBox="1"/>
          <p:nvPr/>
        </p:nvSpPr>
        <p:spPr>
          <a:xfrm>
            <a:off x="9281160" y="1920240"/>
            <a:ext cx="2194560" cy="365760"/>
          </a:xfrm>
          <a:prstGeom prst="rect">
            <a:avLst/>
          </a:prstGeom>
          <a:noFill/>
          <a:ln/>
        </p:spPr>
        <p:txBody>
          <a:bodyPr wrap="square" lIns="0" tIns="0" rIns="0" bIns="0" rtlCol="0" anchor="t"/>
          <a:lstStyle/>
          <a:p>
            <a:pPr algn="l" indent="0" marL="0">
              <a:lnSpc>
                <a:spcPct val="110000"/>
              </a:lnSpc>
              <a:buNone/>
            </a:pPr>
            <a:r>
              <a:rPr lang="en-US" sz="1700" b="1" dirty="0">
                <a:solidFill>
                  <a:srgbClr val="1F2937"/>
                </a:solidFill>
                <a:latin typeface="Calibri" pitchFamily="34" charset="0"/>
                <a:ea typeface="Calibri" pitchFamily="34" charset="-122"/>
                <a:cs typeface="Calibri" pitchFamily="34" charset="-120"/>
              </a:rPr>
              <a:t>Voice note</a:t>
            </a:r>
            <a:endParaRPr lang="en-US" sz="1700" dirty="0"/>
          </a:p>
        </p:txBody>
      </p:sp>
      <p:sp>
        <p:nvSpPr>
          <p:cNvPr id="18" name="Text 16"/>
          <p:cNvSpPr txBox="1"/>
          <p:nvPr/>
        </p:nvSpPr>
        <p:spPr>
          <a:xfrm>
            <a:off x="9281160" y="2331720"/>
            <a:ext cx="2194560" cy="1188720"/>
          </a:xfrm>
          <a:prstGeom prst="rect">
            <a:avLst/>
          </a:prstGeom>
          <a:noFill/>
          <a:ln/>
        </p:spPr>
        <p:txBody>
          <a:bodyPr wrap="square" lIns="0" tIns="0" rIns="0" bIns="0" rtlCol="0" anchor="t"/>
          <a:lstStyle/>
          <a:p>
            <a:pPr algn="l" indent="0" marL="0">
              <a:lnSpc>
                <a:spcPct val="110000"/>
              </a:lnSpc>
              <a:buNone/>
            </a:pPr>
            <a:r>
              <a:rPr lang="en-US" sz="1200" dirty="0">
                <a:solidFill>
                  <a:srgbClr val="1F2937"/>
                </a:solidFill>
                <a:latin typeface="Calibri" pitchFamily="34" charset="0"/>
                <a:ea typeface="Calibri" pitchFamily="34" charset="-122"/>
                <a:cs typeface="Calibri" pitchFamily="34" charset="-120"/>
              </a:rPr>
              <a:t>Deepgram transcribes, Sonnet 5 extracts. Works cold or after an "Add note" tap.</a:t>
            </a:r>
            <a:endParaRPr lang="en-US" sz="1200" dirty="0"/>
          </a:p>
        </p:txBody>
      </p:sp>
      <p:sp>
        <p:nvSpPr>
          <p:cNvPr id="19" name="Text 17"/>
          <p:cNvSpPr txBox="1"/>
          <p:nvPr/>
        </p:nvSpPr>
        <p:spPr>
          <a:xfrm>
            <a:off x="9281160" y="3566160"/>
            <a:ext cx="219456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Deepgram + Sonnet 5</a:t>
            </a:r>
            <a:endParaRPr lang="en-US" sz="1100" dirty="0"/>
          </a:p>
        </p:txBody>
      </p:sp>
      <p:sp>
        <p:nvSpPr>
          <p:cNvPr id="20" name="Shape 18"/>
          <p:cNvSpPr/>
          <p:nvPr/>
        </p:nvSpPr>
        <p:spPr>
          <a:xfrm>
            <a:off x="548640" y="4251960"/>
            <a:ext cx="11091672" cy="1920240"/>
          </a:xfrm>
          <a:prstGeom prst="roundRect">
            <a:avLst>
              <a:gd name="adj" fmla="val 5714"/>
            </a:avLst>
          </a:prstGeom>
          <a:solidFill>
            <a:srgbClr val="14181F"/>
          </a:solidFill>
          <a:ln w="12700">
            <a:solidFill>
              <a:srgbClr val="14181F"/>
            </a:solidFill>
            <a:prstDash val="solid"/>
          </a:ln>
        </p:spPr>
      </p:sp>
      <p:sp>
        <p:nvSpPr>
          <p:cNvPr id="21" name="Text 19"/>
          <p:cNvSpPr txBox="1"/>
          <p:nvPr/>
        </p:nvSpPr>
        <p:spPr>
          <a:xfrm>
            <a:off x="822960" y="4434840"/>
            <a:ext cx="1097280" cy="274320"/>
          </a:xfrm>
          <a:prstGeom prst="rect">
            <a:avLst/>
          </a:prstGeom>
          <a:noFill/>
          <a:ln/>
        </p:spPr>
        <p:txBody>
          <a:bodyPr wrap="square" lIns="0" tIns="0" rIns="0" bIns="0" rtlCol="0" anchor="t"/>
          <a:lstStyle/>
          <a:p>
            <a:pPr algn="l" indent="0" marL="0">
              <a:lnSpc>
                <a:spcPct val="110000"/>
              </a:lnSpc>
              <a:buNone/>
            </a:pPr>
            <a:r>
              <a:rPr lang="en-US" sz="1100" b="1" dirty="0">
                <a:solidFill>
                  <a:srgbClr val="E9A23B"/>
                </a:solidFill>
                <a:latin typeface="Calibri" pitchFamily="34" charset="0"/>
                <a:ea typeface="Calibri" pitchFamily="34" charset="-122"/>
                <a:cs typeface="Calibri" pitchFamily="34" charset="-120"/>
              </a:rPr>
              <a:t>OUT</a:t>
            </a:r>
            <a:endParaRPr lang="en-US" sz="1100" dirty="0"/>
          </a:p>
        </p:txBody>
      </p:sp>
      <p:sp>
        <p:nvSpPr>
          <p:cNvPr id="22" name="Text 20"/>
          <p:cNvSpPr txBox="1"/>
          <p:nvPr/>
        </p:nvSpPr>
        <p:spPr>
          <a:xfrm>
            <a:off x="822960" y="4754880"/>
            <a:ext cx="251460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Lead record</a:t>
            </a:r>
            <a:endParaRPr lang="en-US" sz="1500" dirty="0"/>
          </a:p>
        </p:txBody>
      </p:sp>
      <p:sp>
        <p:nvSpPr>
          <p:cNvPr id="23" name="Text 21"/>
          <p:cNvSpPr txBox="1"/>
          <p:nvPr/>
        </p:nvSpPr>
        <p:spPr>
          <a:xfrm>
            <a:off x="822960" y="5102352"/>
            <a:ext cx="2514600" cy="100584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company, first name, last name, mobile, email. A missing field is null and the bot asks. Never invented.</a:t>
            </a:r>
            <a:endParaRPr lang="en-US" sz="1150" dirty="0"/>
          </a:p>
        </p:txBody>
      </p:sp>
      <p:sp>
        <p:nvSpPr>
          <p:cNvPr id="24" name="Text 22"/>
          <p:cNvSpPr txBox="1"/>
          <p:nvPr/>
        </p:nvSpPr>
        <p:spPr>
          <a:xfrm>
            <a:off x="3566160" y="4754880"/>
            <a:ext cx="251460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Meeting notes</a:t>
            </a:r>
            <a:endParaRPr lang="en-US" sz="1500" dirty="0"/>
          </a:p>
        </p:txBody>
      </p:sp>
      <p:sp>
        <p:nvSpPr>
          <p:cNvPr id="25" name="Text 23"/>
          <p:cNvSpPr txBox="1"/>
          <p:nvPr/>
        </p:nvSpPr>
        <p:spPr>
          <a:xfrm>
            <a:off x="3566160" y="5102352"/>
            <a:ext cx="2514600" cy="100584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Summary, key points, action items. The original text is retained alongside.</a:t>
            </a:r>
            <a:endParaRPr lang="en-US" sz="1150" dirty="0"/>
          </a:p>
        </p:txBody>
      </p:sp>
      <p:sp>
        <p:nvSpPr>
          <p:cNvPr id="26" name="Text 24"/>
          <p:cNvSpPr txBox="1"/>
          <p:nvPr/>
        </p:nvSpPr>
        <p:spPr>
          <a:xfrm>
            <a:off x="6309360" y="4754880"/>
            <a:ext cx="251460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Follow-up</a:t>
            </a:r>
            <a:endParaRPr lang="en-US" sz="1500" dirty="0"/>
          </a:p>
        </p:txBody>
      </p:sp>
      <p:sp>
        <p:nvSpPr>
          <p:cNvPr id="27" name="Text 25"/>
          <p:cNvSpPr txBox="1"/>
          <p:nvPr/>
        </p:nvSpPr>
        <p:spPr>
          <a:xfrm>
            <a:off x="6309360" y="5102352"/>
            <a:ext cx="2514600" cy="100584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Resolved and scheduled, or a question back. Fires on the dashboard and in chat.</a:t>
            </a:r>
            <a:endParaRPr lang="en-US" sz="1150" dirty="0"/>
          </a:p>
        </p:txBody>
      </p:sp>
      <p:sp>
        <p:nvSpPr>
          <p:cNvPr id="28" name="Text 26"/>
          <p:cNvSpPr txBox="1"/>
          <p:nvPr/>
        </p:nvSpPr>
        <p:spPr>
          <a:xfrm>
            <a:off x="9052560" y="4754880"/>
            <a:ext cx="251460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Cost line</a:t>
            </a:r>
            <a:endParaRPr lang="en-US" sz="1500" dirty="0"/>
          </a:p>
        </p:txBody>
      </p:sp>
      <p:sp>
        <p:nvSpPr>
          <p:cNvPr id="29" name="Text 27"/>
          <p:cNvSpPr txBox="1"/>
          <p:nvPr/>
        </p:nvSpPr>
        <p:spPr>
          <a:xfrm>
            <a:off x="9052560" y="5102352"/>
            <a:ext cx="2514600" cy="100584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Model, tokens, dollars, milliseconds per component, on the card and on the ledger.</a:t>
            </a:r>
            <a:endParaRPr lang="en-US" sz="1150" dirty="0"/>
          </a:p>
        </p:txBody>
      </p:sp>
      <p:sp>
        <p:nvSpPr>
          <p:cNvPr id="30" name="Text 2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E9A23B"/>
                </a:solidFill>
                <a:latin typeface="Calibri" pitchFamily="34" charset="0"/>
                <a:ea typeface="Calibri" pitchFamily="34" charset="-122"/>
                <a:cs typeface="Calibri" pitchFamily="34" charset="-120"/>
              </a:rPr>
              <a:t>LIVE DEMO  ·  7 MIN</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FFFFFF"/>
                </a:solidFill>
                <a:latin typeface="Calibri" pitchFamily="34" charset="0"/>
                <a:ea typeface="Calibri" pitchFamily="34" charset="-122"/>
                <a:cs typeface="Calibri" pitchFamily="34" charset="-120"/>
              </a:rPr>
              <a:t>What you are about to see</a:t>
            </a:r>
            <a:endParaRPr lang="en-US" sz="3400" dirty="0"/>
          </a:p>
        </p:txBody>
      </p:sp>
      <p:sp>
        <p:nvSpPr>
          <p:cNvPr id="4" name="Shape 2"/>
          <p:cNvSpPr/>
          <p:nvPr/>
        </p:nvSpPr>
        <p:spPr>
          <a:xfrm>
            <a:off x="548640" y="1737360"/>
            <a:ext cx="5349240" cy="960120"/>
          </a:xfrm>
          <a:prstGeom prst="roundRect">
            <a:avLst>
              <a:gd name="adj" fmla="val 11429"/>
            </a:avLst>
          </a:prstGeom>
          <a:solidFill>
            <a:srgbClr val="1F2530"/>
          </a:solidFill>
          <a:ln w="12700">
            <a:solidFill>
              <a:srgbClr val="1F2530"/>
            </a:solidFill>
            <a:prstDash val="solid"/>
          </a:ln>
        </p:spPr>
      </p:sp>
      <p:sp>
        <p:nvSpPr>
          <p:cNvPr id="5" name="Shape 3"/>
          <p:cNvSpPr/>
          <p:nvPr/>
        </p:nvSpPr>
        <p:spPr>
          <a:xfrm>
            <a:off x="749808" y="2011680"/>
            <a:ext cx="384048" cy="384048"/>
          </a:xfrm>
          <a:prstGeom prst="ellipse">
            <a:avLst/>
          </a:prstGeom>
          <a:solidFill>
            <a:srgbClr val="E9A23B"/>
          </a:solidFill>
          <a:ln w="12700">
            <a:solidFill>
              <a:srgbClr val="E9A23B"/>
            </a:solidFill>
            <a:prstDash val="solid"/>
          </a:ln>
        </p:spPr>
      </p:sp>
      <p:sp>
        <p:nvSpPr>
          <p:cNvPr id="6" name="Text 4"/>
          <p:cNvSpPr txBox="1"/>
          <p:nvPr/>
        </p:nvSpPr>
        <p:spPr>
          <a:xfrm>
            <a:off x="749808" y="201168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892808"/>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Free-text lead</a:t>
            </a:r>
            <a:endParaRPr lang="en-US" sz="1500" dirty="0"/>
          </a:p>
        </p:txBody>
      </p:sp>
      <p:sp>
        <p:nvSpPr>
          <p:cNvPr id="8" name="Text 6"/>
          <p:cNvSpPr txBox="1"/>
          <p:nvPr/>
        </p:nvSpPr>
        <p:spPr>
          <a:xfrm>
            <a:off x="1280160" y="2221992"/>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A card with Add note, Edit, Delete and the cost line.</a:t>
            </a:r>
            <a:endParaRPr lang="en-US" sz="1150" dirty="0"/>
          </a:p>
        </p:txBody>
      </p:sp>
      <p:sp>
        <p:nvSpPr>
          <p:cNvPr id="9" name="Shape 7"/>
          <p:cNvSpPr/>
          <p:nvPr/>
        </p:nvSpPr>
        <p:spPr>
          <a:xfrm>
            <a:off x="6217920" y="1737360"/>
            <a:ext cx="5349240" cy="960120"/>
          </a:xfrm>
          <a:prstGeom prst="roundRect">
            <a:avLst>
              <a:gd name="adj" fmla="val 11429"/>
            </a:avLst>
          </a:prstGeom>
          <a:solidFill>
            <a:srgbClr val="1F2530"/>
          </a:solidFill>
          <a:ln w="12700">
            <a:solidFill>
              <a:srgbClr val="1F2530"/>
            </a:solidFill>
            <a:prstDash val="solid"/>
          </a:ln>
        </p:spPr>
      </p:sp>
      <p:sp>
        <p:nvSpPr>
          <p:cNvPr id="10" name="Shape 8"/>
          <p:cNvSpPr/>
          <p:nvPr/>
        </p:nvSpPr>
        <p:spPr>
          <a:xfrm>
            <a:off x="6419088" y="2011680"/>
            <a:ext cx="384048" cy="384048"/>
          </a:xfrm>
          <a:prstGeom prst="ellipse">
            <a:avLst/>
          </a:prstGeom>
          <a:solidFill>
            <a:srgbClr val="E9A23B"/>
          </a:solidFill>
          <a:ln w="12700">
            <a:solidFill>
              <a:srgbClr val="E9A23B"/>
            </a:solidFill>
            <a:prstDash val="solid"/>
          </a:ln>
        </p:spPr>
      </p:sp>
      <p:sp>
        <p:nvSpPr>
          <p:cNvPr id="11" name="Text 9"/>
          <p:cNvSpPr txBox="1"/>
          <p:nvPr/>
        </p:nvSpPr>
        <p:spPr>
          <a:xfrm>
            <a:off x="6419088" y="201168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949440" y="1892808"/>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Business card with no company</a:t>
            </a:r>
            <a:endParaRPr lang="en-US" sz="1500" dirty="0"/>
          </a:p>
        </p:txBody>
      </p:sp>
      <p:sp>
        <p:nvSpPr>
          <p:cNvPr id="13" name="Text 11"/>
          <p:cNvSpPr txBox="1"/>
          <p:nvPr/>
        </p:nvSpPr>
        <p:spPr>
          <a:xfrm>
            <a:off x="6949440" y="2221992"/>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The bot refuses to guess, asks, gets an answer, then creates the lead.</a:t>
            </a:r>
            <a:endParaRPr lang="en-US" sz="1150" dirty="0"/>
          </a:p>
        </p:txBody>
      </p:sp>
      <p:sp>
        <p:nvSpPr>
          <p:cNvPr id="14" name="Shape 12"/>
          <p:cNvSpPr/>
          <p:nvPr/>
        </p:nvSpPr>
        <p:spPr>
          <a:xfrm>
            <a:off x="548640" y="2862072"/>
            <a:ext cx="5349240" cy="960120"/>
          </a:xfrm>
          <a:prstGeom prst="roundRect">
            <a:avLst>
              <a:gd name="adj" fmla="val 11429"/>
            </a:avLst>
          </a:prstGeom>
          <a:solidFill>
            <a:srgbClr val="1F2530"/>
          </a:solidFill>
          <a:ln w="12700">
            <a:solidFill>
              <a:srgbClr val="1F2530"/>
            </a:solidFill>
            <a:prstDash val="solid"/>
          </a:ln>
        </p:spPr>
      </p:sp>
      <p:sp>
        <p:nvSpPr>
          <p:cNvPr id="15" name="Shape 13"/>
          <p:cNvSpPr/>
          <p:nvPr/>
        </p:nvSpPr>
        <p:spPr>
          <a:xfrm>
            <a:off x="749808" y="3136392"/>
            <a:ext cx="384048" cy="384048"/>
          </a:xfrm>
          <a:prstGeom prst="ellipse">
            <a:avLst/>
          </a:prstGeom>
          <a:solidFill>
            <a:srgbClr val="E9A23B"/>
          </a:solidFill>
          <a:ln w="12700">
            <a:solidFill>
              <a:srgbClr val="E9A23B"/>
            </a:solidFill>
            <a:prstDash val="solid"/>
          </a:ln>
        </p:spPr>
      </p:sp>
      <p:sp>
        <p:nvSpPr>
          <p:cNvPr id="16" name="Text 14"/>
          <p:cNvSpPr txBox="1"/>
          <p:nvPr/>
        </p:nvSpPr>
        <p:spPr>
          <a:xfrm>
            <a:off x="749808" y="3136392"/>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3017520"/>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A photo of a real card</a:t>
            </a:r>
            <a:endParaRPr lang="en-US" sz="1500" dirty="0"/>
          </a:p>
        </p:txBody>
      </p:sp>
      <p:sp>
        <p:nvSpPr>
          <p:cNvPr id="18" name="Text 16"/>
          <p:cNvSpPr txBox="1"/>
          <p:nvPr/>
        </p:nvSpPr>
        <p:spPr>
          <a:xfrm>
            <a:off x="1280160" y="3346704"/>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Perspective, glare, a logo. One vision call, no separate OCR.</a:t>
            </a:r>
            <a:endParaRPr lang="en-US" sz="1150" dirty="0"/>
          </a:p>
        </p:txBody>
      </p:sp>
      <p:sp>
        <p:nvSpPr>
          <p:cNvPr id="19" name="Shape 17"/>
          <p:cNvSpPr/>
          <p:nvPr/>
        </p:nvSpPr>
        <p:spPr>
          <a:xfrm>
            <a:off x="6217920" y="2862072"/>
            <a:ext cx="5349240" cy="960120"/>
          </a:xfrm>
          <a:prstGeom prst="roundRect">
            <a:avLst>
              <a:gd name="adj" fmla="val 11429"/>
            </a:avLst>
          </a:prstGeom>
          <a:solidFill>
            <a:srgbClr val="1F2530"/>
          </a:solidFill>
          <a:ln w="12700">
            <a:solidFill>
              <a:srgbClr val="1F2530"/>
            </a:solidFill>
            <a:prstDash val="solid"/>
          </a:ln>
        </p:spPr>
      </p:sp>
      <p:sp>
        <p:nvSpPr>
          <p:cNvPr id="20" name="Shape 18"/>
          <p:cNvSpPr/>
          <p:nvPr/>
        </p:nvSpPr>
        <p:spPr>
          <a:xfrm>
            <a:off x="6419088" y="3136392"/>
            <a:ext cx="384048" cy="384048"/>
          </a:xfrm>
          <a:prstGeom prst="ellipse">
            <a:avLst/>
          </a:prstGeom>
          <a:solidFill>
            <a:srgbClr val="E9A23B"/>
          </a:solidFill>
          <a:ln w="12700">
            <a:solidFill>
              <a:srgbClr val="E9A23B"/>
            </a:solidFill>
            <a:prstDash val="solid"/>
          </a:ln>
        </p:spPr>
      </p:sp>
      <p:sp>
        <p:nvSpPr>
          <p:cNvPr id="21" name="Text 19"/>
          <p:cNvSpPr txBox="1"/>
          <p:nvPr/>
        </p:nvSpPr>
        <p:spPr>
          <a:xfrm>
            <a:off x="6419088" y="3136392"/>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49440" y="3017520"/>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The same person again</a:t>
            </a:r>
            <a:endParaRPr lang="en-US" sz="1500" dirty="0"/>
          </a:p>
        </p:txBody>
      </p:sp>
      <p:sp>
        <p:nvSpPr>
          <p:cNvPr id="23" name="Text 21"/>
          <p:cNvSpPr txBox="1"/>
          <p:nvPr/>
        </p:nvSpPr>
        <p:spPr>
          <a:xfrm>
            <a:off x="6949440" y="3346704"/>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Refused. "Matched on email." No duplicate.</a:t>
            </a:r>
            <a:endParaRPr lang="en-US" sz="1150" dirty="0"/>
          </a:p>
        </p:txBody>
      </p:sp>
      <p:sp>
        <p:nvSpPr>
          <p:cNvPr id="24" name="Shape 22"/>
          <p:cNvSpPr/>
          <p:nvPr/>
        </p:nvSpPr>
        <p:spPr>
          <a:xfrm>
            <a:off x="548640" y="3986784"/>
            <a:ext cx="5349240" cy="960120"/>
          </a:xfrm>
          <a:prstGeom prst="roundRect">
            <a:avLst>
              <a:gd name="adj" fmla="val 11429"/>
            </a:avLst>
          </a:prstGeom>
          <a:solidFill>
            <a:srgbClr val="1F2530"/>
          </a:solidFill>
          <a:ln w="12700">
            <a:solidFill>
              <a:srgbClr val="1F2530"/>
            </a:solidFill>
            <a:prstDash val="solid"/>
          </a:ln>
        </p:spPr>
      </p:sp>
      <p:sp>
        <p:nvSpPr>
          <p:cNvPr id="25" name="Shape 23"/>
          <p:cNvSpPr/>
          <p:nvPr/>
        </p:nvSpPr>
        <p:spPr>
          <a:xfrm>
            <a:off x="749808" y="4261104"/>
            <a:ext cx="384048" cy="384048"/>
          </a:xfrm>
          <a:prstGeom prst="ellipse">
            <a:avLst/>
          </a:prstGeom>
          <a:solidFill>
            <a:srgbClr val="E9A23B"/>
          </a:solidFill>
          <a:ln w="12700">
            <a:solidFill>
              <a:srgbClr val="E9A23B"/>
            </a:solidFill>
            <a:prstDash val="solid"/>
          </a:ln>
        </p:spPr>
      </p:sp>
      <p:sp>
        <p:nvSpPr>
          <p:cNvPr id="26" name="Text 24"/>
          <p:cNvSpPr txBox="1"/>
          <p:nvPr/>
        </p:nvSpPr>
        <p:spPr>
          <a:xfrm>
            <a:off x="749808" y="4261104"/>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280160" y="4142232"/>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"Follow up next week sometime"</a:t>
            </a:r>
            <a:endParaRPr lang="en-US" sz="1500" dirty="0"/>
          </a:p>
        </p:txBody>
      </p:sp>
      <p:sp>
        <p:nvSpPr>
          <p:cNvPr id="28" name="Text 26"/>
          <p:cNvSpPr txBox="1"/>
          <p:nvPr/>
        </p:nvSpPr>
        <p:spPr>
          <a:xfrm>
            <a:off x="1280160" y="4471416"/>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The bot asks which day. "Monday." Scheduled.</a:t>
            </a:r>
            <a:endParaRPr lang="en-US" sz="1150" dirty="0"/>
          </a:p>
        </p:txBody>
      </p:sp>
      <p:sp>
        <p:nvSpPr>
          <p:cNvPr id="29" name="Shape 27"/>
          <p:cNvSpPr/>
          <p:nvPr/>
        </p:nvSpPr>
        <p:spPr>
          <a:xfrm>
            <a:off x="6217920" y="3986784"/>
            <a:ext cx="5349240" cy="960120"/>
          </a:xfrm>
          <a:prstGeom prst="roundRect">
            <a:avLst>
              <a:gd name="adj" fmla="val 11429"/>
            </a:avLst>
          </a:prstGeom>
          <a:solidFill>
            <a:srgbClr val="1F2530"/>
          </a:solidFill>
          <a:ln w="12700">
            <a:solidFill>
              <a:srgbClr val="1F2530"/>
            </a:solidFill>
            <a:prstDash val="solid"/>
          </a:ln>
        </p:spPr>
      </p:sp>
      <p:sp>
        <p:nvSpPr>
          <p:cNvPr id="30" name="Shape 28"/>
          <p:cNvSpPr/>
          <p:nvPr/>
        </p:nvSpPr>
        <p:spPr>
          <a:xfrm>
            <a:off x="6419088" y="4261104"/>
            <a:ext cx="384048" cy="384048"/>
          </a:xfrm>
          <a:prstGeom prst="ellipse">
            <a:avLst/>
          </a:prstGeom>
          <a:solidFill>
            <a:srgbClr val="E9A23B"/>
          </a:solidFill>
          <a:ln w="12700">
            <a:solidFill>
              <a:srgbClr val="E9A23B"/>
            </a:solidFill>
            <a:prstDash val="solid"/>
          </a:ln>
        </p:spPr>
      </p:sp>
      <p:sp>
        <p:nvSpPr>
          <p:cNvPr id="31" name="Text 29"/>
          <p:cNvSpPr txBox="1"/>
          <p:nvPr/>
        </p:nvSpPr>
        <p:spPr>
          <a:xfrm>
            <a:off x="6419088" y="4261104"/>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6949440" y="4142232"/>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A reminder fires</a:t>
            </a:r>
            <a:endParaRPr lang="en-US" sz="1500" dirty="0"/>
          </a:p>
        </p:txBody>
      </p:sp>
      <p:sp>
        <p:nvSpPr>
          <p:cNvPr id="33" name="Text 31"/>
          <p:cNvSpPr txBox="1"/>
          <p:nvPr/>
        </p:nvSpPr>
        <p:spPr>
          <a:xfrm>
            <a:off x="6949440" y="4471416"/>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Seeded before we started. Lands unprompted, mid-demo.</a:t>
            </a:r>
            <a:endParaRPr lang="en-US" sz="1150" dirty="0"/>
          </a:p>
        </p:txBody>
      </p:sp>
      <p:sp>
        <p:nvSpPr>
          <p:cNvPr id="34" name="Shape 32"/>
          <p:cNvSpPr/>
          <p:nvPr/>
        </p:nvSpPr>
        <p:spPr>
          <a:xfrm>
            <a:off x="548640" y="5111496"/>
            <a:ext cx="5349240" cy="960120"/>
          </a:xfrm>
          <a:prstGeom prst="roundRect">
            <a:avLst>
              <a:gd name="adj" fmla="val 11429"/>
            </a:avLst>
          </a:prstGeom>
          <a:solidFill>
            <a:srgbClr val="1F2530"/>
          </a:solidFill>
          <a:ln w="12700">
            <a:solidFill>
              <a:srgbClr val="1F2530"/>
            </a:solidFill>
            <a:prstDash val="solid"/>
          </a:ln>
        </p:spPr>
      </p:sp>
      <p:sp>
        <p:nvSpPr>
          <p:cNvPr id="35" name="Shape 33"/>
          <p:cNvSpPr/>
          <p:nvPr/>
        </p:nvSpPr>
        <p:spPr>
          <a:xfrm>
            <a:off x="749808" y="5385816"/>
            <a:ext cx="384048" cy="384048"/>
          </a:xfrm>
          <a:prstGeom prst="ellipse">
            <a:avLst/>
          </a:prstGeom>
          <a:solidFill>
            <a:srgbClr val="E9A23B"/>
          </a:solidFill>
          <a:ln w="12700">
            <a:solidFill>
              <a:srgbClr val="E9A23B"/>
            </a:solidFill>
            <a:prstDash val="solid"/>
          </a:ln>
        </p:spPr>
      </p:sp>
      <p:sp>
        <p:nvSpPr>
          <p:cNvPr id="36" name="Text 34"/>
          <p:cNvSpPr txBox="1"/>
          <p:nvPr/>
        </p:nvSpPr>
        <p:spPr>
          <a:xfrm>
            <a:off x="749808" y="5385816"/>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280160" y="5266944"/>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A voice note</a:t>
            </a:r>
            <a:endParaRPr lang="en-US" sz="1500" dirty="0"/>
          </a:p>
        </p:txBody>
      </p:sp>
      <p:sp>
        <p:nvSpPr>
          <p:cNvPr id="38" name="Text 36"/>
          <p:cNvSpPr txBox="1"/>
          <p:nvPr/>
        </p:nvSpPr>
        <p:spPr>
          <a:xfrm>
            <a:off x="1280160" y="5596128"/>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Transcribed, summarised, action items pulled out, original retained.</a:t>
            </a:r>
            <a:endParaRPr lang="en-US" sz="1150" dirty="0"/>
          </a:p>
        </p:txBody>
      </p:sp>
      <p:sp>
        <p:nvSpPr>
          <p:cNvPr id="39" name="Shape 37"/>
          <p:cNvSpPr/>
          <p:nvPr/>
        </p:nvSpPr>
        <p:spPr>
          <a:xfrm>
            <a:off x="6217920" y="5111496"/>
            <a:ext cx="5349240" cy="960120"/>
          </a:xfrm>
          <a:prstGeom prst="roundRect">
            <a:avLst>
              <a:gd name="adj" fmla="val 11429"/>
            </a:avLst>
          </a:prstGeom>
          <a:solidFill>
            <a:srgbClr val="1F2530"/>
          </a:solidFill>
          <a:ln w="12700">
            <a:solidFill>
              <a:srgbClr val="1F2530"/>
            </a:solidFill>
            <a:prstDash val="solid"/>
          </a:ln>
        </p:spPr>
      </p:sp>
      <p:sp>
        <p:nvSpPr>
          <p:cNvPr id="40" name="Shape 38"/>
          <p:cNvSpPr/>
          <p:nvPr/>
        </p:nvSpPr>
        <p:spPr>
          <a:xfrm>
            <a:off x="6419088" y="5385816"/>
            <a:ext cx="384048" cy="384048"/>
          </a:xfrm>
          <a:prstGeom prst="ellipse">
            <a:avLst/>
          </a:prstGeom>
          <a:solidFill>
            <a:srgbClr val="E9A23B"/>
          </a:solidFill>
          <a:ln w="12700">
            <a:solidFill>
              <a:srgbClr val="E9A23B"/>
            </a:solidFill>
            <a:prstDash val="solid"/>
          </a:ln>
        </p:spPr>
      </p:sp>
      <p:sp>
        <p:nvSpPr>
          <p:cNvPr id="41" name="Text 39"/>
          <p:cNvSpPr txBox="1"/>
          <p:nvPr/>
        </p:nvSpPr>
        <p:spPr>
          <a:xfrm>
            <a:off x="6419088" y="5385816"/>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6949440" y="5266944"/>
            <a:ext cx="4434840" cy="320040"/>
          </a:xfrm>
          <a:prstGeom prst="rect">
            <a:avLst/>
          </a:prstGeom>
          <a:noFill/>
          <a:ln/>
        </p:spPr>
        <p:txBody>
          <a:bodyPr wrap="square" lIns="0" tIns="0" rIns="0" bIns="0" rtlCol="0" anchor="t"/>
          <a:lstStyle/>
          <a:p>
            <a:pPr algn="l" indent="0" marL="0">
              <a:lnSpc>
                <a:spcPct val="110000"/>
              </a:lnSpc>
              <a:buNone/>
            </a:pPr>
            <a:r>
              <a:rPr lang="en-US" sz="1500" b="1" dirty="0">
                <a:solidFill>
                  <a:srgbClr val="FFFFFF"/>
                </a:solidFill>
                <a:latin typeface="Calibri" pitchFamily="34" charset="0"/>
                <a:ea typeface="Calibri" pitchFamily="34" charset="-122"/>
                <a:cs typeface="Calibri" pitchFamily="34" charset="-120"/>
              </a:rPr>
              <a:t>Edit, then delete, from the card</a:t>
            </a:r>
            <a:endParaRPr lang="en-US" sz="1500" dirty="0"/>
          </a:p>
        </p:txBody>
      </p:sp>
      <p:sp>
        <p:nvSpPr>
          <p:cNvPr id="43" name="Text 41"/>
          <p:cNvSpPr txBox="1"/>
          <p:nvPr/>
        </p:nvSpPr>
        <p:spPr>
          <a:xfrm>
            <a:off x="6949440" y="5596128"/>
            <a:ext cx="4434840" cy="45720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CRUD from the buttons. Delete cascades.</a:t>
            </a:r>
            <a:endParaRPr lang="en-US" sz="1150" dirty="0"/>
          </a:p>
        </p:txBody>
      </p:sp>
      <p:sp>
        <p:nvSpPr>
          <p:cNvPr id="44" name="Text 42"/>
          <p:cNvSpPr txBox="1"/>
          <p:nvPr/>
        </p:nvSpPr>
        <p:spPr>
          <a:xfrm>
            <a:off x="548640" y="6263640"/>
            <a:ext cx="10972800" cy="274320"/>
          </a:xfrm>
          <a:prstGeom prst="rect">
            <a:avLst/>
          </a:prstGeom>
          <a:noFill/>
          <a:ln/>
        </p:spPr>
        <p:txBody>
          <a:bodyPr wrap="square" lIns="0" tIns="0" rIns="0" bIns="0" rtlCol="0" anchor="t"/>
          <a:lstStyle/>
          <a:p>
            <a:pPr algn="l" indent="0" marL="0">
              <a:lnSpc>
                <a:spcPct val="110000"/>
              </a:lnSpc>
              <a:buNone/>
            </a:pPr>
            <a:r>
              <a:rPr lang="en-US" sz="1100" i="1" dirty="0">
                <a:solidFill>
                  <a:srgbClr val="8A93A3"/>
                </a:solidFill>
                <a:latin typeface="Calibri" pitchFamily="34" charset="0"/>
                <a:ea typeface="Calibri" pitchFamily="34" charset="-122"/>
                <a:cs typeface="Calibri" pitchFamily="34" charset="-120"/>
              </a:rPr>
              <a:t>Bot in Azure Web Chat on Vishal's laptop.  Dashboard on the projector.  Real Claude, real Deepgram, nothing pre-recorded.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LIVE DEMO  ·  THE NUMBERS</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What each action costs, measured from response.usage</a:t>
            </a:r>
            <a:endParaRPr lang="en-US" sz="3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6583680" cy="914400"/>
        </p:xfrm>
        <a:graphic>
          <a:graphicData uri="http://schemas.openxmlformats.org/drawingml/2006/table">
            <a:tbl>
              <a:tblPr/>
              <a:tblGrid>
                <a:gridCol w="2103120"/>
                <a:gridCol w="2103120"/>
                <a:gridCol w="1371600"/>
                <a:gridCol w="100584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Input mode</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Model</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Cost per action</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Latency</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r>
              <a:tr h="45720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Shared contact (.vcf)</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none</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$0.000000</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 ms</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r h="45720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Free text</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Sonnet 5, low effort</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$0.0019 – 0.0029</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2.4 – 3.0 s</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Business card photo</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Opus 5, default effort</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$0.009 – 0.011</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3.6 – 5 s</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r h="457200">
                <a:tc>
                  <a:txBody>
                    <a:bodyPr/>
                    <a:lstStyle/>
                    <a:p>
                      <a:pPr indent="0" marL="0">
                        <a:buNone/>
                      </a:pPr>
                      <a:r>
                        <a:rPr lang="en-US" sz="1300" b="1" dirty="0">
                          <a:solidFill>
                            <a:srgbClr val="1F2937"/>
                          </a:solidFill>
                          <a:latin typeface="Calibri" pitchFamily="34" charset="0"/>
                          <a:ea typeface="Calibri" pitchFamily="34" charset="-122"/>
                          <a:cs typeface="Calibri" pitchFamily="34" charset="-120"/>
                        </a:rPr>
                        <a:t>Voice note</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Deepgram Nova-3 + Sonnet 5</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$0.0034</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300" dirty="0">
                          <a:solidFill>
                            <a:srgbClr val="1F2937"/>
                          </a:solidFill>
                          <a:latin typeface="Calibri" pitchFamily="34" charset="0"/>
                          <a:ea typeface="Calibri" pitchFamily="34" charset="-122"/>
                          <a:cs typeface="Calibri" pitchFamily="34" charset="-120"/>
                        </a:rPr>
                        <a:t>~6 s</a:t>
                      </a:r>
                      <a:endParaRPr lang="en-US" sz="13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48640" y="4160520"/>
            <a:ext cx="6583680" cy="82296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Voice note splits as STT $0.0015 + LLM $0.0019. Rates verified against the pricing pages on 12 Sep 2026: Sonnet 5 $2 / $10 per MTok, Opus 5 $5 / $25, Deepgram $0.0043 per minute. Rates live in ledger.py and nowhere else.</a:t>
            </a:r>
            <a:endParaRPr lang="en-US" sz="1150" dirty="0"/>
          </a:p>
        </p:txBody>
      </p:sp>
      <p:graphicFrame>
        <p:nvGraphicFramePr>
          <p:cNvPr id="6" name="Chart 0" descr=""/>
          <p:cNvGraphicFramePr/>
          <p:nvPr/>
        </p:nvGraphicFramePr>
        <p:xfrm>
          <a:off x="7452360" y="1691640"/>
          <a:ext cx="4206240" cy="32918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txBox="1"/>
          <p:nvPr/>
        </p:nvSpPr>
        <p:spPr>
          <a:xfrm>
            <a:off x="548640" y="5074920"/>
            <a:ext cx="182880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AT SCALE</a:t>
            </a:r>
            <a:endParaRPr lang="en-US" sz="1100" dirty="0"/>
          </a:p>
        </p:txBody>
      </p:sp>
      <p:sp>
        <p:nvSpPr>
          <p:cNvPr id="8" name="Text 4"/>
          <p:cNvSpPr txBox="1"/>
          <p:nvPr/>
        </p:nvSpPr>
        <p:spPr>
          <a:xfrm>
            <a:off x="548640" y="5349240"/>
            <a:ext cx="1554480" cy="457200"/>
          </a:xfrm>
          <a:prstGeom prst="rect">
            <a:avLst/>
          </a:prstGeom>
          <a:noFill/>
          <a:ln/>
        </p:spPr>
        <p:txBody>
          <a:bodyPr wrap="square" lIns="0" tIns="0" rIns="0" bIns="0" rtlCol="0" anchor="t"/>
          <a:lstStyle/>
          <a:p>
            <a:pPr algn="l" indent="0" marL="0">
              <a:lnSpc>
                <a:spcPct val="110000"/>
              </a:lnSpc>
              <a:buNone/>
            </a:pPr>
            <a:r>
              <a:rPr lang="en-US" sz="2400" b="1" dirty="0">
                <a:solidFill>
                  <a:srgbClr val="1F2937"/>
                </a:solidFill>
                <a:latin typeface="Calibri" pitchFamily="34" charset="0"/>
                <a:ea typeface="Calibri" pitchFamily="34" charset="-122"/>
                <a:cs typeface="Calibri" pitchFamily="34" charset="-120"/>
              </a:rPr>
              <a:t>$0.06</a:t>
            </a:r>
            <a:endParaRPr lang="en-US" sz="2400" dirty="0"/>
          </a:p>
        </p:txBody>
      </p:sp>
      <p:sp>
        <p:nvSpPr>
          <p:cNvPr id="9" name="Text 5"/>
          <p:cNvSpPr txBox="1"/>
          <p:nvPr/>
        </p:nvSpPr>
        <p:spPr>
          <a:xfrm>
            <a:off x="548640" y="5806440"/>
            <a:ext cx="1554480" cy="2743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10 / day</a:t>
            </a:r>
            <a:endParaRPr lang="en-US" sz="1100" dirty="0"/>
          </a:p>
        </p:txBody>
      </p:sp>
      <p:sp>
        <p:nvSpPr>
          <p:cNvPr id="10" name="Text 6"/>
          <p:cNvSpPr txBox="1"/>
          <p:nvPr/>
        </p:nvSpPr>
        <p:spPr>
          <a:xfrm>
            <a:off x="2240280" y="5349240"/>
            <a:ext cx="1554480" cy="457200"/>
          </a:xfrm>
          <a:prstGeom prst="rect">
            <a:avLst/>
          </a:prstGeom>
          <a:noFill/>
          <a:ln/>
        </p:spPr>
        <p:txBody>
          <a:bodyPr wrap="square" lIns="0" tIns="0" rIns="0" bIns="0" rtlCol="0" anchor="t"/>
          <a:lstStyle/>
          <a:p>
            <a:pPr algn="l" indent="0" marL="0">
              <a:lnSpc>
                <a:spcPct val="110000"/>
              </a:lnSpc>
              <a:buNone/>
            </a:pPr>
            <a:r>
              <a:rPr lang="en-US" sz="2400" b="1" dirty="0">
                <a:solidFill>
                  <a:srgbClr val="1F2937"/>
                </a:solidFill>
                <a:latin typeface="Calibri" pitchFamily="34" charset="0"/>
                <a:ea typeface="Calibri" pitchFamily="34" charset="-122"/>
                <a:cs typeface="Calibri" pitchFamily="34" charset="-120"/>
              </a:rPr>
              <a:t>$0.57</a:t>
            </a:r>
            <a:endParaRPr lang="en-US" sz="2400" dirty="0"/>
          </a:p>
        </p:txBody>
      </p:sp>
      <p:sp>
        <p:nvSpPr>
          <p:cNvPr id="11" name="Text 7"/>
          <p:cNvSpPr txBox="1"/>
          <p:nvPr/>
        </p:nvSpPr>
        <p:spPr>
          <a:xfrm>
            <a:off x="2240280" y="5806440"/>
            <a:ext cx="1554480" cy="2743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100 / day</a:t>
            </a:r>
            <a:endParaRPr lang="en-US" sz="1100" dirty="0"/>
          </a:p>
        </p:txBody>
      </p:sp>
      <p:sp>
        <p:nvSpPr>
          <p:cNvPr id="12" name="Text 8"/>
          <p:cNvSpPr txBox="1"/>
          <p:nvPr/>
        </p:nvSpPr>
        <p:spPr>
          <a:xfrm>
            <a:off x="3931920" y="5349240"/>
            <a:ext cx="1554480" cy="457200"/>
          </a:xfrm>
          <a:prstGeom prst="rect">
            <a:avLst/>
          </a:prstGeom>
          <a:noFill/>
          <a:ln/>
        </p:spPr>
        <p:txBody>
          <a:bodyPr wrap="square" lIns="0" tIns="0" rIns="0" bIns="0" rtlCol="0" anchor="t"/>
          <a:lstStyle/>
          <a:p>
            <a:pPr algn="l" indent="0" marL="0">
              <a:lnSpc>
                <a:spcPct val="110000"/>
              </a:lnSpc>
              <a:buNone/>
            </a:pPr>
            <a:r>
              <a:rPr lang="en-US" sz="2400" b="1" dirty="0">
                <a:solidFill>
                  <a:srgbClr val="1F2937"/>
                </a:solidFill>
                <a:latin typeface="Calibri" pitchFamily="34" charset="0"/>
                <a:ea typeface="Calibri" pitchFamily="34" charset="-122"/>
                <a:cs typeface="Calibri" pitchFamily="34" charset="-120"/>
              </a:rPr>
              <a:t>$5.70</a:t>
            </a:r>
            <a:endParaRPr lang="en-US" sz="2400" dirty="0"/>
          </a:p>
        </p:txBody>
      </p:sp>
      <p:sp>
        <p:nvSpPr>
          <p:cNvPr id="13" name="Text 9"/>
          <p:cNvSpPr txBox="1"/>
          <p:nvPr/>
        </p:nvSpPr>
        <p:spPr>
          <a:xfrm>
            <a:off x="3931920" y="5806440"/>
            <a:ext cx="1554480" cy="2743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1,000 / day</a:t>
            </a:r>
            <a:endParaRPr lang="en-US" sz="1100" dirty="0"/>
          </a:p>
        </p:txBody>
      </p:sp>
      <p:sp>
        <p:nvSpPr>
          <p:cNvPr id="14" name="Text 10"/>
          <p:cNvSpPr txBox="1"/>
          <p:nvPr/>
        </p:nvSpPr>
        <p:spPr>
          <a:xfrm>
            <a:off x="5623560" y="5349240"/>
            <a:ext cx="1554480" cy="457200"/>
          </a:xfrm>
          <a:prstGeom prst="rect">
            <a:avLst/>
          </a:prstGeom>
          <a:noFill/>
          <a:ln/>
        </p:spPr>
        <p:txBody>
          <a:bodyPr wrap="square" lIns="0" tIns="0" rIns="0" bIns="0" rtlCol="0" anchor="t"/>
          <a:lstStyle/>
          <a:p>
            <a:pPr algn="l" indent="0" marL="0">
              <a:lnSpc>
                <a:spcPct val="110000"/>
              </a:lnSpc>
              <a:buNone/>
            </a:pPr>
            <a:r>
              <a:rPr lang="en-US" sz="2400" b="1" dirty="0">
                <a:solidFill>
                  <a:srgbClr val="1F2937"/>
                </a:solidFill>
                <a:latin typeface="Calibri" pitchFamily="34" charset="0"/>
                <a:ea typeface="Calibri" pitchFamily="34" charset="-122"/>
                <a:cs typeface="Calibri" pitchFamily="34" charset="-120"/>
              </a:rPr>
              <a:t>$57</a:t>
            </a:r>
            <a:endParaRPr lang="en-US" sz="2400" dirty="0"/>
          </a:p>
        </p:txBody>
      </p:sp>
      <p:sp>
        <p:nvSpPr>
          <p:cNvPr id="15" name="Text 11"/>
          <p:cNvSpPr txBox="1"/>
          <p:nvPr/>
        </p:nvSpPr>
        <p:spPr>
          <a:xfrm>
            <a:off x="5623560" y="5806440"/>
            <a:ext cx="1554480" cy="2743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10,000 / day</a:t>
            </a:r>
            <a:endParaRPr lang="en-US" sz="1100" dirty="0"/>
          </a:p>
        </p:txBody>
      </p:sp>
      <p:sp>
        <p:nvSpPr>
          <p:cNvPr id="16" name="Text 12"/>
          <p:cNvSpPr txBox="1"/>
          <p:nvPr/>
        </p:nvSpPr>
        <p:spPr>
          <a:xfrm>
            <a:off x="7452360" y="5212080"/>
            <a:ext cx="4206240" cy="868680"/>
          </a:xfrm>
          <a:prstGeom prst="rect">
            <a:avLst/>
          </a:prstGeom>
          <a:noFill/>
          <a:ln/>
        </p:spPr>
        <p:txBody>
          <a:bodyPr wrap="square" lIns="0" tIns="0" rIns="0" bIns="0" rtlCol="0" anchor="t"/>
          <a:lstStyle/>
          <a:p>
            <a:pPr algn="l" indent="0" marL="0">
              <a:lnSpc>
                <a:spcPct val="110000"/>
              </a:lnSpc>
              <a:buNone/>
            </a:pPr>
            <a:r>
              <a:rPr lang="en-US" sz="1050" i="1" dirty="0">
                <a:solidFill>
                  <a:srgbClr val="6B7280"/>
                </a:solidFill>
                <a:latin typeface="Calibri" pitchFamily="34" charset="0"/>
                <a:ea typeface="Calibri" pitchFamily="34" charset="-122"/>
                <a:cs typeface="Calibri" pitchFamily="34" charset="-120"/>
              </a:rPr>
              <a:t>Daily model spend at a blended cost per lead. Paid per-token pricing is what makes this table possible; a free tier would make it "zero", which cannot be extrapolated.</a:t>
            </a:r>
            <a:endParaRPr lang="en-US" sz="1050" dirty="0"/>
          </a:p>
        </p:txBody>
      </p:sp>
      <p:sp>
        <p:nvSpPr>
          <p:cNvPr id="17" name="Text 1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ARCHITECTURE + CODE  ·  4 MIN</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A deterministic pipeline, not an agent</a:t>
            </a:r>
            <a:endParaRPr lang="en-US" sz="3400" dirty="0"/>
          </a:p>
        </p:txBody>
      </p:sp>
      <p:sp>
        <p:nvSpPr>
          <p:cNvPr id="4" name="Shape 2"/>
          <p:cNvSpPr/>
          <p:nvPr/>
        </p:nvSpPr>
        <p:spPr>
          <a:xfrm>
            <a:off x="548640" y="1874520"/>
            <a:ext cx="1600200" cy="640080"/>
          </a:xfrm>
          <a:prstGeom prst="roundRect">
            <a:avLst>
              <a:gd name="adj" fmla="val 14286"/>
            </a:avLst>
          </a:prstGeom>
          <a:solidFill>
            <a:srgbClr val="F3F4F6"/>
          </a:solidFill>
          <a:ln w="12700">
            <a:solidFill>
              <a:srgbClr val="E9EBEF"/>
            </a:solidFill>
            <a:prstDash val="solid"/>
          </a:ln>
        </p:spPr>
      </p:sp>
      <p:sp>
        <p:nvSpPr>
          <p:cNvPr id="5" name="Text 3"/>
          <p:cNvSpPr txBox="1"/>
          <p:nvPr/>
        </p:nvSpPr>
        <p:spPr>
          <a:xfrm>
            <a:off x="548640" y="1874520"/>
            <a:ext cx="1600200" cy="640080"/>
          </a:xfrm>
          <a:prstGeom prst="rect">
            <a:avLst/>
          </a:prstGeom>
          <a:noFill/>
          <a:ln/>
        </p:spPr>
        <p:txBody>
          <a:bodyPr wrap="square" lIns="635" tIns="635" rIns="635" bIns="635"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Teams / Web Chat</a:t>
            </a:r>
            <a:endParaRPr lang="en-US" sz="1150" dirty="0"/>
          </a:p>
        </p:txBody>
      </p:sp>
      <p:sp>
        <p:nvSpPr>
          <p:cNvPr id="6" name="Shape 4"/>
          <p:cNvSpPr/>
          <p:nvPr/>
        </p:nvSpPr>
        <p:spPr>
          <a:xfrm>
            <a:off x="2148840" y="2194560"/>
            <a:ext cx="274320" cy="0"/>
          </a:xfrm>
          <a:prstGeom prst="line">
            <a:avLst/>
          </a:prstGeom>
          <a:noFill/>
          <a:ln w="19050">
            <a:solidFill>
              <a:srgbClr val="6B7280"/>
            </a:solidFill>
            <a:prstDash val="solid"/>
            <a:tailEnd type="triangle"/>
          </a:ln>
        </p:spPr>
      </p:sp>
      <p:sp>
        <p:nvSpPr>
          <p:cNvPr id="7" name="Shape 5"/>
          <p:cNvSpPr/>
          <p:nvPr/>
        </p:nvSpPr>
        <p:spPr>
          <a:xfrm>
            <a:off x="2423160" y="1874520"/>
            <a:ext cx="1737360" cy="640080"/>
          </a:xfrm>
          <a:prstGeom prst="roundRect">
            <a:avLst>
              <a:gd name="adj" fmla="val 14286"/>
            </a:avLst>
          </a:prstGeom>
          <a:solidFill>
            <a:srgbClr val="F3F4F6"/>
          </a:solidFill>
          <a:ln w="12700">
            <a:solidFill>
              <a:srgbClr val="E9EBEF"/>
            </a:solidFill>
            <a:prstDash val="solid"/>
          </a:ln>
        </p:spPr>
      </p:sp>
      <p:sp>
        <p:nvSpPr>
          <p:cNvPr id="8" name="Text 6"/>
          <p:cNvSpPr txBox="1"/>
          <p:nvPr/>
        </p:nvSpPr>
        <p:spPr>
          <a:xfrm>
            <a:off x="2423160" y="1874520"/>
            <a:ext cx="1737360" cy="640080"/>
          </a:xfrm>
          <a:prstGeom prst="rect">
            <a:avLst/>
          </a:prstGeom>
          <a:noFill/>
          <a:ln/>
        </p:spPr>
        <p:txBody>
          <a:bodyPr wrap="square" lIns="635" tIns="635" rIns="635" bIns="635"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channels/teams.py</a:t>
            </a:r>
            <a:endParaRPr lang="en-US" sz="1150" dirty="0"/>
          </a:p>
          <a:p>
            <a:pPr algn="ctr" indent="0" marL="0">
              <a:buNone/>
            </a:pPr>
            <a:r>
              <a:rPr lang="en-US" sz="1150" dirty="0">
                <a:solidFill>
                  <a:srgbClr val="1F2937"/>
                </a:solidFill>
                <a:latin typeface="Calibri" pitchFamily="34" charset="0"/>
                <a:ea typeface="Calibri" pitchFamily="34" charset="-122"/>
                <a:cs typeface="Calibri" pitchFamily="34" charset="-120"/>
              </a:rPr>
              <a:t>bytes only</a:t>
            </a:r>
            <a:endParaRPr lang="en-US" sz="1150" dirty="0"/>
          </a:p>
        </p:txBody>
      </p:sp>
      <p:sp>
        <p:nvSpPr>
          <p:cNvPr id="9" name="Shape 7"/>
          <p:cNvSpPr/>
          <p:nvPr/>
        </p:nvSpPr>
        <p:spPr>
          <a:xfrm>
            <a:off x="4160520" y="2194560"/>
            <a:ext cx="274320" cy="0"/>
          </a:xfrm>
          <a:prstGeom prst="line">
            <a:avLst/>
          </a:prstGeom>
          <a:noFill/>
          <a:ln w="19050">
            <a:solidFill>
              <a:srgbClr val="6B7280"/>
            </a:solidFill>
            <a:prstDash val="solid"/>
            <a:tailEnd type="triangle"/>
          </a:ln>
        </p:spPr>
      </p:sp>
      <p:sp>
        <p:nvSpPr>
          <p:cNvPr id="10" name="Shape 8"/>
          <p:cNvSpPr/>
          <p:nvPr/>
        </p:nvSpPr>
        <p:spPr>
          <a:xfrm>
            <a:off x="4434840" y="1874520"/>
            <a:ext cx="1417320" cy="640080"/>
          </a:xfrm>
          <a:prstGeom prst="roundRect">
            <a:avLst>
              <a:gd name="adj" fmla="val 14286"/>
            </a:avLst>
          </a:prstGeom>
          <a:solidFill>
            <a:srgbClr val="F3F4F6"/>
          </a:solidFill>
          <a:ln w="12700">
            <a:solidFill>
              <a:srgbClr val="E9EBEF"/>
            </a:solidFill>
            <a:prstDash val="solid"/>
          </a:ln>
        </p:spPr>
      </p:sp>
      <p:sp>
        <p:nvSpPr>
          <p:cNvPr id="11" name="Text 9"/>
          <p:cNvSpPr txBox="1"/>
          <p:nvPr/>
        </p:nvSpPr>
        <p:spPr>
          <a:xfrm>
            <a:off x="4434840" y="1874520"/>
            <a:ext cx="1417320" cy="640080"/>
          </a:xfrm>
          <a:prstGeom prst="rect">
            <a:avLst/>
          </a:prstGeom>
          <a:noFill/>
          <a:ln/>
        </p:spPr>
        <p:txBody>
          <a:bodyPr wrap="square" lIns="635" tIns="635" rIns="635" bIns="635"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InboundEvent</a:t>
            </a:r>
            <a:endParaRPr lang="en-US" sz="1150" dirty="0"/>
          </a:p>
        </p:txBody>
      </p:sp>
      <p:sp>
        <p:nvSpPr>
          <p:cNvPr id="12" name="Shape 10"/>
          <p:cNvSpPr/>
          <p:nvPr/>
        </p:nvSpPr>
        <p:spPr>
          <a:xfrm>
            <a:off x="5852160" y="2194560"/>
            <a:ext cx="274320" cy="0"/>
          </a:xfrm>
          <a:prstGeom prst="line">
            <a:avLst/>
          </a:prstGeom>
          <a:noFill/>
          <a:ln w="19050">
            <a:solidFill>
              <a:srgbClr val="6B7280"/>
            </a:solidFill>
            <a:prstDash val="solid"/>
            <a:tailEnd type="triangle"/>
          </a:ln>
        </p:spPr>
      </p:sp>
      <p:sp>
        <p:nvSpPr>
          <p:cNvPr id="13" name="Shape 11"/>
          <p:cNvSpPr/>
          <p:nvPr/>
        </p:nvSpPr>
        <p:spPr>
          <a:xfrm>
            <a:off x="6126480" y="1874520"/>
            <a:ext cx="2011680" cy="640080"/>
          </a:xfrm>
          <a:prstGeom prst="roundRect">
            <a:avLst>
              <a:gd name="adj" fmla="val 14286"/>
            </a:avLst>
          </a:prstGeom>
          <a:solidFill>
            <a:srgbClr val="14181F"/>
          </a:solidFill>
          <a:ln w="12700">
            <a:solidFill>
              <a:srgbClr val="14181F"/>
            </a:solidFill>
            <a:prstDash val="solid"/>
          </a:ln>
        </p:spPr>
      </p:sp>
      <p:sp>
        <p:nvSpPr>
          <p:cNvPr id="14" name="Text 12"/>
          <p:cNvSpPr txBox="1"/>
          <p:nvPr/>
        </p:nvSpPr>
        <p:spPr>
          <a:xfrm>
            <a:off x="6126480" y="1874520"/>
            <a:ext cx="2011680" cy="640080"/>
          </a:xfrm>
          <a:prstGeom prst="rect">
            <a:avLst/>
          </a:prstGeom>
          <a:noFill/>
          <a:ln/>
        </p:spPr>
        <p:txBody>
          <a:bodyPr wrap="square" lIns="635" tIns="635" rIns="635" bIns="635"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pipeline.handle()</a:t>
            </a:r>
            <a:endParaRPr lang="en-US" sz="1150" dirty="0"/>
          </a:p>
          <a:p>
            <a:pPr algn="ctr" indent="0" marL="0">
              <a:buNone/>
            </a:pPr>
            <a:r>
              <a:rPr lang="en-US" sz="1150" b="1" dirty="0">
                <a:solidFill>
                  <a:srgbClr val="FFFFFF"/>
                </a:solidFill>
                <a:latin typeface="Calibri" pitchFamily="34" charset="0"/>
                <a:ea typeface="Calibri" pitchFamily="34" charset="-122"/>
                <a:cs typeface="Calibri" pitchFamily="34" charset="-120"/>
              </a:rPr>
              <a:t>router · retry · abstain</a:t>
            </a:r>
            <a:endParaRPr lang="en-US" sz="1150" dirty="0"/>
          </a:p>
        </p:txBody>
      </p:sp>
      <p:sp>
        <p:nvSpPr>
          <p:cNvPr id="15" name="Shape 13"/>
          <p:cNvSpPr/>
          <p:nvPr/>
        </p:nvSpPr>
        <p:spPr>
          <a:xfrm>
            <a:off x="8138160" y="2194560"/>
            <a:ext cx="274320" cy="0"/>
          </a:xfrm>
          <a:prstGeom prst="line">
            <a:avLst/>
          </a:prstGeom>
          <a:noFill/>
          <a:ln w="19050">
            <a:solidFill>
              <a:srgbClr val="6B7280"/>
            </a:solidFill>
            <a:prstDash val="solid"/>
            <a:tailEnd type="triangle"/>
          </a:ln>
        </p:spPr>
      </p:sp>
      <p:sp>
        <p:nvSpPr>
          <p:cNvPr id="16" name="Shape 14"/>
          <p:cNvSpPr/>
          <p:nvPr/>
        </p:nvSpPr>
        <p:spPr>
          <a:xfrm>
            <a:off x="8412480" y="1874520"/>
            <a:ext cx="1417320" cy="640080"/>
          </a:xfrm>
          <a:prstGeom prst="roundRect">
            <a:avLst>
              <a:gd name="adj" fmla="val 14286"/>
            </a:avLst>
          </a:prstGeom>
          <a:solidFill>
            <a:srgbClr val="F3F4F6"/>
          </a:solidFill>
          <a:ln w="12700">
            <a:solidFill>
              <a:srgbClr val="E9EBEF"/>
            </a:solidFill>
            <a:prstDash val="solid"/>
          </a:ln>
        </p:spPr>
      </p:sp>
      <p:sp>
        <p:nvSpPr>
          <p:cNvPr id="17" name="Text 15"/>
          <p:cNvSpPr txBox="1"/>
          <p:nvPr/>
        </p:nvSpPr>
        <p:spPr>
          <a:xfrm>
            <a:off x="8412480" y="1874520"/>
            <a:ext cx="1417320" cy="640080"/>
          </a:xfrm>
          <a:prstGeom prst="rect">
            <a:avLst/>
          </a:prstGeom>
          <a:noFill/>
          <a:ln/>
        </p:spPr>
        <p:txBody>
          <a:bodyPr wrap="square" lIns="635" tIns="635" rIns="635" bIns="635"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PipelineResult</a:t>
            </a:r>
            <a:endParaRPr lang="en-US" sz="1150" dirty="0"/>
          </a:p>
        </p:txBody>
      </p:sp>
      <p:sp>
        <p:nvSpPr>
          <p:cNvPr id="18" name="Shape 16"/>
          <p:cNvSpPr/>
          <p:nvPr/>
        </p:nvSpPr>
        <p:spPr>
          <a:xfrm>
            <a:off x="9829800" y="2194560"/>
            <a:ext cx="274320" cy="0"/>
          </a:xfrm>
          <a:prstGeom prst="line">
            <a:avLst/>
          </a:prstGeom>
          <a:noFill/>
          <a:ln w="19050">
            <a:solidFill>
              <a:srgbClr val="6B7280"/>
            </a:solidFill>
            <a:prstDash val="solid"/>
            <a:tailEnd type="triangle"/>
          </a:ln>
        </p:spPr>
      </p:sp>
      <p:sp>
        <p:nvSpPr>
          <p:cNvPr id="19" name="Shape 17"/>
          <p:cNvSpPr/>
          <p:nvPr/>
        </p:nvSpPr>
        <p:spPr>
          <a:xfrm>
            <a:off x="10104120" y="1874520"/>
            <a:ext cx="1463040" cy="640080"/>
          </a:xfrm>
          <a:prstGeom prst="roundRect">
            <a:avLst>
              <a:gd name="adj" fmla="val 14286"/>
            </a:avLst>
          </a:prstGeom>
          <a:solidFill>
            <a:srgbClr val="F3F4F6"/>
          </a:solidFill>
          <a:ln w="12700">
            <a:solidFill>
              <a:srgbClr val="E9EBEF"/>
            </a:solidFill>
            <a:prstDash val="solid"/>
          </a:ln>
        </p:spPr>
      </p:sp>
      <p:sp>
        <p:nvSpPr>
          <p:cNvPr id="20" name="Text 18"/>
          <p:cNvSpPr txBox="1"/>
          <p:nvPr/>
        </p:nvSpPr>
        <p:spPr>
          <a:xfrm>
            <a:off x="10104120" y="1874520"/>
            <a:ext cx="1463040" cy="640080"/>
          </a:xfrm>
          <a:prstGeom prst="rect">
            <a:avLst/>
          </a:prstGeom>
          <a:noFill/>
          <a:ln/>
        </p:spPr>
        <p:txBody>
          <a:bodyPr wrap="square" lIns="635" tIns="635" rIns="635" bIns="635" rtlCol="0" anchor="ctr"/>
          <a:lstStyle/>
          <a:p>
            <a:pPr algn="ctr" indent="0" marL="0">
              <a:buNone/>
            </a:pPr>
            <a:r>
              <a:rPr lang="en-US" sz="1150" dirty="0">
                <a:solidFill>
                  <a:srgbClr val="1F2937"/>
                </a:solidFill>
                <a:latin typeface="Calibri" pitchFamily="34" charset="0"/>
                <a:ea typeface="Calibri" pitchFamily="34" charset="-122"/>
                <a:cs typeface="Calibri" pitchFamily="34" charset="-120"/>
              </a:rPr>
              <a:t>Adaptive Card</a:t>
            </a:r>
            <a:endParaRPr lang="en-US" sz="1150" dirty="0"/>
          </a:p>
        </p:txBody>
      </p:sp>
      <p:sp>
        <p:nvSpPr>
          <p:cNvPr id="21" name="Shape 19"/>
          <p:cNvSpPr/>
          <p:nvPr/>
        </p:nvSpPr>
        <p:spPr>
          <a:xfrm>
            <a:off x="7132320" y="2514600"/>
            <a:ext cx="0" cy="320040"/>
          </a:xfrm>
          <a:prstGeom prst="line">
            <a:avLst/>
          </a:prstGeom>
          <a:noFill/>
          <a:ln w="19050">
            <a:solidFill>
              <a:srgbClr val="6B7280"/>
            </a:solidFill>
            <a:prstDash val="solid"/>
          </a:ln>
        </p:spPr>
      </p:sp>
      <p:sp>
        <p:nvSpPr>
          <p:cNvPr id="22" name="Shape 20"/>
          <p:cNvSpPr/>
          <p:nvPr/>
        </p:nvSpPr>
        <p:spPr>
          <a:xfrm>
            <a:off x="5349240" y="2834640"/>
            <a:ext cx="3566160" cy="0"/>
          </a:xfrm>
          <a:prstGeom prst="line">
            <a:avLst/>
          </a:prstGeom>
          <a:noFill/>
          <a:ln w="19050">
            <a:solidFill>
              <a:srgbClr val="6B7280"/>
            </a:solidFill>
            <a:prstDash val="solid"/>
          </a:ln>
        </p:spPr>
      </p:sp>
      <p:sp>
        <p:nvSpPr>
          <p:cNvPr id="23" name="Shape 21"/>
          <p:cNvSpPr/>
          <p:nvPr/>
        </p:nvSpPr>
        <p:spPr>
          <a:xfrm>
            <a:off x="5349240" y="2834640"/>
            <a:ext cx="0" cy="182880"/>
          </a:xfrm>
          <a:prstGeom prst="line">
            <a:avLst/>
          </a:prstGeom>
          <a:noFill/>
          <a:ln w="19050">
            <a:solidFill>
              <a:srgbClr val="6B7280"/>
            </a:solidFill>
            <a:prstDash val="solid"/>
          </a:ln>
        </p:spPr>
      </p:sp>
      <p:sp>
        <p:nvSpPr>
          <p:cNvPr id="24" name="Shape 22"/>
          <p:cNvSpPr/>
          <p:nvPr/>
        </p:nvSpPr>
        <p:spPr>
          <a:xfrm>
            <a:off x="4549140" y="3017520"/>
            <a:ext cx="1600200" cy="777240"/>
          </a:xfrm>
          <a:prstGeom prst="roundRect">
            <a:avLst>
              <a:gd name="adj" fmla="val 14118"/>
            </a:avLst>
          </a:prstGeom>
          <a:solidFill>
            <a:srgbClr val="F3F4F6"/>
          </a:solidFill>
          <a:ln w="12700">
            <a:solidFill>
              <a:srgbClr val="F3F4F6"/>
            </a:solidFill>
            <a:prstDash val="solid"/>
          </a:ln>
        </p:spPr>
      </p:sp>
      <p:sp>
        <p:nvSpPr>
          <p:cNvPr id="25" name="Text 23"/>
          <p:cNvSpPr txBox="1"/>
          <p:nvPr/>
        </p:nvSpPr>
        <p:spPr>
          <a:xfrm>
            <a:off x="4640580" y="3063240"/>
            <a:ext cx="1417320" cy="274320"/>
          </a:xfrm>
          <a:prstGeom prst="rect">
            <a:avLst/>
          </a:prstGeom>
          <a:noFill/>
          <a:ln/>
        </p:spPr>
        <p:txBody>
          <a:bodyPr wrap="square" lIns="0" tIns="0" rIns="0" bIns="0" rtlCol="0" anchor="t"/>
          <a:lstStyle/>
          <a:p>
            <a:pPr algn="ctr" indent="0" marL="0">
              <a:lnSpc>
                <a:spcPct val="110000"/>
              </a:lnSpc>
              <a:buNone/>
            </a:pPr>
            <a:r>
              <a:rPr lang="en-US" sz="1200" b="1" dirty="0">
                <a:solidFill>
                  <a:srgbClr val="1F2937"/>
                </a:solidFill>
                <a:latin typeface="Calibri" pitchFamily="34" charset="0"/>
                <a:ea typeface="Calibri" pitchFamily="34" charset="-122"/>
                <a:cs typeface="Calibri" pitchFamily="34" charset="-120"/>
              </a:rPr>
              <a:t>extract.py</a:t>
            </a:r>
            <a:endParaRPr lang="en-US" sz="1200" dirty="0"/>
          </a:p>
        </p:txBody>
      </p:sp>
      <p:sp>
        <p:nvSpPr>
          <p:cNvPr id="26" name="Text 24"/>
          <p:cNvSpPr txBox="1"/>
          <p:nvPr/>
        </p:nvSpPr>
        <p:spPr>
          <a:xfrm>
            <a:off x="4640580" y="3319272"/>
            <a:ext cx="1417320" cy="457200"/>
          </a:xfrm>
          <a:prstGeom prst="rect">
            <a:avLst/>
          </a:prstGeom>
          <a:noFill/>
          <a:ln/>
        </p:spPr>
        <p:txBody>
          <a:bodyPr wrap="square" lIns="0" tIns="0" rIns="0" bIns="0" rtlCol="0" anchor="t"/>
          <a:lstStyle/>
          <a:p>
            <a:pPr algn="ctr" indent="0" marL="0">
              <a:lnSpc>
                <a:spcPct val="110000"/>
              </a:lnSpc>
              <a:buNone/>
            </a:pPr>
            <a:r>
              <a:rPr lang="en-US" sz="1000" dirty="0">
                <a:solidFill>
                  <a:srgbClr val="6B7280"/>
                </a:solidFill>
                <a:latin typeface="Calibri" pitchFamily="34" charset="0"/>
                <a:ea typeface="Calibri" pitchFamily="34" charset="-122"/>
                <a:cs typeface="Calibri" pitchFamily="34" charset="-120"/>
              </a:rPr>
              <a:t>messages.parse</a:t>
            </a:r>
            <a:endParaRPr lang="en-US" sz="1000" dirty="0"/>
          </a:p>
          <a:p>
            <a:pPr algn="ctr" indent="0" marL="0">
              <a:lnSpc>
                <a:spcPct val="110000"/>
              </a:lnSpc>
              <a:buNone/>
            </a:pPr>
            <a:r>
              <a:rPr lang="en-US" sz="1000" dirty="0">
                <a:solidFill>
                  <a:srgbClr val="6B7280"/>
                </a:solidFill>
                <a:latin typeface="Calibri" pitchFamily="34" charset="0"/>
                <a:ea typeface="Calibri" pitchFamily="34" charset="-122"/>
                <a:cs typeface="Calibri" pitchFamily="34" charset="-120"/>
              </a:rPr>
              <a:t>schema-validated</a:t>
            </a:r>
            <a:endParaRPr lang="en-US" sz="1000" dirty="0"/>
          </a:p>
        </p:txBody>
      </p:sp>
      <p:sp>
        <p:nvSpPr>
          <p:cNvPr id="27" name="Shape 25"/>
          <p:cNvSpPr/>
          <p:nvPr/>
        </p:nvSpPr>
        <p:spPr>
          <a:xfrm>
            <a:off x="7132320" y="2834640"/>
            <a:ext cx="0" cy="182880"/>
          </a:xfrm>
          <a:prstGeom prst="line">
            <a:avLst/>
          </a:prstGeom>
          <a:noFill/>
          <a:ln w="19050">
            <a:solidFill>
              <a:srgbClr val="6B7280"/>
            </a:solidFill>
            <a:prstDash val="solid"/>
          </a:ln>
        </p:spPr>
      </p:sp>
      <p:sp>
        <p:nvSpPr>
          <p:cNvPr id="28" name="Shape 26"/>
          <p:cNvSpPr/>
          <p:nvPr/>
        </p:nvSpPr>
        <p:spPr>
          <a:xfrm>
            <a:off x="6332220" y="3017520"/>
            <a:ext cx="1600200" cy="777240"/>
          </a:xfrm>
          <a:prstGeom prst="roundRect">
            <a:avLst>
              <a:gd name="adj" fmla="val 14118"/>
            </a:avLst>
          </a:prstGeom>
          <a:solidFill>
            <a:srgbClr val="F3F4F6"/>
          </a:solidFill>
          <a:ln w="12700">
            <a:solidFill>
              <a:srgbClr val="F3F4F6"/>
            </a:solidFill>
            <a:prstDash val="solid"/>
          </a:ln>
        </p:spPr>
      </p:sp>
      <p:sp>
        <p:nvSpPr>
          <p:cNvPr id="29" name="Text 27"/>
          <p:cNvSpPr txBox="1"/>
          <p:nvPr/>
        </p:nvSpPr>
        <p:spPr>
          <a:xfrm>
            <a:off x="6423660" y="3063240"/>
            <a:ext cx="1417320" cy="274320"/>
          </a:xfrm>
          <a:prstGeom prst="rect">
            <a:avLst/>
          </a:prstGeom>
          <a:noFill/>
          <a:ln/>
        </p:spPr>
        <p:txBody>
          <a:bodyPr wrap="square" lIns="0" tIns="0" rIns="0" bIns="0" rtlCol="0" anchor="t"/>
          <a:lstStyle/>
          <a:p>
            <a:pPr algn="ctr" indent="0" marL="0">
              <a:lnSpc>
                <a:spcPct val="110000"/>
              </a:lnSpc>
              <a:buNone/>
            </a:pPr>
            <a:r>
              <a:rPr lang="en-US" sz="1200" b="1" dirty="0">
                <a:solidFill>
                  <a:srgbClr val="1F2937"/>
                </a:solidFill>
                <a:latin typeface="Calibri" pitchFamily="34" charset="0"/>
                <a:ea typeface="Calibri" pitchFamily="34" charset="-122"/>
                <a:cs typeface="Calibri" pitchFamily="34" charset="-120"/>
              </a:rPr>
              <a:t>followup.py</a:t>
            </a:r>
            <a:endParaRPr lang="en-US" sz="1200" dirty="0"/>
          </a:p>
        </p:txBody>
      </p:sp>
      <p:sp>
        <p:nvSpPr>
          <p:cNvPr id="30" name="Text 28"/>
          <p:cNvSpPr txBox="1"/>
          <p:nvPr/>
        </p:nvSpPr>
        <p:spPr>
          <a:xfrm>
            <a:off x="6423660" y="3319272"/>
            <a:ext cx="1417320" cy="457200"/>
          </a:xfrm>
          <a:prstGeom prst="rect">
            <a:avLst/>
          </a:prstGeom>
          <a:noFill/>
          <a:ln/>
        </p:spPr>
        <p:txBody>
          <a:bodyPr wrap="square" lIns="0" tIns="0" rIns="0" bIns="0" rtlCol="0" anchor="t"/>
          <a:lstStyle/>
          <a:p>
            <a:pPr algn="ctr" indent="0" marL="0">
              <a:lnSpc>
                <a:spcPct val="110000"/>
              </a:lnSpc>
              <a:buNone/>
            </a:pPr>
            <a:r>
              <a:rPr lang="en-US" sz="1000" dirty="0">
                <a:solidFill>
                  <a:srgbClr val="6B7280"/>
                </a:solidFill>
                <a:latin typeface="Calibri" pitchFamily="34" charset="0"/>
                <a:ea typeface="Calibri" pitchFamily="34" charset="-122"/>
                <a:cs typeface="Calibri" pitchFamily="34" charset="-120"/>
              </a:rPr>
              <a:t>tri-state dates</a:t>
            </a:r>
            <a:endParaRPr lang="en-US" sz="1000" dirty="0"/>
          </a:p>
        </p:txBody>
      </p:sp>
      <p:sp>
        <p:nvSpPr>
          <p:cNvPr id="31" name="Shape 29"/>
          <p:cNvSpPr/>
          <p:nvPr/>
        </p:nvSpPr>
        <p:spPr>
          <a:xfrm>
            <a:off x="8915400" y="2834640"/>
            <a:ext cx="0" cy="182880"/>
          </a:xfrm>
          <a:prstGeom prst="line">
            <a:avLst/>
          </a:prstGeom>
          <a:noFill/>
          <a:ln w="19050">
            <a:solidFill>
              <a:srgbClr val="6B7280"/>
            </a:solidFill>
            <a:prstDash val="solid"/>
          </a:ln>
        </p:spPr>
      </p:sp>
      <p:sp>
        <p:nvSpPr>
          <p:cNvPr id="32" name="Shape 30"/>
          <p:cNvSpPr/>
          <p:nvPr/>
        </p:nvSpPr>
        <p:spPr>
          <a:xfrm>
            <a:off x="8115300" y="3017520"/>
            <a:ext cx="1600200" cy="777240"/>
          </a:xfrm>
          <a:prstGeom prst="roundRect">
            <a:avLst>
              <a:gd name="adj" fmla="val 14118"/>
            </a:avLst>
          </a:prstGeom>
          <a:solidFill>
            <a:srgbClr val="F3F4F6"/>
          </a:solidFill>
          <a:ln w="12700">
            <a:solidFill>
              <a:srgbClr val="F3F4F6"/>
            </a:solidFill>
            <a:prstDash val="solid"/>
          </a:ln>
        </p:spPr>
      </p:sp>
      <p:sp>
        <p:nvSpPr>
          <p:cNvPr id="33" name="Text 31"/>
          <p:cNvSpPr txBox="1"/>
          <p:nvPr/>
        </p:nvSpPr>
        <p:spPr>
          <a:xfrm>
            <a:off x="8206740" y="3063240"/>
            <a:ext cx="1417320" cy="274320"/>
          </a:xfrm>
          <a:prstGeom prst="rect">
            <a:avLst/>
          </a:prstGeom>
          <a:noFill/>
          <a:ln/>
        </p:spPr>
        <p:txBody>
          <a:bodyPr wrap="square" lIns="0" tIns="0" rIns="0" bIns="0" rtlCol="0" anchor="t"/>
          <a:lstStyle/>
          <a:p>
            <a:pPr algn="ctr" indent="0" marL="0">
              <a:lnSpc>
                <a:spcPct val="110000"/>
              </a:lnSpc>
              <a:buNone/>
            </a:pPr>
            <a:r>
              <a:rPr lang="en-US" sz="1200" b="1" dirty="0">
                <a:solidFill>
                  <a:srgbClr val="1F2937"/>
                </a:solidFill>
                <a:latin typeface="Calibri" pitchFamily="34" charset="0"/>
                <a:ea typeface="Calibri" pitchFamily="34" charset="-122"/>
                <a:cs typeface="Calibri" pitchFamily="34" charset="-120"/>
              </a:rPr>
              <a:t>store.py</a:t>
            </a:r>
            <a:endParaRPr lang="en-US" sz="1200" dirty="0"/>
          </a:p>
        </p:txBody>
      </p:sp>
      <p:sp>
        <p:nvSpPr>
          <p:cNvPr id="34" name="Text 32"/>
          <p:cNvSpPr txBox="1"/>
          <p:nvPr/>
        </p:nvSpPr>
        <p:spPr>
          <a:xfrm>
            <a:off x="8206740" y="3319272"/>
            <a:ext cx="1417320" cy="457200"/>
          </a:xfrm>
          <a:prstGeom prst="rect">
            <a:avLst/>
          </a:prstGeom>
          <a:noFill/>
          <a:ln/>
        </p:spPr>
        <p:txBody>
          <a:bodyPr wrap="square" lIns="0" tIns="0" rIns="0" bIns="0" rtlCol="0" anchor="t"/>
          <a:lstStyle/>
          <a:p>
            <a:pPr algn="ctr" indent="0" marL="0">
              <a:lnSpc>
                <a:spcPct val="110000"/>
              </a:lnSpc>
              <a:buNone/>
            </a:pPr>
            <a:r>
              <a:rPr lang="en-US" sz="1000" dirty="0">
                <a:solidFill>
                  <a:srgbClr val="6B7280"/>
                </a:solidFill>
                <a:latin typeface="Calibri" pitchFamily="34" charset="0"/>
                <a:ea typeface="Calibri" pitchFamily="34" charset="-122"/>
                <a:cs typeface="Calibri" pitchFamily="34" charset="-120"/>
              </a:rPr>
              <a:t>Store interface</a:t>
            </a:r>
            <a:endParaRPr lang="en-US" sz="1000" dirty="0"/>
          </a:p>
          <a:p>
            <a:pPr algn="ctr" indent="0" marL="0">
              <a:lnSpc>
                <a:spcPct val="110000"/>
              </a:lnSpc>
              <a:buNone/>
            </a:pPr>
            <a:r>
              <a:rPr lang="en-US" sz="1000" dirty="0">
                <a:solidFill>
                  <a:srgbClr val="6B7280"/>
                </a:solidFill>
                <a:latin typeface="Calibri" pitchFamily="34" charset="0"/>
                <a:ea typeface="Calibri" pitchFamily="34" charset="-122"/>
                <a:cs typeface="Calibri" pitchFamily="34" charset="-120"/>
              </a:rPr>
              <a:t>SQLite + CRUD</a:t>
            </a:r>
            <a:endParaRPr lang="en-US" sz="1000" dirty="0"/>
          </a:p>
        </p:txBody>
      </p:sp>
      <p:sp>
        <p:nvSpPr>
          <p:cNvPr id="35" name="Shape 33"/>
          <p:cNvSpPr/>
          <p:nvPr/>
        </p:nvSpPr>
        <p:spPr>
          <a:xfrm>
            <a:off x="4549140" y="3977640"/>
            <a:ext cx="5166360" cy="411480"/>
          </a:xfrm>
          <a:prstGeom prst="roundRect">
            <a:avLst>
              <a:gd name="adj" fmla="val 17778"/>
            </a:avLst>
          </a:prstGeom>
          <a:solidFill>
            <a:srgbClr val="E9A23B"/>
          </a:solidFill>
          <a:ln w="12700">
            <a:solidFill>
              <a:srgbClr val="E9A23B"/>
            </a:solidFill>
            <a:prstDash val="solid"/>
          </a:ln>
        </p:spPr>
      </p:sp>
      <p:sp>
        <p:nvSpPr>
          <p:cNvPr id="36" name="Text 34"/>
          <p:cNvSpPr txBox="1"/>
          <p:nvPr/>
        </p:nvSpPr>
        <p:spPr>
          <a:xfrm>
            <a:off x="4549140" y="3977640"/>
            <a:ext cx="5166360" cy="411480"/>
          </a:xfrm>
          <a:prstGeom prst="rect">
            <a:avLst/>
          </a:prstGeom>
          <a:noFill/>
          <a:ln/>
        </p:spPr>
        <p:txBody>
          <a:bodyPr wrap="square" lIns="0" tIns="0" rIns="0" bIns="0" rtlCol="0" anchor="ctr"/>
          <a:lstStyle/>
          <a:p>
            <a:pPr algn="ctr" indent="0" marL="0">
              <a:buNone/>
            </a:pPr>
            <a:r>
              <a:rPr lang="en-US" sz="1150" b="1" dirty="0">
                <a:solidFill>
                  <a:srgbClr val="14181F"/>
                </a:solidFill>
                <a:latin typeface="Calibri" pitchFamily="34" charset="0"/>
                <a:ea typeface="Calibri" pitchFamily="34" charset="-122"/>
                <a:cs typeface="Calibri" pitchFamily="34" charset="-120"/>
              </a:rPr>
              <a:t>ledger.py  ·  cost + latency on every step, including the $0 ones</a:t>
            </a:r>
            <a:endParaRPr lang="en-US" sz="1150" dirty="0"/>
          </a:p>
        </p:txBody>
      </p:sp>
      <p:sp>
        <p:nvSpPr>
          <p:cNvPr id="37" name="Text 35"/>
          <p:cNvSpPr txBox="1"/>
          <p:nvPr/>
        </p:nvSpPr>
        <p:spPr>
          <a:xfrm>
            <a:off x="548640" y="4617720"/>
            <a:ext cx="3566160" cy="32004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Control flow is code</a:t>
            </a:r>
            <a:endParaRPr lang="en-US" sz="1400" dirty="0"/>
          </a:p>
        </p:txBody>
      </p:sp>
      <p:sp>
        <p:nvSpPr>
          <p:cNvPr id="38" name="Text 36"/>
          <p:cNvSpPr txBox="1"/>
          <p:nvPr/>
        </p:nvSpPr>
        <p:spPr>
          <a:xfrm>
            <a:off x="548640" y="4965192"/>
            <a:ext cx="3566160" cy="137160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Input type is known, output schema is known. An agent decides its own number of calls, which makes cost and latency variable and unexplainable. A pipeline can be priced exactly, and a deterministic branch can carry an assertion.</a:t>
            </a:r>
            <a:endParaRPr lang="en-US" sz="1100" dirty="0"/>
          </a:p>
        </p:txBody>
      </p:sp>
      <p:sp>
        <p:nvSpPr>
          <p:cNvPr id="39" name="Text 37"/>
          <p:cNvSpPr txBox="1"/>
          <p:nvPr/>
        </p:nvSpPr>
        <p:spPr>
          <a:xfrm>
            <a:off x="4315968" y="4617720"/>
            <a:ext cx="3566160" cy="32004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The model lives in two files</a:t>
            </a:r>
            <a:endParaRPr lang="en-US" sz="1400" dirty="0"/>
          </a:p>
        </p:txBody>
      </p:sp>
      <p:sp>
        <p:nvSpPr>
          <p:cNvPr id="40" name="Text 38"/>
          <p:cNvSpPr txBox="1"/>
          <p:nvPr/>
        </p:nvSpPr>
        <p:spPr>
          <a:xfrm>
            <a:off x="4315968" y="4965192"/>
            <a:ext cx="3566160" cy="137160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extract.py and transcribe.py, behind the pipeline. Model IDs and rates live in ledger.py and nowhere else. Swapping vendor is a file change, not an architecture change.</a:t>
            </a:r>
            <a:endParaRPr lang="en-US" sz="1100" dirty="0"/>
          </a:p>
        </p:txBody>
      </p:sp>
      <p:sp>
        <p:nvSpPr>
          <p:cNvPr id="41" name="Text 39"/>
          <p:cNvSpPr txBox="1"/>
          <p:nvPr/>
        </p:nvSpPr>
        <p:spPr>
          <a:xfrm>
            <a:off x="8083296" y="4617720"/>
            <a:ext cx="3566160" cy="32004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The channel is an adapter</a:t>
            </a:r>
            <a:endParaRPr lang="en-US" sz="1400" dirty="0"/>
          </a:p>
        </p:txBody>
      </p:sp>
      <p:sp>
        <p:nvSpPr>
          <p:cNvPr id="42" name="Text 40"/>
          <p:cNvSpPr txBox="1"/>
          <p:nvPr/>
        </p:nvSpPr>
        <p:spPr>
          <a:xfrm>
            <a:off x="8083296" y="4965192"/>
            <a:ext cx="3566160" cy="137160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Teams-specific code stays in channels/. Vishal moves bytes, the pipeline interprets them. Five real Teams payloads captured in the first half hour let the pipeline be built and tested all day without the tunnel up.</a:t>
            </a:r>
            <a:endParaRPr lang="en-US" sz="1100" dirty="0"/>
          </a:p>
        </p:txBody>
      </p:sp>
      <p:sp>
        <p:nvSpPr>
          <p:cNvPr id="43" name="Text 4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ARCHITECTURE + CODE  ·  4 MIN</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Getting bytes in and cards out of Teams</a:t>
            </a:r>
            <a:endParaRPr lang="en-US" sz="3400" dirty="0"/>
          </a:p>
        </p:txBody>
      </p:sp>
      <p:sp>
        <p:nvSpPr>
          <p:cNvPr id="4" name="Shape 2"/>
          <p:cNvSpPr/>
          <p:nvPr/>
        </p:nvSpPr>
        <p:spPr>
          <a:xfrm>
            <a:off x="548640" y="1755648"/>
            <a:ext cx="384048" cy="384048"/>
          </a:xfrm>
          <a:prstGeom prst="ellipse">
            <a:avLst/>
          </a:prstGeom>
          <a:solidFill>
            <a:srgbClr val="E9A23B"/>
          </a:solidFill>
          <a:ln w="12700">
            <a:solidFill>
              <a:srgbClr val="E9A23B"/>
            </a:solidFill>
            <a:prstDash val="solid"/>
          </a:ln>
        </p:spPr>
      </p:sp>
      <p:sp>
        <p:nvSpPr>
          <p:cNvPr id="5" name="Text 3"/>
          <p:cNvSpPr txBox="1"/>
          <p:nvPr/>
        </p:nvSpPr>
        <p:spPr>
          <a:xfrm>
            <a:off x="548640" y="1755648"/>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097280" y="1737360"/>
            <a:ext cx="4937760" cy="2743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Azure AD app + Azure Bot</a:t>
            </a:r>
            <a:endParaRPr lang="en-US" sz="1400" dirty="0"/>
          </a:p>
        </p:txBody>
      </p:sp>
      <p:sp>
        <p:nvSpPr>
          <p:cNvPr id="7" name="Text 5"/>
          <p:cNvSpPr txBox="1"/>
          <p:nvPr/>
        </p:nvSpPr>
        <p:spPr>
          <a:xfrm>
            <a:off x="1097280" y="2029968"/>
            <a:ext cx="4937760" cy="54864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Single-tenant registration, messaging endpoint on a public tunnel to Vishal's laptop.</a:t>
            </a:r>
            <a:endParaRPr lang="en-US" sz="1150" dirty="0"/>
          </a:p>
        </p:txBody>
      </p:sp>
      <p:sp>
        <p:nvSpPr>
          <p:cNvPr id="8" name="Shape 6"/>
          <p:cNvSpPr/>
          <p:nvPr/>
        </p:nvSpPr>
        <p:spPr>
          <a:xfrm>
            <a:off x="548640" y="2651760"/>
            <a:ext cx="384048" cy="384048"/>
          </a:xfrm>
          <a:prstGeom prst="ellipse">
            <a:avLst/>
          </a:prstGeom>
          <a:solidFill>
            <a:srgbClr val="E9A23B"/>
          </a:solidFill>
          <a:ln w="12700">
            <a:solidFill>
              <a:srgbClr val="E9A23B"/>
            </a:solidFill>
            <a:prstDash val="solid"/>
          </a:ln>
        </p:spPr>
      </p:sp>
      <p:sp>
        <p:nvSpPr>
          <p:cNvPr id="9" name="Text 7"/>
          <p:cNvSpPr txBox="1"/>
          <p:nvPr/>
        </p:nvSpPr>
        <p:spPr>
          <a:xfrm>
            <a:off x="548640" y="265176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097280" y="2633472"/>
            <a:ext cx="4937760" cy="2743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/api/messages webhook</a:t>
            </a:r>
            <a:endParaRPr lang="en-US" sz="1400" dirty="0"/>
          </a:p>
        </p:txBody>
      </p:sp>
      <p:sp>
        <p:nvSpPr>
          <p:cNvPr id="11" name="Text 9"/>
          <p:cNvSpPr txBox="1"/>
          <p:nvPr/>
        </p:nvSpPr>
        <p:spPr>
          <a:xfrm>
            <a:off x="1097280" y="2926080"/>
            <a:ext cx="4937760" cy="54864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FastAPI. Receives the Bot Framework Activity, hands the pipeline an InboundEvent, sends a typing indicator concurrently.</a:t>
            </a:r>
            <a:endParaRPr lang="en-US" sz="1150" dirty="0"/>
          </a:p>
        </p:txBody>
      </p:sp>
      <p:sp>
        <p:nvSpPr>
          <p:cNvPr id="12" name="Shape 10"/>
          <p:cNvSpPr/>
          <p:nvPr/>
        </p:nvSpPr>
        <p:spPr>
          <a:xfrm>
            <a:off x="548640" y="3547872"/>
            <a:ext cx="384048" cy="384048"/>
          </a:xfrm>
          <a:prstGeom prst="ellipse">
            <a:avLst/>
          </a:prstGeom>
          <a:solidFill>
            <a:srgbClr val="E9A23B"/>
          </a:solidFill>
          <a:ln w="12700">
            <a:solidFill>
              <a:srgbClr val="E9A23B"/>
            </a:solidFill>
            <a:prstDash val="solid"/>
          </a:ln>
        </p:spPr>
      </p:sp>
      <p:sp>
        <p:nvSpPr>
          <p:cNvPr id="13" name="Text 11"/>
          <p:cNvSpPr txBox="1"/>
          <p:nvPr/>
        </p:nvSpPr>
        <p:spPr>
          <a:xfrm>
            <a:off x="548640" y="3547872"/>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097280" y="3529584"/>
            <a:ext cx="4937760" cy="2743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Attachments fetched as bytes</a:t>
            </a:r>
            <a:endParaRPr lang="en-US" sz="1400" dirty="0"/>
          </a:p>
        </p:txBody>
      </p:sp>
      <p:sp>
        <p:nvSpPr>
          <p:cNvPr id="15" name="Text 13"/>
          <p:cNvSpPr txBox="1"/>
          <p:nvPr/>
        </p:nvSpPr>
        <p:spPr>
          <a:xfrm>
            <a:off x="1097280" y="3822192"/>
            <a:ext cx="4937760" cy="54864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teams.py downloads the file and never inspects it. Images, audio, .vcf all classified in the pipeline.</a:t>
            </a:r>
            <a:endParaRPr lang="en-US" sz="1150" dirty="0"/>
          </a:p>
        </p:txBody>
      </p:sp>
      <p:sp>
        <p:nvSpPr>
          <p:cNvPr id="16" name="Shape 14"/>
          <p:cNvSpPr/>
          <p:nvPr/>
        </p:nvSpPr>
        <p:spPr>
          <a:xfrm>
            <a:off x="548640" y="4443984"/>
            <a:ext cx="384048" cy="384048"/>
          </a:xfrm>
          <a:prstGeom prst="ellipse">
            <a:avLst/>
          </a:prstGeom>
          <a:solidFill>
            <a:srgbClr val="E9A23B"/>
          </a:solidFill>
          <a:ln w="12700">
            <a:solidFill>
              <a:srgbClr val="E9A23B"/>
            </a:solidFill>
            <a:prstDash val="solid"/>
          </a:ln>
        </p:spPr>
      </p:sp>
      <p:sp>
        <p:nvSpPr>
          <p:cNvPr id="17" name="Text 15"/>
          <p:cNvSpPr txBox="1"/>
          <p:nvPr/>
        </p:nvSpPr>
        <p:spPr>
          <a:xfrm>
            <a:off x="548640" y="4443984"/>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097280" y="4425696"/>
            <a:ext cx="4937760" cy="2743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Adaptive Cards back</a:t>
            </a:r>
            <a:endParaRPr lang="en-US" sz="1400" dirty="0"/>
          </a:p>
        </p:txBody>
      </p:sp>
      <p:sp>
        <p:nvSpPr>
          <p:cNvPr id="19" name="Text 17"/>
          <p:cNvSpPr txBox="1"/>
          <p:nvPr/>
        </p:nvSpPr>
        <p:spPr>
          <a:xfrm>
            <a:off x="1097280" y="4718304"/>
            <a:ext cx="4937760" cy="54864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Lead card with Add note, Edit, Delete buttons and the cost line. Buttons post typed payloads, not free text.</a:t>
            </a:r>
            <a:endParaRPr lang="en-US" sz="1150" dirty="0"/>
          </a:p>
        </p:txBody>
      </p:sp>
      <p:sp>
        <p:nvSpPr>
          <p:cNvPr id="20" name="Shape 18"/>
          <p:cNvSpPr/>
          <p:nvPr/>
        </p:nvSpPr>
        <p:spPr>
          <a:xfrm>
            <a:off x="548640" y="5340096"/>
            <a:ext cx="384048" cy="384048"/>
          </a:xfrm>
          <a:prstGeom prst="ellipse">
            <a:avLst/>
          </a:prstGeom>
          <a:solidFill>
            <a:srgbClr val="E9A23B"/>
          </a:solidFill>
          <a:ln w="12700">
            <a:solidFill>
              <a:srgbClr val="E9A23B"/>
            </a:solidFill>
            <a:prstDash val="solid"/>
          </a:ln>
        </p:spPr>
      </p:sp>
      <p:sp>
        <p:nvSpPr>
          <p:cNvPr id="21" name="Text 19"/>
          <p:cNvSpPr txBox="1"/>
          <p:nvPr/>
        </p:nvSpPr>
        <p:spPr>
          <a:xfrm>
            <a:off x="548640" y="5340096"/>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097280" y="5321808"/>
            <a:ext cx="4937760" cy="2743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Web Chat, not a Teams client</a:t>
            </a:r>
            <a:endParaRPr lang="en-US" sz="1400" dirty="0"/>
          </a:p>
        </p:txBody>
      </p:sp>
      <p:sp>
        <p:nvSpPr>
          <p:cNvPr id="23" name="Text 21"/>
          <p:cNvSpPr txBox="1"/>
          <p:nvPr/>
        </p:nvSpPr>
        <p:spPr>
          <a:xfrm>
            <a:off x="1097280" y="5614416"/>
            <a:ext cx="4937760" cy="54864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Sideloading is blocked at tenant level, so the demo runs in Azure "Test in Web Chat". Same bot, same endpoint.</a:t>
            </a:r>
            <a:endParaRPr lang="en-US" sz="1150" dirty="0"/>
          </a:p>
        </p:txBody>
      </p:sp>
      <p:sp>
        <p:nvSpPr>
          <p:cNvPr id="24" name="Shape 22"/>
          <p:cNvSpPr/>
          <p:nvPr/>
        </p:nvSpPr>
        <p:spPr>
          <a:xfrm>
            <a:off x="6492240" y="1737360"/>
            <a:ext cx="5166360" cy="4434840"/>
          </a:xfrm>
          <a:prstGeom prst="roundRect">
            <a:avLst>
              <a:gd name="adj" fmla="val 2474"/>
            </a:avLst>
          </a:prstGeom>
          <a:solidFill>
            <a:srgbClr val="14181F"/>
          </a:solidFill>
          <a:ln w="12700">
            <a:solidFill>
              <a:srgbClr val="14181F"/>
            </a:solidFill>
            <a:prstDash val="solid"/>
          </a:ln>
        </p:spPr>
      </p:sp>
      <p:sp>
        <p:nvSpPr>
          <p:cNvPr id="25" name="Text 23"/>
          <p:cNvSpPr txBox="1"/>
          <p:nvPr/>
        </p:nvSpPr>
        <p:spPr>
          <a:xfrm>
            <a:off x="6766560" y="1920240"/>
            <a:ext cx="4663440" cy="274320"/>
          </a:xfrm>
          <a:prstGeom prst="rect">
            <a:avLst/>
          </a:prstGeom>
          <a:noFill/>
          <a:ln/>
        </p:spPr>
        <p:txBody>
          <a:bodyPr wrap="square" lIns="0" tIns="0" rIns="0" bIns="0" rtlCol="0" anchor="t"/>
          <a:lstStyle/>
          <a:p>
            <a:pPr algn="l" indent="0" marL="0">
              <a:lnSpc>
                <a:spcPct val="110000"/>
              </a:lnSpc>
              <a:buNone/>
            </a:pPr>
            <a:r>
              <a:rPr lang="en-US" sz="1100" b="1" dirty="0">
                <a:solidFill>
                  <a:srgbClr val="E9A23B"/>
                </a:solidFill>
                <a:latin typeface="Calibri" pitchFamily="34" charset="0"/>
                <a:ea typeface="Calibri" pitchFamily="34" charset="-122"/>
                <a:cs typeface="Calibri" pitchFamily="34" charset="-120"/>
              </a:rPr>
              <a:t>WHAT THE CHANNEL COST US TODAY</a:t>
            </a:r>
            <a:endParaRPr lang="en-US" sz="1100" dirty="0"/>
          </a:p>
        </p:txBody>
      </p:sp>
      <p:sp>
        <p:nvSpPr>
          <p:cNvPr id="26" name="Text 24"/>
          <p:cNvSpPr txBox="1"/>
          <p:nvPr/>
        </p:nvSpPr>
        <p:spPr>
          <a:xfrm>
            <a:off x="6766560" y="2286000"/>
            <a:ext cx="4663440" cy="274320"/>
          </a:xfrm>
          <a:prstGeom prst="rect">
            <a:avLst/>
          </a:prstGeom>
          <a:noFill/>
          <a:ln/>
        </p:spPr>
        <p:txBody>
          <a:bodyPr wrap="square" lIns="0" tIns="0" rIns="0" bIns="0" rtlCol="0" anchor="t"/>
          <a:lstStyle/>
          <a:p>
            <a:pPr algn="l" indent="0" marL="0">
              <a:lnSpc>
                <a:spcPct val="110000"/>
              </a:lnSpc>
              <a:buNone/>
            </a:pPr>
            <a:r>
              <a:rPr lang="en-US" sz="1300" b="1" dirty="0">
                <a:solidFill>
                  <a:srgbClr val="FFFFFF"/>
                </a:solidFill>
                <a:latin typeface="Calibri" pitchFamily="34" charset="0"/>
                <a:ea typeface="Calibri" pitchFamily="34" charset="-122"/>
                <a:cs typeface="Calibri" pitchFamily="34" charset="-120"/>
              </a:rPr>
              <a:t>conversationUpdate ran the pipeline.</a:t>
            </a:r>
            <a:endParaRPr lang="en-US" sz="1300" dirty="0"/>
          </a:p>
        </p:txBody>
      </p:sp>
      <p:sp>
        <p:nvSpPr>
          <p:cNvPr id="27" name="Text 25"/>
          <p:cNvSpPr txBox="1"/>
          <p:nvPr/>
        </p:nvSpPr>
        <p:spPr>
          <a:xfrm>
            <a:off x="6766560" y="2578608"/>
            <a:ext cx="4663440" cy="594360"/>
          </a:xfrm>
          <a:prstGeom prst="rect">
            <a:avLst/>
          </a:prstGeom>
          <a:noFill/>
          <a:ln/>
        </p:spPr>
        <p:txBody>
          <a:bodyPr wrap="square" lIns="0" tIns="0" rIns="0" bIns="0" rtlCol="0" anchor="t"/>
          <a:lstStyle/>
          <a:p>
            <a:pPr algn="l" indent="0" marL="0">
              <a:lnSpc>
                <a:spcPct val="110000"/>
              </a:lnSpc>
              <a:buNone/>
            </a:pPr>
            <a:r>
              <a:rPr lang="en-US" sz="1100" dirty="0">
                <a:solidFill>
                  <a:srgbClr val="C9CED6"/>
                </a:solidFill>
                <a:latin typeface="Calibri" pitchFamily="34" charset="0"/>
                <a:ea typeface="Calibri" pitchFamily="34" charset="-122"/>
                <a:cs typeface="Calibri" pitchFamily="34" charset="-120"/>
              </a:rPr>
              <a:t>An unprompted "which company?" card ate the first real lead. Now only message activities reach the pipeline.</a:t>
            </a:r>
            <a:endParaRPr lang="en-US" sz="1100" dirty="0"/>
          </a:p>
        </p:txBody>
      </p:sp>
      <p:sp>
        <p:nvSpPr>
          <p:cNvPr id="28" name="Text 26"/>
          <p:cNvSpPr txBox="1"/>
          <p:nvPr/>
        </p:nvSpPr>
        <p:spPr>
          <a:xfrm>
            <a:off x="6766560" y="3218688"/>
            <a:ext cx="4663440" cy="274320"/>
          </a:xfrm>
          <a:prstGeom prst="rect">
            <a:avLst/>
          </a:prstGeom>
          <a:noFill/>
          <a:ln/>
        </p:spPr>
        <p:txBody>
          <a:bodyPr wrap="square" lIns="0" tIns="0" rIns="0" bIns="0" rtlCol="0" anchor="t"/>
          <a:lstStyle/>
          <a:p>
            <a:pPr algn="l" indent="0" marL="0">
              <a:lnSpc>
                <a:spcPct val="110000"/>
              </a:lnSpc>
              <a:buNone/>
            </a:pPr>
            <a:r>
              <a:rPr lang="en-US" sz="1300" b="1" dirty="0">
                <a:solidFill>
                  <a:srgbClr val="FFFFFF"/>
                </a:solidFill>
                <a:latin typeface="Calibri" pitchFamily="34" charset="0"/>
                <a:ea typeface="Calibri" pitchFamily="34" charset="-122"/>
                <a:cs typeface="Calibri" pitchFamily="34" charset="-120"/>
              </a:rPr>
              <a:t>Replies silently 400'd.</a:t>
            </a:r>
            <a:endParaRPr lang="en-US" sz="1300" dirty="0"/>
          </a:p>
        </p:txBody>
      </p:sp>
      <p:sp>
        <p:nvSpPr>
          <p:cNvPr id="29" name="Text 27"/>
          <p:cNvSpPr txBox="1"/>
          <p:nvPr/>
        </p:nvSpPr>
        <p:spPr>
          <a:xfrm>
            <a:off x="6766560" y="3511296"/>
            <a:ext cx="4663440" cy="594360"/>
          </a:xfrm>
          <a:prstGeom prst="rect">
            <a:avLst/>
          </a:prstGeom>
          <a:noFill/>
          <a:ln/>
        </p:spPr>
        <p:txBody>
          <a:bodyPr wrap="square" lIns="0" tIns="0" rIns="0" bIns="0" rtlCol="0" anchor="t"/>
          <a:lstStyle/>
          <a:p>
            <a:pPr algn="l" indent="0" marL="0">
              <a:lnSpc>
                <a:spcPct val="110000"/>
              </a:lnSpc>
              <a:buNone/>
            </a:pPr>
            <a:r>
              <a:rPr lang="en-US" sz="1100" dirty="0">
                <a:solidFill>
                  <a:srgbClr val="C9CED6"/>
                </a:solidFill>
                <a:latin typeface="Calibri" pitchFamily="34" charset="0"/>
                <a:ea typeface="Calibri" pitchFamily="34" charset="-122"/>
                <a:cs typeface="Calibri" pitchFamily="34" charset="-120"/>
              </a:rPr>
              <a:t>Activity.From was missing on the outbound envelope. Nothing crashed, nothing was said either. Now every reply carries a full envelope.</a:t>
            </a:r>
            <a:endParaRPr lang="en-US" sz="1100" dirty="0"/>
          </a:p>
        </p:txBody>
      </p:sp>
      <p:sp>
        <p:nvSpPr>
          <p:cNvPr id="30" name="Text 28"/>
          <p:cNvSpPr txBox="1"/>
          <p:nvPr/>
        </p:nvSpPr>
        <p:spPr>
          <a:xfrm>
            <a:off x="6766560" y="4151376"/>
            <a:ext cx="4663440" cy="274320"/>
          </a:xfrm>
          <a:prstGeom prst="rect">
            <a:avLst/>
          </a:prstGeom>
          <a:noFill/>
          <a:ln/>
        </p:spPr>
        <p:txBody>
          <a:bodyPr wrap="square" lIns="0" tIns="0" rIns="0" bIns="0" rtlCol="0" anchor="t"/>
          <a:lstStyle/>
          <a:p>
            <a:pPr algn="l" indent="0" marL="0">
              <a:lnSpc>
                <a:spcPct val="110000"/>
              </a:lnSpc>
              <a:buNone/>
            </a:pPr>
            <a:r>
              <a:rPr lang="en-US" sz="1300" b="1" dirty="0">
                <a:solidFill>
                  <a:srgbClr val="FFFFFF"/>
                </a:solidFill>
                <a:latin typeface="Calibri" pitchFamily="34" charset="0"/>
                <a:ea typeface="Calibri" pitchFamily="34" charset="-122"/>
                <a:cs typeface="Calibri" pitchFamily="34" charset="-120"/>
              </a:rPr>
              <a:t>Wrong token authority.</a:t>
            </a:r>
            <a:endParaRPr lang="en-US" sz="1300" dirty="0"/>
          </a:p>
        </p:txBody>
      </p:sp>
      <p:sp>
        <p:nvSpPr>
          <p:cNvPr id="31" name="Text 29"/>
          <p:cNvSpPr txBox="1"/>
          <p:nvPr/>
        </p:nvSpPr>
        <p:spPr>
          <a:xfrm>
            <a:off x="6766560" y="4443984"/>
            <a:ext cx="4663440" cy="594360"/>
          </a:xfrm>
          <a:prstGeom prst="rect">
            <a:avLst/>
          </a:prstGeom>
          <a:noFill/>
          <a:ln/>
        </p:spPr>
        <p:txBody>
          <a:bodyPr wrap="square" lIns="0" tIns="0" rIns="0" bIns="0" rtlCol="0" anchor="t"/>
          <a:lstStyle/>
          <a:p>
            <a:pPr algn="l" indent="0" marL="0">
              <a:lnSpc>
                <a:spcPct val="110000"/>
              </a:lnSpc>
              <a:buNone/>
            </a:pPr>
            <a:r>
              <a:rPr lang="en-US" sz="1100" dirty="0">
                <a:solidFill>
                  <a:srgbClr val="C9CED6"/>
                </a:solidFill>
                <a:latin typeface="Calibri" pitchFamily="34" charset="0"/>
                <a:ea typeface="Calibri" pitchFamily="34" charset="-122"/>
                <a:cs typeface="Calibri" pitchFamily="34" charset="-120"/>
              </a:rPr>
              <a:t>Single-tenant apps need the tenant-specific authority, not the common one. One line, forty minutes.</a:t>
            </a:r>
            <a:endParaRPr lang="en-US" sz="1100" dirty="0"/>
          </a:p>
        </p:txBody>
      </p:sp>
      <p:sp>
        <p:nvSpPr>
          <p:cNvPr id="32" name="Text 30"/>
          <p:cNvSpPr txBox="1"/>
          <p:nvPr/>
        </p:nvSpPr>
        <p:spPr>
          <a:xfrm>
            <a:off x="6766560" y="5084064"/>
            <a:ext cx="4663440" cy="274320"/>
          </a:xfrm>
          <a:prstGeom prst="rect">
            <a:avLst/>
          </a:prstGeom>
          <a:noFill/>
          <a:ln/>
        </p:spPr>
        <p:txBody>
          <a:bodyPr wrap="square" lIns="0" tIns="0" rIns="0" bIns="0" rtlCol="0" anchor="t"/>
          <a:lstStyle/>
          <a:p>
            <a:pPr algn="l" indent="0" marL="0">
              <a:lnSpc>
                <a:spcPct val="110000"/>
              </a:lnSpc>
              <a:buNone/>
            </a:pPr>
            <a:r>
              <a:rPr lang="en-US" sz="1300" b="1" dirty="0">
                <a:solidFill>
                  <a:srgbClr val="FFFFFF"/>
                </a:solidFill>
                <a:latin typeface="Calibri" pitchFamily="34" charset="0"/>
                <a:ea typeface="Calibri" pitchFamily="34" charset="-122"/>
                <a:cs typeface="Calibri" pitchFamily="34" charset="-120"/>
              </a:rPr>
              <a:t>Live JWTs in captured payloads.</a:t>
            </a:r>
            <a:endParaRPr lang="en-US" sz="1300" dirty="0"/>
          </a:p>
        </p:txBody>
      </p:sp>
      <p:sp>
        <p:nvSpPr>
          <p:cNvPr id="33" name="Text 31"/>
          <p:cNvSpPr txBox="1"/>
          <p:nvPr/>
        </p:nvSpPr>
        <p:spPr>
          <a:xfrm>
            <a:off x="6766560" y="5376672"/>
            <a:ext cx="4663440" cy="594360"/>
          </a:xfrm>
          <a:prstGeom prst="rect">
            <a:avLst/>
          </a:prstGeom>
          <a:noFill/>
          <a:ln/>
        </p:spPr>
        <p:txBody>
          <a:bodyPr wrap="square" lIns="0" tIns="0" rIns="0" bIns="0" rtlCol="0" anchor="t"/>
          <a:lstStyle/>
          <a:p>
            <a:pPr algn="l" indent="0" marL="0">
              <a:lnSpc>
                <a:spcPct val="110000"/>
              </a:lnSpc>
              <a:buNone/>
            </a:pPr>
            <a:r>
              <a:rPr lang="en-US" sz="1100" dirty="0">
                <a:solidFill>
                  <a:srgbClr val="C9CED6"/>
                </a:solidFill>
                <a:latin typeface="Calibri" pitchFamily="34" charset="0"/>
                <a:ea typeface="Calibri" pitchFamily="34" charset="-122"/>
                <a:cs typeface="Calibri" pitchFamily="34" charset="-120"/>
              </a:rPr>
              <a:t>Raw Web Chat captures went into a public repo. Scrubbed, rotated, fixtures redacted.</a:t>
            </a:r>
            <a:endParaRPr lang="en-US" sz="1100" dirty="0"/>
          </a:p>
        </p:txBody>
      </p:sp>
      <p:sp>
        <p:nvSpPr>
          <p:cNvPr id="34" name="Text 3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RISKS  ·  WHAT IS MOCKED</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What is real, what is ours, what production needs</a:t>
            </a:r>
            <a:endParaRPr lang="en-US" sz="3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914400"/>
        </p:xfrm>
        <a:graphic>
          <a:graphicData uri="http://schemas.openxmlformats.org/drawingml/2006/table">
            <a:tbl>
              <a:tblPr/>
              <a:tblGrid>
                <a:gridCol w="1828800"/>
                <a:gridCol w="4572000"/>
                <a:gridCol w="4690872"/>
              </a:tblGrid>
              <a:tr h="68580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Boundary</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Today</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Production would need</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r>
              <a:tr h="6858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Data store</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Our own SQLite behind a Store interface. Not Intrakore's CRM: no sandbox, no credentials.</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CRM auth and token refresh, field mapping, idempotency keys, rate limits, an error taxonomy, retry and dead-letter queue.</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r h="6858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Inbound auth</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The webhook does not validate the Bot Framework JWT.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Validate the token against the Bot Framework OpenID metadata on every request.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PII</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Names, phones, emails and voice go to Anthropic and Deepgram over the API.</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Data processing agreements, redaction before the model call, or Claude on Amazon Bedrock inside Intrakore's own AWS account.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r h="6858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Teams client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Sideloading blocked at tenant level. Demo runs in Azure Web Chat. File and .vcf attachments are unvalidated in Web Chat.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Tenant admin approval for the app package, then validate the attachment paths against a real Teams client.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r>
              <a:tr h="685800">
                <a:tc>
                  <a:txBody>
                    <a:bodyPr/>
                    <a:lstStyle/>
                    <a:p>
                      <a:pPr indent="0" marL="0">
                        <a:buNone/>
                      </a:pPr>
                      <a:r>
                        <a:rPr lang="en-US" sz="1150" b="1" dirty="0">
                          <a:solidFill>
                            <a:srgbClr val="1F2937"/>
                          </a:solidFill>
                          <a:latin typeface="Calibri" pitchFamily="34" charset="0"/>
                          <a:ea typeface="Calibri" pitchFamily="34" charset="-122"/>
                          <a:cs typeface="Calibri" pitchFamily="34" charset="-120"/>
                        </a:rPr>
                        <a:t>Speech-to-text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Deepgram Nova-3, real. Heard a synthetic "Skyline Fitout" as "skyline feet out".</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150" dirty="0">
                          <a:solidFill>
                            <a:srgbClr val="1F2937"/>
                          </a:solidFill>
                          <a:latin typeface="Calibri" pitchFamily="34" charset="0"/>
                          <a:ea typeface="Calibri" pitchFamily="34" charset="-122"/>
                          <a:cs typeface="Calibri" pitchFamily="34" charset="-120"/>
                        </a:rPr>
                        <a:t>Vocabulary boosting for customer names, or a native-audio model. The original transcript is retained either way.</a:t>
                      </a:r>
                      <a:endParaRPr lang="en-US" sz="115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bl>
          </a:graphicData>
        </a:graphic>
      </p:graphicFrame>
      <p:sp>
        <p:nvSpPr>
          <p:cNvPr id="5" name="Text 2"/>
          <p:cNvSpPr txBox="1"/>
          <p:nvPr/>
        </p:nvSpPr>
        <p:spPr>
          <a:xfrm>
            <a:off x="548640" y="6035040"/>
            <a:ext cx="10972800" cy="320040"/>
          </a:xfrm>
          <a:prstGeom prst="rect">
            <a:avLst/>
          </a:prstGeom>
          <a:noFill/>
          <a:ln/>
        </p:spPr>
        <p:txBody>
          <a:bodyPr wrap="square" lIns="0" tIns="0" rIns="0" bIns="0" rtlCol="0" anchor="t"/>
          <a:lstStyle/>
          <a:p>
            <a:pPr algn="l" indent="0" marL="0">
              <a:lnSpc>
                <a:spcPct val="110000"/>
              </a:lnSpc>
              <a:buNone/>
            </a:pPr>
            <a:r>
              <a:rPr lang="en-US" sz="1100" i="1" dirty="0">
                <a:solidFill>
                  <a:srgbClr val="6B7280"/>
                </a:solidFill>
                <a:latin typeface="Calibri" pitchFamily="34" charset="0"/>
                <a:ea typeface="Calibri" pitchFamily="34" charset="-122"/>
                <a:cs typeface="Calibri" pitchFamily="34" charset="-120"/>
              </a:rPr>
              <a:t>Everything in the "Today" column is labelled in the code. The brief scores transparency; a hidden gap gets dismantled in Q&amp;A, a named one reads as a plan.</a:t>
            </a:r>
            <a:endParaRPr lang="en-US" sz="1100" dirty="0"/>
          </a:p>
        </p:txBody>
      </p:sp>
      <p:sp>
        <p:nvSpPr>
          <p:cNvPr id="6" name="Text 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CLOSE</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Same model, inside your AWS account</a:t>
            </a:r>
            <a:endParaRPr lang="en-US" sz="3400" dirty="0"/>
          </a:p>
        </p:txBody>
      </p:sp>
      <p:sp>
        <p:nvSpPr>
          <p:cNvPr id="4" name="Shape 2"/>
          <p:cNvSpPr/>
          <p:nvPr/>
        </p:nvSpPr>
        <p:spPr>
          <a:xfrm>
            <a:off x="548640" y="1737360"/>
            <a:ext cx="5486400" cy="4389120"/>
          </a:xfrm>
          <a:prstGeom prst="roundRect">
            <a:avLst>
              <a:gd name="adj" fmla="val 2500"/>
            </a:avLst>
          </a:prstGeom>
          <a:solidFill>
            <a:srgbClr val="14181F"/>
          </a:solidFill>
          <a:ln w="12700">
            <a:solidFill>
              <a:srgbClr val="14181F"/>
            </a:solidFill>
            <a:prstDash val="solid"/>
          </a:ln>
        </p:spPr>
      </p:sp>
      <p:sp>
        <p:nvSpPr>
          <p:cNvPr id="5" name="Text 3"/>
          <p:cNvSpPr txBox="1"/>
          <p:nvPr/>
        </p:nvSpPr>
        <p:spPr>
          <a:xfrm>
            <a:off x="822960" y="1920240"/>
            <a:ext cx="2743200" cy="274320"/>
          </a:xfrm>
          <a:prstGeom prst="rect">
            <a:avLst/>
          </a:prstGeom>
          <a:noFill/>
          <a:ln/>
        </p:spPr>
        <p:txBody>
          <a:bodyPr wrap="square" lIns="0" tIns="0" rIns="0" bIns="0" rtlCol="0" anchor="t"/>
          <a:lstStyle/>
          <a:p>
            <a:pPr algn="l" indent="0" marL="0">
              <a:lnSpc>
                <a:spcPct val="110000"/>
              </a:lnSpc>
              <a:buNone/>
            </a:pPr>
            <a:r>
              <a:rPr lang="en-US" sz="1100" b="1" dirty="0">
                <a:solidFill>
                  <a:srgbClr val="E9A23B"/>
                </a:solidFill>
                <a:latin typeface="Calibri" pitchFamily="34" charset="0"/>
                <a:ea typeface="Calibri" pitchFamily="34" charset="-122"/>
                <a:cs typeface="Calibri" pitchFamily="34" charset="-120"/>
              </a:rPr>
              <a:t>DEPLOYMENT PATH</a:t>
            </a:r>
            <a:endParaRPr lang="en-US" sz="1100" dirty="0"/>
          </a:p>
        </p:txBody>
      </p:sp>
      <p:sp>
        <p:nvSpPr>
          <p:cNvPr id="6" name="Text 4"/>
          <p:cNvSpPr txBox="1"/>
          <p:nvPr/>
        </p:nvSpPr>
        <p:spPr>
          <a:xfrm>
            <a:off x="822960" y="2240280"/>
            <a:ext cx="4937760" cy="457200"/>
          </a:xfrm>
          <a:prstGeom prst="rect">
            <a:avLst/>
          </a:prstGeom>
          <a:noFill/>
          <a:ln/>
        </p:spPr>
        <p:txBody>
          <a:bodyPr wrap="square" lIns="0" tIns="0" rIns="0" bIns="0" rtlCol="0" anchor="t"/>
          <a:lstStyle/>
          <a:p>
            <a:pPr algn="l" indent="0" marL="0">
              <a:lnSpc>
                <a:spcPct val="110000"/>
              </a:lnSpc>
              <a:buNone/>
            </a:pPr>
            <a:r>
              <a:rPr lang="en-US" sz="2200" b="1" dirty="0">
                <a:solidFill>
                  <a:srgbClr val="FFFFFF"/>
                </a:solidFill>
                <a:latin typeface="Calibri" pitchFamily="34" charset="0"/>
                <a:ea typeface="Calibri" pitchFamily="34" charset="-122"/>
                <a:cs typeface="Calibri" pitchFamily="34" charset="-120"/>
              </a:rPr>
              <a:t>Intrakore runs on AWS</a:t>
            </a:r>
            <a:endParaRPr lang="en-US" sz="2200" dirty="0"/>
          </a:p>
        </p:txBody>
      </p:sp>
      <p:sp>
        <p:nvSpPr>
          <p:cNvPr id="7" name="Text 5"/>
          <p:cNvSpPr txBox="1"/>
          <p:nvPr/>
        </p:nvSpPr>
        <p:spPr>
          <a:xfrm>
            <a:off x="822960" y="2743200"/>
            <a:ext cx="4937760" cy="548640"/>
          </a:xfrm>
          <a:prstGeom prst="rect">
            <a:avLst/>
          </a:prstGeom>
          <a:noFill/>
          <a:ln/>
        </p:spPr>
        <p:txBody>
          <a:bodyPr wrap="square" lIns="0" tIns="0" rIns="0" bIns="0" rtlCol="0" anchor="t"/>
          <a:lstStyle/>
          <a:p>
            <a:pPr algn="l" indent="0" marL="0">
              <a:lnSpc>
                <a:spcPct val="110000"/>
              </a:lnSpc>
              <a:buNone/>
            </a:pPr>
            <a:r>
              <a:rPr lang="en-US" sz="1200" dirty="0">
                <a:solidFill>
                  <a:srgbClr val="C9CED6"/>
                </a:solidFill>
                <a:latin typeface="Calibri" pitchFamily="34" charset="0"/>
                <a:ea typeface="Calibri" pitchFamily="34" charset="-122"/>
                <a:cs typeface="Calibri" pitchFamily="34" charset="-120"/>
              </a:rPr>
              <a:t>Verified, not inferred: app, portal, login and api subdomains resolve to EC2 in us-east-1.</a:t>
            </a:r>
            <a:endParaRPr lang="en-US" sz="1200" dirty="0"/>
          </a:p>
        </p:txBody>
      </p:sp>
      <p:sp>
        <p:nvSpPr>
          <p:cNvPr id="8" name="Text 6"/>
          <p:cNvSpPr txBox="1"/>
          <p:nvPr/>
        </p:nvSpPr>
        <p:spPr>
          <a:xfrm>
            <a:off x="822960" y="3429000"/>
            <a:ext cx="4937760" cy="256032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E5E7EB"/>
                </a:solidFill>
                <a:latin typeface="Calibri" pitchFamily="34" charset="0"/>
                <a:ea typeface="Calibri" pitchFamily="34" charset="-122"/>
                <a:cs typeface="Calibri" pitchFamily="34" charset="-120"/>
              </a:rPr>
              <a:t>Claude is available natively on Amazon Bedrock. Same model, same code, inside the existing AWS account and its data boundary.</a:t>
            </a:r>
            <a:endParaRPr lang="en-US" sz="1200" dirty="0"/>
          </a:p>
          <a:p>
            <a:pPr marL="177800" indent="-177800">
              <a:spcAft>
                <a:spcPts val="700"/>
              </a:spcAft>
              <a:buSzPct val="100000"/>
              <a:buChar char="•"/>
            </a:pPr>
            <a:r>
              <a:rPr lang="en-US" sz="1200" dirty="0">
                <a:solidFill>
                  <a:srgbClr val="E5E7EB"/>
                </a:solidFill>
                <a:latin typeface="Calibri" pitchFamily="34" charset="0"/>
                <a:ea typeface="Calibri" pitchFamily="34" charset="-122"/>
                <a:cs typeface="Calibri" pitchFamily="34" charset="-120"/>
              </a:rPr>
              <a:t>The model is behind two files. Pointing them at Bedrock is a client change, not a rewrite.</a:t>
            </a:r>
            <a:endParaRPr lang="en-US" sz="1200" dirty="0"/>
          </a:p>
          <a:p>
            <a:pPr marL="177800" indent="-177800">
              <a:spcAft>
                <a:spcPts val="700"/>
              </a:spcAft>
              <a:buSzPct val="100000"/>
              <a:buChar char="•"/>
            </a:pPr>
            <a:r>
              <a:rPr lang="en-US" sz="1200" dirty="0">
                <a:solidFill>
                  <a:srgbClr val="E5E7EB"/>
                </a:solidFill>
                <a:latin typeface="Calibri" pitchFamily="34" charset="0"/>
                <a:ea typeface="Calibri" pitchFamily="34" charset="-122"/>
                <a:cs typeface="Calibri" pitchFamily="34" charset="-120"/>
              </a:rPr>
              <a:t>PII never leaves the account. That answers the third row of the risks slide.</a:t>
            </a:r>
            <a:endParaRPr lang="en-US" sz="1200" dirty="0"/>
          </a:p>
          <a:p>
            <a:pPr marL="177800" indent="-177800">
              <a:spcAft>
                <a:spcPts val="700"/>
              </a:spcAft>
              <a:buSzPct val="100000"/>
              <a:buChar char="•"/>
            </a:pPr>
            <a:r>
              <a:rPr lang="en-US" sz="1200" dirty="0">
                <a:solidFill>
                  <a:srgbClr val="E5E7EB"/>
                </a:solidFill>
                <a:latin typeface="Calibri" pitchFamily="34" charset="0"/>
                <a:ea typeface="Calibri" pitchFamily="34" charset="-122"/>
                <a:cs typeface="Calibri" pitchFamily="34" charset="-120"/>
              </a:rPr>
              <a:t>Pricing on Bedrock is set by AWS: same range, not identical. We will quote it, not assume it.</a:t>
            </a:r>
            <a:endParaRPr lang="en-US" sz="1200" dirty="0"/>
          </a:p>
        </p:txBody>
      </p:sp>
      <p:sp>
        <p:nvSpPr>
          <p:cNvPr id="9" name="Text 7"/>
          <p:cNvSpPr txBox="1"/>
          <p:nvPr/>
        </p:nvSpPr>
        <p:spPr>
          <a:xfrm>
            <a:off x="6400800" y="1737360"/>
            <a:ext cx="274320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WEEK TWO</a:t>
            </a:r>
            <a:endParaRPr lang="en-US" sz="1100" dirty="0"/>
          </a:p>
        </p:txBody>
      </p:sp>
      <p:sp>
        <p:nvSpPr>
          <p:cNvPr id="10" name="Text 8"/>
          <p:cNvSpPr txBox="1"/>
          <p:nvPr/>
        </p:nvSpPr>
        <p:spPr>
          <a:xfrm>
            <a:off x="6400800" y="2057400"/>
            <a:ext cx="5257800" cy="292608"/>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Gemini 2.5 Flash against the eval set</a:t>
            </a:r>
            <a:endParaRPr lang="en-US" sz="1400" dirty="0"/>
          </a:p>
        </p:txBody>
      </p:sp>
      <p:sp>
        <p:nvSpPr>
          <p:cNvPr id="11" name="Text 9"/>
          <p:cNvSpPr txBox="1"/>
          <p:nvPr/>
        </p:nvSpPr>
        <p:spPr>
          <a:xfrm>
            <a:off x="6400800" y="2359152"/>
            <a:ext cx="5257800" cy="7315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Roughly 4–6× cheaper per text lead on our token counts, and it takes audio natively, which would remove Deepgram as a vendor. Decided by the 70-case evals, not by a slide. No Bedrock path, which counts against it for this stack.</a:t>
            </a:r>
            <a:endParaRPr lang="en-US" sz="1100" dirty="0"/>
          </a:p>
        </p:txBody>
      </p:sp>
      <p:sp>
        <p:nvSpPr>
          <p:cNvPr id="12" name="Text 10"/>
          <p:cNvSpPr txBox="1"/>
          <p:nvPr/>
        </p:nvSpPr>
        <p:spPr>
          <a:xfrm>
            <a:off x="6400800" y="3081528"/>
            <a:ext cx="5257800" cy="292608"/>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Chat CRUD by tool use</a:t>
            </a:r>
            <a:endParaRPr lang="en-US" sz="1400" dirty="0"/>
          </a:p>
        </p:txBody>
      </p:sp>
      <p:sp>
        <p:nvSpPr>
          <p:cNvPr id="13" name="Text 11"/>
          <p:cNvSpPr txBox="1"/>
          <p:nvPr/>
        </p:nvSpPr>
        <p:spPr>
          <a:xfrm>
            <a:off x="6400800" y="3383280"/>
            <a:ext cx="5257800" cy="7315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"Change the mobile for the Acme lead." The one genuinely open-ended surface, via the SDK's own tool runner with strict tools. Designed, not built.</a:t>
            </a:r>
            <a:endParaRPr lang="en-US" sz="1100" dirty="0"/>
          </a:p>
        </p:txBody>
      </p:sp>
      <p:sp>
        <p:nvSpPr>
          <p:cNvPr id="14" name="Text 12"/>
          <p:cNvSpPr txBox="1"/>
          <p:nvPr/>
        </p:nvSpPr>
        <p:spPr>
          <a:xfrm>
            <a:off x="6400800" y="4105656"/>
            <a:ext cx="5257800" cy="292608"/>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Harden the channel</a:t>
            </a:r>
            <a:endParaRPr lang="en-US" sz="1400" dirty="0"/>
          </a:p>
        </p:txBody>
      </p:sp>
      <p:sp>
        <p:nvSpPr>
          <p:cNvPr id="15" name="Text 13"/>
          <p:cNvSpPr txBox="1"/>
          <p:nvPr/>
        </p:nvSpPr>
        <p:spPr>
          <a:xfrm>
            <a:off x="6400800" y="4407408"/>
            <a:ext cx="5257800" cy="7315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JWT validation, the real Teams client once sideloading is approved, an adversarial business-card set hard enough to lower confidence.</a:t>
            </a:r>
            <a:endParaRPr lang="en-US" sz="1100" dirty="0"/>
          </a:p>
        </p:txBody>
      </p:sp>
      <p:sp>
        <p:nvSpPr>
          <p:cNvPr id="16" name="Text 14"/>
          <p:cNvSpPr txBox="1"/>
          <p:nvPr/>
        </p:nvSpPr>
        <p:spPr>
          <a:xfrm>
            <a:off x="6400800" y="5129784"/>
            <a:ext cx="5257800" cy="292608"/>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Connect the store</a:t>
            </a:r>
            <a:endParaRPr lang="en-US" sz="1400" dirty="0"/>
          </a:p>
        </p:txBody>
      </p:sp>
      <p:sp>
        <p:nvSpPr>
          <p:cNvPr id="17" name="Text 15"/>
          <p:cNvSpPr txBox="1"/>
          <p:nvPr/>
        </p:nvSpPr>
        <p:spPr>
          <a:xfrm>
            <a:off x="6400800" y="5431536"/>
            <a:ext cx="5257800" cy="731520"/>
          </a:xfrm>
          <a:prstGeom prst="rect">
            <a:avLst/>
          </a:prstGeom>
          <a:noFill/>
          <a:ln/>
        </p:spPr>
        <p:txBody>
          <a:bodyPr wrap="square" lIns="0" tIns="0" rIns="0" bIns="0" rtlCol="0" anchor="t"/>
          <a:lstStyle/>
          <a:p>
            <a:pPr algn="l" indent="0" marL="0">
              <a:lnSpc>
                <a:spcPct val="110000"/>
              </a:lnSpc>
              <a:buNone/>
            </a:pPr>
            <a:r>
              <a:rPr lang="en-US" sz="1100" dirty="0">
                <a:solidFill>
                  <a:srgbClr val="6B7280"/>
                </a:solidFill>
                <a:latin typeface="Calibri" pitchFamily="34" charset="0"/>
                <a:ea typeface="Calibri" pitchFamily="34" charset="-122"/>
                <a:cs typeface="Calibri" pitchFamily="34" charset="-120"/>
              </a:rPr>
              <a:t>Replace the SQLite implementation of Store with Intrakore's CRM, using the field mapping from the CTO's answer.</a:t>
            </a:r>
            <a:endParaRPr lang="en-US" sz="1100" dirty="0"/>
          </a:p>
        </p:txBody>
      </p:sp>
      <p:sp>
        <p:nvSpPr>
          <p:cNvPr id="18" name="Text 16"/>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1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E9A23B"/>
                </a:solidFill>
                <a:latin typeface="Calibri" pitchFamily="34" charset="0"/>
                <a:ea typeface="Calibri" pitchFamily="34" charset="-122"/>
                <a:cs typeface="Calibri" pitchFamily="34" charset="-120"/>
              </a:rPr>
              <a:t>QUESTIONS  ·  5 MIN</a:t>
            </a:r>
            <a:endParaRPr lang="en-US" sz="1100" dirty="0"/>
          </a:p>
        </p:txBody>
      </p:sp>
      <p:sp>
        <p:nvSpPr>
          <p:cNvPr id="3" name="Text 1"/>
          <p:cNvSpPr txBox="1"/>
          <p:nvPr/>
        </p:nvSpPr>
        <p:spPr>
          <a:xfrm>
            <a:off x="548640" y="1828800"/>
            <a:ext cx="10972800" cy="1280160"/>
          </a:xfrm>
          <a:prstGeom prst="rect">
            <a:avLst/>
          </a:prstGeom>
          <a:noFill/>
          <a:ln/>
        </p:spPr>
        <p:txBody>
          <a:bodyPr wrap="square" lIns="0" tIns="0" rIns="0" bIns="0" rtlCol="0" anchor="ctr"/>
          <a:lstStyle/>
          <a:p>
            <a:pPr indent="0" marL="0">
              <a:buNone/>
            </a:pPr>
            <a:r>
              <a:rPr lang="en-US" sz="6000" b="1" dirty="0">
                <a:solidFill>
                  <a:srgbClr val="FFFFFF"/>
                </a:solidFill>
                <a:latin typeface="Calibri" pitchFamily="34" charset="0"/>
                <a:ea typeface="Calibri" pitchFamily="34" charset="-122"/>
                <a:cs typeface="Calibri" pitchFamily="34" charset="-120"/>
              </a:rPr>
              <a:t>Null, not a guess.</a:t>
            </a:r>
            <a:endParaRPr lang="en-US" sz="6000" dirty="0"/>
          </a:p>
        </p:txBody>
      </p:sp>
      <p:sp>
        <p:nvSpPr>
          <p:cNvPr id="4" name="Text 2"/>
          <p:cNvSpPr txBox="1"/>
          <p:nvPr/>
        </p:nvSpPr>
        <p:spPr>
          <a:xfrm>
            <a:off x="548640" y="3108960"/>
            <a:ext cx="9144000" cy="548640"/>
          </a:xfrm>
          <a:prstGeom prst="rect">
            <a:avLst/>
          </a:prstGeom>
          <a:noFill/>
          <a:ln/>
        </p:spPr>
        <p:txBody>
          <a:bodyPr wrap="square" lIns="0" tIns="0" rIns="0" bIns="0" rtlCol="0" anchor="ctr"/>
          <a:lstStyle/>
          <a:p>
            <a:pPr indent="0" marL="0">
              <a:buNone/>
            </a:pPr>
            <a:r>
              <a:rPr lang="en-US" sz="1800" dirty="0">
                <a:solidFill>
                  <a:srgbClr val="C9CED6"/>
                </a:solidFill>
                <a:latin typeface="Calibri" pitchFamily="34" charset="0"/>
                <a:ea typeface="Calibri" pitchFamily="34" charset="-122"/>
                <a:cs typeface="Calibri" pitchFamily="34" charset="-120"/>
              </a:rPr>
              <a:t>A lead the bot is unsure about is a question to the salesperson, not a record in the CRM.</a:t>
            </a:r>
            <a:endParaRPr lang="en-US" sz="1800" dirty="0"/>
          </a:p>
        </p:txBody>
      </p:sp>
      <p:sp>
        <p:nvSpPr>
          <p:cNvPr id="5" name="Text 3"/>
          <p:cNvSpPr txBox="1"/>
          <p:nvPr/>
        </p:nvSpPr>
        <p:spPr>
          <a:xfrm>
            <a:off x="548640" y="4754880"/>
            <a:ext cx="3566160" cy="320040"/>
          </a:xfrm>
          <a:prstGeom prst="rect">
            <a:avLst/>
          </a:prstGeom>
          <a:noFill/>
          <a:ln/>
        </p:spPr>
        <p:txBody>
          <a:bodyPr wrap="square" lIns="0" tIns="0" rIns="0" bIns="0" rtlCol="0" anchor="t"/>
          <a:lstStyle/>
          <a:p>
            <a:pPr algn="l" indent="0" marL="0">
              <a:lnSpc>
                <a:spcPct val="110000"/>
              </a:lnSpc>
              <a:buNone/>
            </a:pPr>
            <a:r>
              <a:rPr lang="en-US" sz="1300" b="1" dirty="0">
                <a:solidFill>
                  <a:srgbClr val="E9A23B"/>
                </a:solidFill>
                <a:latin typeface="Calibri" pitchFamily="34" charset="0"/>
                <a:ea typeface="Calibri" pitchFamily="34" charset="-122"/>
                <a:cs typeface="Calibri" pitchFamily="34" charset="-120"/>
              </a:rPr>
              <a:t>github.com/Iroh02/kore-agent-kit</a:t>
            </a:r>
            <a:endParaRPr lang="en-US" sz="1300" dirty="0"/>
          </a:p>
        </p:txBody>
      </p:sp>
      <p:sp>
        <p:nvSpPr>
          <p:cNvPr id="6" name="Text 4"/>
          <p:cNvSpPr txBox="1"/>
          <p:nvPr/>
        </p:nvSpPr>
        <p:spPr>
          <a:xfrm>
            <a:off x="548640" y="5074920"/>
            <a:ext cx="3566160" cy="64008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Public. DECISIONS.md has the why for every choice, D1 to D16.</a:t>
            </a:r>
            <a:endParaRPr lang="en-US" sz="1150" dirty="0"/>
          </a:p>
        </p:txBody>
      </p:sp>
      <p:sp>
        <p:nvSpPr>
          <p:cNvPr id="7" name="Text 5"/>
          <p:cNvSpPr txBox="1"/>
          <p:nvPr/>
        </p:nvSpPr>
        <p:spPr>
          <a:xfrm>
            <a:off x="4297680" y="4754880"/>
            <a:ext cx="3566160" cy="320040"/>
          </a:xfrm>
          <a:prstGeom prst="rect">
            <a:avLst/>
          </a:prstGeom>
          <a:noFill/>
          <a:ln/>
        </p:spPr>
        <p:txBody>
          <a:bodyPr wrap="square" lIns="0" tIns="0" rIns="0" bIns="0" rtlCol="0" anchor="t"/>
          <a:lstStyle/>
          <a:p>
            <a:pPr algn="l" indent="0" marL="0">
              <a:lnSpc>
                <a:spcPct val="110000"/>
              </a:lnSpc>
              <a:buNone/>
            </a:pPr>
            <a:r>
              <a:rPr lang="en-US" sz="1300" b="1" dirty="0">
                <a:solidFill>
                  <a:srgbClr val="E9A23B"/>
                </a:solidFill>
                <a:latin typeface="Calibri" pitchFamily="34" charset="0"/>
                <a:ea typeface="Calibri" pitchFamily="34" charset="-122"/>
                <a:cs typeface="Calibri" pitchFamily="34" charset="-120"/>
              </a:rPr>
              <a:t>/docs on the running server</a:t>
            </a:r>
            <a:endParaRPr lang="en-US" sz="1300" dirty="0"/>
          </a:p>
        </p:txBody>
      </p:sp>
      <p:sp>
        <p:nvSpPr>
          <p:cNvPr id="8" name="Text 6"/>
          <p:cNvSpPr txBox="1"/>
          <p:nvPr/>
        </p:nvSpPr>
        <p:spPr>
          <a:xfrm>
            <a:off x="4297680" y="5074920"/>
            <a:ext cx="3566160" cy="64008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Live OpenAPI page: the architecture artifact.</a:t>
            </a:r>
            <a:endParaRPr lang="en-US" sz="1150" dirty="0"/>
          </a:p>
        </p:txBody>
      </p:sp>
      <p:sp>
        <p:nvSpPr>
          <p:cNvPr id="9" name="Text 7"/>
          <p:cNvSpPr txBox="1"/>
          <p:nvPr/>
        </p:nvSpPr>
        <p:spPr>
          <a:xfrm>
            <a:off x="8046720" y="4754880"/>
            <a:ext cx="3566160" cy="320040"/>
          </a:xfrm>
          <a:prstGeom prst="rect">
            <a:avLst/>
          </a:prstGeom>
          <a:noFill/>
          <a:ln/>
        </p:spPr>
        <p:txBody>
          <a:bodyPr wrap="square" lIns="0" tIns="0" rIns="0" bIns="0" rtlCol="0" anchor="t"/>
          <a:lstStyle/>
          <a:p>
            <a:pPr algn="l" indent="0" marL="0">
              <a:lnSpc>
                <a:spcPct val="110000"/>
              </a:lnSpc>
              <a:buNone/>
            </a:pPr>
            <a:r>
              <a:rPr lang="en-US" sz="1300" b="1" dirty="0">
                <a:solidFill>
                  <a:srgbClr val="E9A23B"/>
                </a:solidFill>
                <a:latin typeface="Calibri" pitchFamily="34" charset="0"/>
                <a:ea typeface="Calibri" pitchFamily="34" charset="-122"/>
                <a:cs typeface="Calibri" pitchFamily="34" charset="-120"/>
              </a:rPr>
              <a:t>tests/evals.py · tests/demo_check.py</a:t>
            </a:r>
            <a:endParaRPr lang="en-US" sz="1300" dirty="0"/>
          </a:p>
        </p:txBody>
      </p:sp>
      <p:sp>
        <p:nvSpPr>
          <p:cNvPr id="10" name="Text 8"/>
          <p:cNvSpPr txBox="1"/>
          <p:nvPr/>
        </p:nvSpPr>
        <p:spPr>
          <a:xfrm>
            <a:off x="8046720" y="5074920"/>
            <a:ext cx="3566160" cy="640080"/>
          </a:xfrm>
          <a:prstGeom prst="rect">
            <a:avLst/>
          </a:prstGeom>
          <a:noFill/>
          <a:ln/>
        </p:spPr>
        <p:txBody>
          <a:bodyPr wrap="square" lIns="0" tIns="0" rIns="0" bIns="0" rtlCol="0" anchor="t"/>
          <a:lstStyle/>
          <a:p>
            <a:pPr algn="l" indent="0" marL="0">
              <a:lnSpc>
                <a:spcPct val="110000"/>
              </a:lnSpc>
              <a:buNone/>
            </a:pPr>
            <a:r>
              <a:rPr lang="en-US" sz="1150" dirty="0">
                <a:solidFill>
                  <a:srgbClr val="C9CED6"/>
                </a:solidFill>
                <a:latin typeface="Calibri" pitchFamily="34" charset="0"/>
                <a:ea typeface="Calibri" pitchFamily="34" charset="-122"/>
                <a:cs typeface="Calibri" pitchFamily="34" charset="-120"/>
              </a:rPr>
              <a:t>70/70 and 25/25. Re-runnable in front of you.</a:t>
            </a:r>
            <a:endParaRPr lang="en-US" sz="1150" dirty="0"/>
          </a:p>
        </p:txBody>
      </p:sp>
      <p:sp>
        <p:nvSpPr>
          <p:cNvPr id="11" name="Text 9"/>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8A93A3"/>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APPENDIX  ·  NOT PRESENTED</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Null, not a guess</a:t>
            </a:r>
            <a:endParaRPr lang="en-US" sz="3400" dirty="0"/>
          </a:p>
        </p:txBody>
      </p:sp>
      <p:sp>
        <p:nvSpPr>
          <p:cNvPr id="4" name="Shape 2"/>
          <p:cNvSpPr/>
          <p:nvPr/>
        </p:nvSpPr>
        <p:spPr>
          <a:xfrm>
            <a:off x="548640" y="1737360"/>
            <a:ext cx="3566160" cy="1965960"/>
          </a:xfrm>
          <a:prstGeom prst="roundRect">
            <a:avLst>
              <a:gd name="adj" fmla="val 5581"/>
            </a:avLst>
          </a:prstGeom>
          <a:solidFill>
            <a:srgbClr val="F3F4F6"/>
          </a:solidFill>
          <a:ln w="12700">
            <a:solidFill>
              <a:srgbClr val="F3F4F6"/>
            </a:solidFill>
            <a:prstDash val="solid"/>
          </a:ln>
        </p:spPr>
      </p:sp>
      <p:sp>
        <p:nvSpPr>
          <p:cNvPr id="5" name="Shape 3"/>
          <p:cNvSpPr/>
          <p:nvPr/>
        </p:nvSpPr>
        <p:spPr>
          <a:xfrm>
            <a:off x="777240" y="1965960"/>
            <a:ext cx="384048" cy="384048"/>
          </a:xfrm>
          <a:prstGeom prst="ellipse">
            <a:avLst/>
          </a:prstGeom>
          <a:solidFill>
            <a:srgbClr val="E9A23B"/>
          </a:solidFill>
          <a:ln w="12700">
            <a:solidFill>
              <a:srgbClr val="E9A23B"/>
            </a:solidFill>
            <a:prstDash val="solid"/>
          </a:ln>
        </p:spPr>
      </p:sp>
      <p:sp>
        <p:nvSpPr>
          <p:cNvPr id="6" name="Text 4"/>
          <p:cNvSpPr txBox="1"/>
          <p:nvPr/>
        </p:nvSpPr>
        <p:spPr>
          <a:xfrm>
            <a:off x="777240" y="196596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938528"/>
            <a:ext cx="2651760" cy="5029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Never invent a field value</a:t>
            </a:r>
            <a:endParaRPr lang="en-US" sz="1400" dirty="0"/>
          </a:p>
        </p:txBody>
      </p:sp>
      <p:sp>
        <p:nvSpPr>
          <p:cNvPr id="8" name="Text 6"/>
          <p:cNvSpPr txBox="1"/>
          <p:nvPr/>
        </p:nvSpPr>
        <p:spPr>
          <a:xfrm>
            <a:off x="777240" y="2514600"/>
            <a:ext cx="3108960" cy="114300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A missing field comes back as null and the bot asks. A hallucinated phone number is worse than admitting we did not get one. An email domain is not a company name.</a:t>
            </a:r>
            <a:endParaRPr lang="en-US" sz="1150" dirty="0"/>
          </a:p>
        </p:txBody>
      </p:sp>
      <p:sp>
        <p:nvSpPr>
          <p:cNvPr id="9" name="Shape 7"/>
          <p:cNvSpPr/>
          <p:nvPr/>
        </p:nvSpPr>
        <p:spPr>
          <a:xfrm>
            <a:off x="4315968" y="1737360"/>
            <a:ext cx="3566160" cy="1965960"/>
          </a:xfrm>
          <a:prstGeom prst="roundRect">
            <a:avLst>
              <a:gd name="adj" fmla="val 5581"/>
            </a:avLst>
          </a:prstGeom>
          <a:solidFill>
            <a:srgbClr val="F3F4F6"/>
          </a:solidFill>
          <a:ln w="12700">
            <a:solidFill>
              <a:srgbClr val="F3F4F6"/>
            </a:solidFill>
            <a:prstDash val="solid"/>
          </a:ln>
        </p:spPr>
      </p:sp>
      <p:sp>
        <p:nvSpPr>
          <p:cNvPr id="10" name="Shape 8"/>
          <p:cNvSpPr/>
          <p:nvPr/>
        </p:nvSpPr>
        <p:spPr>
          <a:xfrm>
            <a:off x="4544568" y="1965960"/>
            <a:ext cx="384048" cy="384048"/>
          </a:xfrm>
          <a:prstGeom prst="ellipse">
            <a:avLst/>
          </a:prstGeom>
          <a:solidFill>
            <a:srgbClr val="E9A23B"/>
          </a:solidFill>
          <a:ln w="12700">
            <a:solidFill>
              <a:srgbClr val="E9A23B"/>
            </a:solidFill>
            <a:prstDash val="solid"/>
          </a:ln>
        </p:spPr>
      </p:sp>
      <p:sp>
        <p:nvSpPr>
          <p:cNvPr id="11" name="Text 9"/>
          <p:cNvSpPr txBox="1"/>
          <p:nvPr/>
        </p:nvSpPr>
        <p:spPr>
          <a:xfrm>
            <a:off x="4544568" y="196596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5047488" y="1938528"/>
            <a:ext cx="2651760" cy="5029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Never silently guess a date</a:t>
            </a:r>
            <a:endParaRPr lang="en-US" sz="1400" dirty="0"/>
          </a:p>
        </p:txBody>
      </p:sp>
      <p:sp>
        <p:nvSpPr>
          <p:cNvPr id="13" name="Text 11"/>
          <p:cNvSpPr txBox="1"/>
          <p:nvPr/>
        </p:nvSpPr>
        <p:spPr>
          <a:xfrm>
            <a:off x="4544568" y="2514600"/>
            <a:ext cx="3108960" cy="114300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Follow-up parsing is tri-state: RESOLVED, AMBIGUOUS, NONE. "After 2 days" resolves. "Next week sometime" comes back as a question: which day?</a:t>
            </a:r>
            <a:endParaRPr lang="en-US" sz="1150" dirty="0"/>
          </a:p>
        </p:txBody>
      </p:sp>
      <p:sp>
        <p:nvSpPr>
          <p:cNvPr id="14" name="Shape 12"/>
          <p:cNvSpPr/>
          <p:nvPr/>
        </p:nvSpPr>
        <p:spPr>
          <a:xfrm>
            <a:off x="8083296" y="1737360"/>
            <a:ext cx="3566160" cy="1965960"/>
          </a:xfrm>
          <a:prstGeom prst="roundRect">
            <a:avLst>
              <a:gd name="adj" fmla="val 5581"/>
            </a:avLst>
          </a:prstGeom>
          <a:solidFill>
            <a:srgbClr val="F3F4F6"/>
          </a:solidFill>
          <a:ln w="12700">
            <a:solidFill>
              <a:srgbClr val="F3F4F6"/>
            </a:solidFill>
            <a:prstDash val="solid"/>
          </a:ln>
        </p:spPr>
      </p:sp>
      <p:sp>
        <p:nvSpPr>
          <p:cNvPr id="15" name="Shape 13"/>
          <p:cNvSpPr/>
          <p:nvPr/>
        </p:nvSpPr>
        <p:spPr>
          <a:xfrm>
            <a:off x="8311896" y="1965960"/>
            <a:ext cx="384048" cy="384048"/>
          </a:xfrm>
          <a:prstGeom prst="ellipse">
            <a:avLst/>
          </a:prstGeom>
          <a:solidFill>
            <a:srgbClr val="E9A23B"/>
          </a:solidFill>
          <a:ln w="12700">
            <a:solidFill>
              <a:srgbClr val="E9A23B"/>
            </a:solidFill>
            <a:prstDash val="solid"/>
          </a:ln>
        </p:spPr>
      </p:sp>
      <p:sp>
        <p:nvSpPr>
          <p:cNvPr id="16" name="Text 14"/>
          <p:cNvSpPr txBox="1"/>
          <p:nvPr/>
        </p:nvSpPr>
        <p:spPr>
          <a:xfrm>
            <a:off x="8311896" y="196596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814816" y="1938528"/>
            <a:ext cx="2651760" cy="5029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One message never becomes two leads</a:t>
            </a:r>
            <a:endParaRPr lang="en-US" sz="1400" dirty="0"/>
          </a:p>
        </p:txBody>
      </p:sp>
      <p:sp>
        <p:nvSpPr>
          <p:cNvPr id="18" name="Text 16"/>
          <p:cNvSpPr txBox="1"/>
          <p:nvPr/>
        </p:nvSpPr>
        <p:spPr>
          <a:xfrm>
            <a:off x="8311896" y="2514600"/>
            <a:ext cx="3108960" cy="114300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Idempotent on the Teams activity_id, because Teams retries deliveries. Dedupe on normalised email, then mobile. The card says which field matched.</a:t>
            </a:r>
            <a:endParaRPr lang="en-US" sz="1150" dirty="0"/>
          </a:p>
        </p:txBody>
      </p:sp>
      <p:sp>
        <p:nvSpPr>
          <p:cNvPr id="19" name="Shape 17"/>
          <p:cNvSpPr/>
          <p:nvPr/>
        </p:nvSpPr>
        <p:spPr>
          <a:xfrm>
            <a:off x="548640" y="3931920"/>
            <a:ext cx="3566160" cy="1965960"/>
          </a:xfrm>
          <a:prstGeom prst="roundRect">
            <a:avLst>
              <a:gd name="adj" fmla="val 5581"/>
            </a:avLst>
          </a:prstGeom>
          <a:solidFill>
            <a:srgbClr val="FFFFFF"/>
          </a:solidFill>
          <a:ln w="12700">
            <a:solidFill>
              <a:srgbClr val="FFFFFF"/>
            </a:solidFill>
            <a:prstDash val="solid"/>
          </a:ln>
        </p:spPr>
      </p:sp>
      <p:sp>
        <p:nvSpPr>
          <p:cNvPr id="20" name="Shape 18"/>
          <p:cNvSpPr/>
          <p:nvPr/>
        </p:nvSpPr>
        <p:spPr>
          <a:xfrm>
            <a:off x="548640" y="3931920"/>
            <a:ext cx="3566160" cy="1965960"/>
          </a:xfrm>
          <a:prstGeom prst="roundRect">
            <a:avLst>
              <a:gd name="adj" fmla="val 5581"/>
            </a:avLst>
          </a:prstGeom>
          <a:solidFill>
            <a:srgbClr val="FFFFFF"/>
          </a:solidFill>
          <a:ln w="12700">
            <a:solidFill>
              <a:srgbClr val="E9EBEF"/>
            </a:solidFill>
            <a:prstDash val="solid"/>
          </a:ln>
        </p:spPr>
      </p:sp>
      <p:sp>
        <p:nvSpPr>
          <p:cNvPr id="21" name="Shape 19"/>
          <p:cNvSpPr/>
          <p:nvPr/>
        </p:nvSpPr>
        <p:spPr>
          <a:xfrm>
            <a:off x="777240" y="4160520"/>
            <a:ext cx="384048" cy="384048"/>
          </a:xfrm>
          <a:prstGeom prst="ellipse">
            <a:avLst/>
          </a:prstGeom>
          <a:solidFill>
            <a:srgbClr val="E9A23B"/>
          </a:solidFill>
          <a:ln w="12700">
            <a:solidFill>
              <a:srgbClr val="E9A23B"/>
            </a:solidFill>
            <a:prstDash val="solid"/>
          </a:ln>
        </p:spPr>
      </p:sp>
      <p:sp>
        <p:nvSpPr>
          <p:cNvPr id="22" name="Text 20"/>
          <p:cNvSpPr txBox="1"/>
          <p:nvPr/>
        </p:nvSpPr>
        <p:spPr>
          <a:xfrm>
            <a:off x="777240" y="416052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1280160" y="4133088"/>
            <a:ext cx="2651760" cy="5029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Every model call is priced from real usage</a:t>
            </a:r>
            <a:endParaRPr lang="en-US" sz="1400" dirty="0"/>
          </a:p>
        </p:txBody>
      </p:sp>
      <p:sp>
        <p:nvSpPr>
          <p:cNvPr id="24" name="Text 22"/>
          <p:cNvSpPr txBox="1"/>
          <p:nvPr/>
        </p:nvSpPr>
        <p:spPr>
          <a:xfrm>
            <a:off x="777240" y="4709160"/>
            <a:ext cx="3108960" cy="114300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response.usage times the published per-MTok rate, into the ledger, at the moment of the call. Never estimated, never bolted on afterwards.</a:t>
            </a:r>
            <a:endParaRPr lang="en-US" sz="1150" dirty="0"/>
          </a:p>
        </p:txBody>
      </p:sp>
      <p:sp>
        <p:nvSpPr>
          <p:cNvPr id="25" name="Shape 23"/>
          <p:cNvSpPr/>
          <p:nvPr/>
        </p:nvSpPr>
        <p:spPr>
          <a:xfrm>
            <a:off x="4315968" y="3931920"/>
            <a:ext cx="3566160" cy="1965960"/>
          </a:xfrm>
          <a:prstGeom prst="roundRect">
            <a:avLst>
              <a:gd name="adj" fmla="val 5581"/>
            </a:avLst>
          </a:prstGeom>
          <a:solidFill>
            <a:srgbClr val="FFFFFF"/>
          </a:solidFill>
          <a:ln w="12700">
            <a:solidFill>
              <a:srgbClr val="FFFFFF"/>
            </a:solidFill>
            <a:prstDash val="solid"/>
          </a:ln>
        </p:spPr>
      </p:sp>
      <p:sp>
        <p:nvSpPr>
          <p:cNvPr id="26" name="Shape 24"/>
          <p:cNvSpPr/>
          <p:nvPr/>
        </p:nvSpPr>
        <p:spPr>
          <a:xfrm>
            <a:off x="4315968" y="3931920"/>
            <a:ext cx="3566160" cy="1965960"/>
          </a:xfrm>
          <a:prstGeom prst="roundRect">
            <a:avLst>
              <a:gd name="adj" fmla="val 5581"/>
            </a:avLst>
          </a:prstGeom>
          <a:solidFill>
            <a:srgbClr val="FFFFFF"/>
          </a:solidFill>
          <a:ln w="12700">
            <a:solidFill>
              <a:srgbClr val="E9EBEF"/>
            </a:solidFill>
            <a:prstDash val="solid"/>
          </a:ln>
        </p:spPr>
      </p:sp>
      <p:sp>
        <p:nvSpPr>
          <p:cNvPr id="27" name="Shape 25"/>
          <p:cNvSpPr/>
          <p:nvPr/>
        </p:nvSpPr>
        <p:spPr>
          <a:xfrm>
            <a:off x="4544568" y="4160520"/>
            <a:ext cx="384048" cy="384048"/>
          </a:xfrm>
          <a:prstGeom prst="ellipse">
            <a:avLst/>
          </a:prstGeom>
          <a:solidFill>
            <a:srgbClr val="E9A23B"/>
          </a:solidFill>
          <a:ln w="12700">
            <a:solidFill>
              <a:srgbClr val="E9A23B"/>
            </a:solidFill>
            <a:prstDash val="solid"/>
          </a:ln>
        </p:spPr>
      </p:sp>
      <p:sp>
        <p:nvSpPr>
          <p:cNvPr id="28" name="Text 26"/>
          <p:cNvSpPr txBox="1"/>
          <p:nvPr/>
        </p:nvSpPr>
        <p:spPr>
          <a:xfrm>
            <a:off x="4544568" y="416052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5047488" y="4133088"/>
            <a:ext cx="2651760" cy="5029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Nothing crashes in front of the salesperson</a:t>
            </a:r>
            <a:endParaRPr lang="en-US" sz="1400" dirty="0"/>
          </a:p>
        </p:txBody>
      </p:sp>
      <p:sp>
        <p:nvSpPr>
          <p:cNvPr id="30" name="Text 28"/>
          <p:cNvSpPr txBox="1"/>
          <p:nvPr/>
        </p:nvSpPr>
        <p:spPr>
          <a:xfrm>
            <a:off x="4544568" y="4709160"/>
            <a:ext cx="3108960" cy="114300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Every external call, Claude, Deepgram, Teams, degrades to a typed error the bot can say out loud. A failed extraction asks a question. It never 500s into silence.</a:t>
            </a:r>
            <a:endParaRPr lang="en-US" sz="1150" dirty="0"/>
          </a:p>
        </p:txBody>
      </p:sp>
      <p:sp>
        <p:nvSpPr>
          <p:cNvPr id="31" name="Shape 29"/>
          <p:cNvSpPr/>
          <p:nvPr/>
        </p:nvSpPr>
        <p:spPr>
          <a:xfrm>
            <a:off x="8083296" y="3931920"/>
            <a:ext cx="3566160" cy="1965960"/>
          </a:xfrm>
          <a:prstGeom prst="roundRect">
            <a:avLst>
              <a:gd name="adj" fmla="val 5581"/>
            </a:avLst>
          </a:prstGeom>
          <a:solidFill>
            <a:srgbClr val="FFFFFF"/>
          </a:solidFill>
          <a:ln w="12700">
            <a:solidFill>
              <a:srgbClr val="FFFFFF"/>
            </a:solidFill>
            <a:prstDash val="solid"/>
          </a:ln>
        </p:spPr>
      </p:sp>
      <p:sp>
        <p:nvSpPr>
          <p:cNvPr id="32" name="Shape 30"/>
          <p:cNvSpPr/>
          <p:nvPr/>
        </p:nvSpPr>
        <p:spPr>
          <a:xfrm>
            <a:off x="8083296" y="3931920"/>
            <a:ext cx="3566160" cy="1965960"/>
          </a:xfrm>
          <a:prstGeom prst="roundRect">
            <a:avLst>
              <a:gd name="adj" fmla="val 5581"/>
            </a:avLst>
          </a:prstGeom>
          <a:solidFill>
            <a:srgbClr val="FFFFFF"/>
          </a:solidFill>
          <a:ln w="12700">
            <a:solidFill>
              <a:srgbClr val="E9EBEF"/>
            </a:solidFill>
            <a:prstDash val="solid"/>
          </a:ln>
        </p:spPr>
      </p:sp>
      <p:sp>
        <p:nvSpPr>
          <p:cNvPr id="33" name="Shape 31"/>
          <p:cNvSpPr/>
          <p:nvPr/>
        </p:nvSpPr>
        <p:spPr>
          <a:xfrm>
            <a:off x="8311896" y="4160520"/>
            <a:ext cx="384048" cy="384048"/>
          </a:xfrm>
          <a:prstGeom prst="ellipse">
            <a:avLst/>
          </a:prstGeom>
          <a:solidFill>
            <a:srgbClr val="E9A23B"/>
          </a:solidFill>
          <a:ln w="12700">
            <a:solidFill>
              <a:srgbClr val="E9A23B"/>
            </a:solidFill>
            <a:prstDash val="solid"/>
          </a:ln>
        </p:spPr>
      </p:sp>
      <p:sp>
        <p:nvSpPr>
          <p:cNvPr id="34" name="Text 32"/>
          <p:cNvSpPr txBox="1"/>
          <p:nvPr/>
        </p:nvSpPr>
        <p:spPr>
          <a:xfrm>
            <a:off x="8311896" y="4160520"/>
            <a:ext cx="384048" cy="384048"/>
          </a:xfrm>
          <a:prstGeom prst="rect">
            <a:avLst/>
          </a:prstGeom>
          <a:noFill/>
          <a:ln/>
        </p:spPr>
        <p:txBody>
          <a:bodyPr wrap="square" lIns="0" tIns="0" rIns="0" bIns="0" rtlCol="0" anchor="ctr"/>
          <a:lstStyle/>
          <a:p>
            <a:pPr algn="ctr" indent="0" marL="0">
              <a:buNone/>
            </a:pPr>
            <a:r>
              <a:rPr lang="en-US" sz="1300" b="1" dirty="0">
                <a:solidFill>
                  <a:srgbClr val="14181F"/>
                </a:solidFill>
                <a:latin typeface="Calibri" pitchFamily="34" charset="0"/>
                <a:ea typeface="Calibri" pitchFamily="34" charset="-122"/>
                <a:cs typeface="Calibri" pitchFamily="34" charset="-120"/>
              </a:rPr>
              <a:t>6</a:t>
            </a:r>
            <a:endParaRPr lang="en-US" sz="1300" dirty="0"/>
          </a:p>
        </p:txBody>
      </p:sp>
      <p:sp>
        <p:nvSpPr>
          <p:cNvPr id="35" name="Text 33"/>
          <p:cNvSpPr txBox="1"/>
          <p:nvPr/>
        </p:nvSpPr>
        <p:spPr>
          <a:xfrm>
            <a:off x="8814816" y="4133088"/>
            <a:ext cx="2651760" cy="502920"/>
          </a:xfrm>
          <a:prstGeom prst="rect">
            <a:avLst/>
          </a:prstGeom>
          <a:noFill/>
          <a:ln/>
        </p:spPr>
        <p:txBody>
          <a:bodyPr wrap="square" lIns="0" tIns="0" rIns="0" bIns="0" rtlCol="0" anchor="t"/>
          <a:lstStyle/>
          <a:p>
            <a:pPr algn="l" indent="0" marL="0">
              <a:lnSpc>
                <a:spcPct val="110000"/>
              </a:lnSpc>
              <a:buNone/>
            </a:pPr>
            <a:r>
              <a:rPr lang="en-US" sz="1400" b="1" dirty="0">
                <a:solidFill>
                  <a:srgbClr val="1F2937"/>
                </a:solidFill>
                <a:latin typeface="Calibri" pitchFamily="34" charset="0"/>
                <a:ea typeface="Calibri" pitchFamily="34" charset="-122"/>
                <a:cs typeface="Calibri" pitchFamily="34" charset="-120"/>
              </a:rPr>
              <a:t>Anything mocked is labelled</a:t>
            </a:r>
            <a:endParaRPr lang="en-US" sz="1400" dirty="0"/>
          </a:p>
        </p:txBody>
      </p:sp>
      <p:sp>
        <p:nvSpPr>
          <p:cNvPr id="36" name="Text 34"/>
          <p:cNvSpPr txBox="1"/>
          <p:nvPr/>
        </p:nvSpPr>
        <p:spPr>
          <a:xfrm>
            <a:off x="8311896" y="4709160"/>
            <a:ext cx="3108960" cy="114300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In the code and on the risks slide. The store is ours, not Intrakore's CRM. Web Chat, not a Teams client. We say so.</a:t>
            </a:r>
            <a:endParaRPr lang="en-US" sz="1150" dirty="0"/>
          </a:p>
        </p:txBody>
      </p:sp>
      <p:sp>
        <p:nvSpPr>
          <p:cNvPr id="37" name="Text 3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APPENDIX  ·  NOT PRESENTED</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Measured four configs, picked per path, kept the evals green</a:t>
            </a:r>
            <a:endParaRPr lang="en-US" sz="3400" dirty="0"/>
          </a:p>
        </p:txBody>
      </p:sp>
      <p:sp>
        <p:nvSpPr>
          <p:cNvPr id="4" name="Shape 2"/>
          <p:cNvSpPr/>
          <p:nvPr/>
        </p:nvSpPr>
        <p:spPr>
          <a:xfrm>
            <a:off x="548640" y="1737360"/>
            <a:ext cx="5486400" cy="2514600"/>
          </a:xfrm>
          <a:prstGeom prst="roundRect">
            <a:avLst>
              <a:gd name="adj" fmla="val 4364"/>
            </a:avLst>
          </a:prstGeom>
          <a:solidFill>
            <a:srgbClr val="F3F4F6"/>
          </a:solidFill>
          <a:ln w="12700">
            <a:solidFill>
              <a:srgbClr val="F3F4F6"/>
            </a:solidFill>
            <a:prstDash val="solid"/>
          </a:ln>
        </p:spPr>
      </p:sp>
      <p:sp>
        <p:nvSpPr>
          <p:cNvPr id="5" name="Text 3"/>
          <p:cNvSpPr txBox="1"/>
          <p:nvPr/>
        </p:nvSpPr>
        <p:spPr>
          <a:xfrm>
            <a:off x="822960" y="1874520"/>
            <a:ext cx="274320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FREE-TEXT PATH</a:t>
            </a:r>
            <a:endParaRPr lang="en-US" sz="1100" dirty="0"/>
          </a:p>
        </p:txBody>
      </p:sp>
      <p:sp>
        <p:nvSpPr>
          <p:cNvPr id="6" name="Text 4"/>
          <p:cNvSpPr txBox="1"/>
          <p:nvPr/>
        </p:nvSpPr>
        <p:spPr>
          <a:xfrm>
            <a:off x="822960" y="2148840"/>
            <a:ext cx="2286000" cy="822960"/>
          </a:xfrm>
          <a:prstGeom prst="rect">
            <a:avLst/>
          </a:prstGeom>
          <a:noFill/>
          <a:ln/>
        </p:spPr>
        <p:txBody>
          <a:bodyPr wrap="square" lIns="0" tIns="0" rIns="0" bIns="0" rtlCol="0" anchor="b"/>
          <a:lstStyle/>
          <a:p>
            <a:pPr algn="l" indent="0" marL="0">
              <a:buNone/>
            </a:pPr>
            <a:r>
              <a:rPr lang="en-US" sz="3000" b="1" dirty="0">
                <a:solidFill>
                  <a:srgbClr val="6B7280"/>
                </a:solidFill>
                <a:latin typeface="Calibri" pitchFamily="34" charset="0"/>
                <a:ea typeface="Calibri" pitchFamily="34" charset="-122"/>
                <a:cs typeface="Calibri" pitchFamily="34" charset="-120"/>
              </a:rPr>
              <a:t>4,965 ms</a:t>
            </a:r>
            <a:endParaRPr lang="en-US" sz="3000" dirty="0"/>
          </a:p>
        </p:txBody>
      </p:sp>
      <p:sp>
        <p:nvSpPr>
          <p:cNvPr id="7" name="Text 5"/>
          <p:cNvSpPr txBox="1"/>
          <p:nvPr/>
        </p:nvSpPr>
        <p:spPr>
          <a:xfrm>
            <a:off x="822960" y="3017520"/>
            <a:ext cx="228600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Opus 5, default effort</a:t>
            </a:r>
            <a:endParaRPr lang="en-US" sz="1200" dirty="0"/>
          </a:p>
        </p:txBody>
      </p:sp>
      <p:sp>
        <p:nvSpPr>
          <p:cNvPr id="8" name="Text 6"/>
          <p:cNvSpPr txBox="1"/>
          <p:nvPr/>
        </p:nvSpPr>
        <p:spPr>
          <a:xfrm>
            <a:off x="822960" y="2880360"/>
            <a:ext cx="2286000" cy="822960"/>
          </a:xfrm>
          <a:prstGeom prst="rect">
            <a:avLst/>
          </a:prstGeom>
          <a:noFill/>
          <a:ln/>
        </p:spPr>
        <p:txBody>
          <a:bodyPr wrap="square" lIns="0" tIns="0" rIns="0" bIns="0" rtlCol="0" anchor="b"/>
          <a:lstStyle/>
          <a:p>
            <a:pPr algn="l" indent="0" marL="0">
              <a:buNone/>
            </a:pPr>
            <a:r>
              <a:rPr lang="en-US" sz="2200" b="1" dirty="0">
                <a:solidFill>
                  <a:srgbClr val="6B7280"/>
                </a:solidFill>
                <a:latin typeface="Calibri" pitchFamily="34" charset="0"/>
                <a:ea typeface="Calibri" pitchFamily="34" charset="-122"/>
                <a:cs typeface="Calibri" pitchFamily="34" charset="-120"/>
              </a:rPr>
              <a:t>$0.0097</a:t>
            </a:r>
            <a:endParaRPr lang="en-US" sz="2200" dirty="0"/>
          </a:p>
        </p:txBody>
      </p:sp>
      <p:sp>
        <p:nvSpPr>
          <p:cNvPr id="9" name="Text 7"/>
          <p:cNvSpPr txBox="1"/>
          <p:nvPr/>
        </p:nvSpPr>
        <p:spPr>
          <a:xfrm>
            <a:off x="822960" y="3749040"/>
            <a:ext cx="228600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per lead, before</a:t>
            </a:r>
            <a:endParaRPr lang="en-US" sz="1200" dirty="0"/>
          </a:p>
        </p:txBody>
      </p:sp>
      <p:sp>
        <p:nvSpPr>
          <p:cNvPr id="10" name="Shape 8"/>
          <p:cNvSpPr/>
          <p:nvPr/>
        </p:nvSpPr>
        <p:spPr>
          <a:xfrm>
            <a:off x="3246120" y="2834640"/>
            <a:ext cx="457200" cy="0"/>
          </a:xfrm>
          <a:prstGeom prst="line">
            <a:avLst/>
          </a:prstGeom>
          <a:noFill/>
          <a:ln w="38100">
            <a:solidFill>
              <a:srgbClr val="E9A23B"/>
            </a:solidFill>
            <a:prstDash val="solid"/>
            <a:tailEnd type="triangle"/>
          </a:ln>
        </p:spPr>
      </p:sp>
      <p:sp>
        <p:nvSpPr>
          <p:cNvPr id="11" name="Text 9"/>
          <p:cNvSpPr txBox="1"/>
          <p:nvPr/>
        </p:nvSpPr>
        <p:spPr>
          <a:xfrm>
            <a:off x="3840480" y="2148840"/>
            <a:ext cx="2194560" cy="822960"/>
          </a:xfrm>
          <a:prstGeom prst="rect">
            <a:avLst/>
          </a:prstGeom>
          <a:noFill/>
          <a:ln/>
        </p:spPr>
        <p:txBody>
          <a:bodyPr wrap="square" lIns="0" tIns="0" rIns="0" bIns="0" rtlCol="0" anchor="b"/>
          <a:lstStyle/>
          <a:p>
            <a:pPr algn="l" indent="0" marL="0">
              <a:buNone/>
            </a:pPr>
            <a:r>
              <a:rPr lang="en-US" sz="3000" b="1" dirty="0">
                <a:solidFill>
                  <a:srgbClr val="14181F"/>
                </a:solidFill>
                <a:latin typeface="Calibri" pitchFamily="34" charset="0"/>
                <a:ea typeface="Calibri" pitchFamily="34" charset="-122"/>
                <a:cs typeface="Calibri" pitchFamily="34" charset="-120"/>
              </a:rPr>
              <a:t>2,396 ms</a:t>
            </a:r>
            <a:endParaRPr lang="en-US" sz="3000" dirty="0"/>
          </a:p>
        </p:txBody>
      </p:sp>
      <p:sp>
        <p:nvSpPr>
          <p:cNvPr id="12" name="Text 10"/>
          <p:cNvSpPr txBox="1"/>
          <p:nvPr/>
        </p:nvSpPr>
        <p:spPr>
          <a:xfrm>
            <a:off x="3840480" y="3017520"/>
            <a:ext cx="219456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Sonnet 5, low effort</a:t>
            </a:r>
            <a:endParaRPr lang="en-US" sz="1200" dirty="0"/>
          </a:p>
        </p:txBody>
      </p:sp>
      <p:sp>
        <p:nvSpPr>
          <p:cNvPr id="13" name="Text 11"/>
          <p:cNvSpPr txBox="1"/>
          <p:nvPr/>
        </p:nvSpPr>
        <p:spPr>
          <a:xfrm>
            <a:off x="3840480" y="2880360"/>
            <a:ext cx="2194560" cy="822960"/>
          </a:xfrm>
          <a:prstGeom prst="rect">
            <a:avLst/>
          </a:prstGeom>
          <a:noFill/>
          <a:ln/>
        </p:spPr>
        <p:txBody>
          <a:bodyPr wrap="square" lIns="0" tIns="0" rIns="0" bIns="0" rtlCol="0" anchor="b"/>
          <a:lstStyle/>
          <a:p>
            <a:pPr algn="l" indent="0" marL="0">
              <a:buNone/>
            </a:pPr>
            <a:r>
              <a:rPr lang="en-US" sz="2200" b="1" dirty="0">
                <a:solidFill>
                  <a:srgbClr val="14181F"/>
                </a:solidFill>
                <a:latin typeface="Calibri" pitchFamily="34" charset="0"/>
                <a:ea typeface="Calibri" pitchFamily="34" charset="-122"/>
                <a:cs typeface="Calibri" pitchFamily="34" charset="-120"/>
              </a:rPr>
              <a:t>$0.0029</a:t>
            </a:r>
            <a:endParaRPr lang="en-US" sz="2200" dirty="0"/>
          </a:p>
        </p:txBody>
      </p:sp>
      <p:sp>
        <p:nvSpPr>
          <p:cNvPr id="14" name="Text 12"/>
          <p:cNvSpPr txBox="1"/>
          <p:nvPr/>
        </p:nvSpPr>
        <p:spPr>
          <a:xfrm>
            <a:off x="3840480" y="3749040"/>
            <a:ext cx="219456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per lead, after</a:t>
            </a:r>
            <a:endParaRPr lang="en-US" sz="1200" dirty="0"/>
          </a:p>
        </p:txBody>
      </p:sp>
      <p:sp>
        <p:nvSpPr>
          <p:cNvPr id="15" name="Text 13"/>
          <p:cNvSpPr txBox="1"/>
          <p:nvPr/>
        </p:nvSpPr>
        <p:spPr>
          <a:xfrm>
            <a:off x="548640" y="4434840"/>
            <a:ext cx="5486400" cy="1737360"/>
          </a:xfrm>
          <a:prstGeom prst="rect">
            <a:avLst/>
          </a:prstGeom>
          <a:noFill/>
          <a:ln/>
        </p:spPr>
        <p:txBody>
          <a:bodyPr wrap="square" lIns="0" tIns="0" rIns="0" bIns="0" rtlCol="0" anchor="t"/>
          <a:lstStyle/>
          <a:p>
            <a:pPr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Four configurations measured: model × effort. Selected per path, not globally.</a:t>
            </a:r>
            <a:endParaRPr lang="en-US" sz="1200" dirty="0"/>
          </a:p>
          <a:p>
            <a:pPr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Vision stayed on Opus 5 at default effort, deliberately. 4 business cards, every field correct.</a:t>
            </a:r>
            <a:endParaRPr lang="en-US" sz="1200" dirty="0"/>
          </a:p>
          <a:p>
            <a:pPr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Haiku 4.5 rejected: the API returns 400 on the effort parameter.</a:t>
            </a:r>
            <a:endParaRPr lang="en-US" sz="1200" dirty="0"/>
          </a:p>
          <a:p>
            <a:pPr marL="177800" indent="-177800">
              <a:spcAft>
                <a:spcPts val="500"/>
              </a:spcAft>
              <a:buSzPct val="100000"/>
              <a:buChar char="•"/>
            </a:pPr>
            <a:r>
              <a:rPr lang="en-US" sz="1200" dirty="0">
                <a:solidFill>
                  <a:srgbClr val="1F2937"/>
                </a:solidFill>
                <a:latin typeface="Calibri" pitchFamily="34" charset="0"/>
                <a:ea typeface="Calibri" pitchFamily="34" charset="-122"/>
                <a:cs typeface="Calibri" pitchFamily="34" charset="-120"/>
              </a:rPr>
              <a:t>Found in passing: .env had pinned the model to Opus and was silently overriding the tuning.</a:t>
            </a:r>
            <a:endParaRPr lang="en-US" sz="1200" dirty="0"/>
          </a:p>
        </p:txBody>
      </p:sp>
      <p:sp>
        <p:nvSpPr>
          <p:cNvPr id="16" name="Text 14"/>
          <p:cNvSpPr txBox="1"/>
          <p:nvPr/>
        </p:nvSpPr>
        <p:spPr>
          <a:xfrm>
            <a:off x="6400800" y="1737360"/>
            <a:ext cx="5212080" cy="274320"/>
          </a:xfrm>
          <a:prstGeom prst="rect">
            <a:avLst/>
          </a:prstGeom>
          <a:noFill/>
          <a:ln/>
        </p:spPr>
        <p:txBody>
          <a:bodyPr wrap="square" lIns="0" tIns="0" rIns="0" bIns="0" rtlCol="0" anchor="t"/>
          <a:lstStyle/>
          <a:p>
            <a:pPr algn="l" indent="0" marL="0">
              <a:lnSpc>
                <a:spcPct val="110000"/>
              </a:lnSpc>
              <a:buNone/>
            </a:pPr>
            <a:r>
              <a:rPr lang="en-US" sz="1100" b="1" dirty="0">
                <a:solidFill>
                  <a:srgbClr val="B97A1E"/>
                </a:solidFill>
                <a:latin typeface="Calibri" pitchFamily="34" charset="0"/>
                <a:ea typeface="Calibri" pitchFamily="34" charset="-122"/>
                <a:cs typeface="Calibri" pitchFamily="34" charset="-120"/>
              </a:rPr>
              <a:t>CONFIDENCE CALIBRATION, FROM THE EVALS</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0" y="2057400"/>
          <a:ext cx="5257800" cy="914400"/>
        </p:xfrm>
        <a:graphic>
          <a:graphicData uri="http://schemas.openxmlformats.org/drawingml/2006/table">
            <a:tbl>
              <a:tblPr/>
              <a:tblGrid>
                <a:gridCol w="2331720"/>
                <a:gridCol w="914400"/>
                <a:gridCol w="2011680"/>
              </a:tblGrid>
              <a:tr h="38404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Input</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Confidence</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14181F"/>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Clean free text</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0.90</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created</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Messy free text</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0.95</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created</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Name only</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0.50</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below threshold, review</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"Thanks, see you tomorrow"</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200" b="1" dirty="0">
                          <a:solidFill>
                            <a:srgbClr val="C0392B"/>
                          </a:solidFill>
                          <a:latin typeface="Calibri" pitchFamily="34" charset="0"/>
                          <a:ea typeface="Calibri" pitchFamily="34" charset="-122"/>
                          <a:cs typeface="Calibri" pitchFamily="34" charset="-120"/>
                        </a:rPr>
                        <a:t>0.20</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not a lead</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FFFFF"/>
                    </a:solidFill>
                  </a:tcPr>
                </a:tc>
              </a:tr>
              <a:tr h="384048">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Company only in email domain</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200" dirty="0">
                          <a:solidFill>
                            <a:srgbClr val="1F2937"/>
                          </a:solidFill>
                          <a:latin typeface="Calibri" pitchFamily="34" charset="0"/>
                          <a:ea typeface="Calibri" pitchFamily="34" charset="-122"/>
                          <a:cs typeface="Calibri" pitchFamily="34" charset="-120"/>
                        </a:rPr>
                        <a:t>0.80</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c>
                  <a:txBody>
                    <a:bodyPr/>
                    <a:lstStyle/>
                    <a:p>
                      <a:pPr indent="0" marL="0">
                        <a:buNone/>
                      </a:pPr>
                      <a:r>
                        <a:rPr lang="en-US" sz="1200" b="1" dirty="0">
                          <a:solidFill>
                            <a:srgbClr val="2E8B57"/>
                          </a:solidFill>
                          <a:latin typeface="Calibri" pitchFamily="34" charset="0"/>
                          <a:ea typeface="Calibri" pitchFamily="34" charset="-122"/>
                          <a:cs typeface="Calibri" pitchFamily="34" charset="-120"/>
                        </a:rPr>
                        <a:t>company = null, asks</a:t>
                      </a:r>
                      <a:endParaRPr lang="en-US" sz="1200" dirty="0">
                        <a:latin typeface="Calibri" charset="0"/>
                        <a:ea typeface="Calibri" charset="0"/>
                        <a:cs typeface="Calibri" charset="0"/>
                      </a:endParaRPr>
                    </a:p>
                  </a:txBody>
                  <a:tcPr marL="91440" marR="91440" marT="54864" marB="54864" anchor="ctr">
                    <a:lnL w="9525" cap="flat" cmpd="sng" algn="ctr">
                      <a:solidFill>
                        <a:srgbClr val="E9EBEF"/>
                      </a:solidFill>
                      <a:prstDash val="solid"/>
                      <a:round/>
                      <a:headEnd type="none" w="med" len="med"/>
                      <a:tailEnd type="none" w="med" len="med"/>
                    </a:lnL>
                    <a:lnR w="9525" cap="flat" cmpd="sng" algn="ctr">
                      <a:solidFill>
                        <a:srgbClr val="E9EBEF"/>
                      </a:solidFill>
                      <a:prstDash val="solid"/>
                      <a:round/>
                      <a:headEnd type="none" w="med" len="med"/>
                      <a:tailEnd type="none" w="med" len="med"/>
                    </a:lnR>
                    <a:lnT w="9525" cap="flat" cmpd="sng" algn="ctr">
                      <a:solidFill>
                        <a:srgbClr val="E9EBEF"/>
                      </a:solidFill>
                      <a:prstDash val="solid"/>
                      <a:round/>
                      <a:headEnd type="none" w="med" len="med"/>
                      <a:tailEnd type="none" w="med" len="med"/>
                    </a:lnT>
                    <a:lnB w="9525" cap="flat" cmpd="sng" algn="ctr">
                      <a:solidFill>
                        <a:srgbClr val="E9EBEF"/>
                      </a:solidFill>
                      <a:prstDash val="solid"/>
                      <a:round/>
                      <a:headEnd type="none" w="med" len="med"/>
                      <a:tailEnd type="none" w="med" len="med"/>
                    </a:lnB>
                    <a:solidFill>
                      <a:srgbClr val="F3F4F6"/>
                    </a:solidFill>
                  </a:tcPr>
                </a:tc>
              </a:tr>
            </a:tbl>
          </a:graphicData>
        </a:graphic>
      </p:graphicFrame>
      <p:sp>
        <p:nvSpPr>
          <p:cNvPr id="18" name="Text 15"/>
          <p:cNvSpPr txBox="1"/>
          <p:nvPr/>
        </p:nvSpPr>
        <p:spPr>
          <a:xfrm>
            <a:off x="6400800" y="4526280"/>
            <a:ext cx="5257800" cy="777240"/>
          </a:xfrm>
          <a:prstGeom prst="rect">
            <a:avLst/>
          </a:prstGeom>
          <a:noFill/>
          <a:ln/>
        </p:spPr>
        <p:txBody>
          <a:bodyPr wrap="square" lIns="0" tIns="0" rIns="0" bIns="0" rtlCol="0" anchor="t"/>
          <a:lstStyle/>
          <a:p>
            <a:pPr algn="l" indent="0" marL="0">
              <a:lnSpc>
                <a:spcPct val="110000"/>
              </a:lnSpc>
              <a:buNone/>
            </a:pPr>
            <a:r>
              <a:rPr lang="en-US" sz="1150" dirty="0">
                <a:solidFill>
                  <a:srgbClr val="6B7280"/>
                </a:solidFill>
                <a:latin typeface="Calibri" pitchFamily="34" charset="0"/>
                <a:ea typeface="Calibri" pitchFamily="34" charset="-122"/>
                <a:cs typeface="Calibri" pitchFamily="34" charset="-120"/>
              </a:rPr>
              <a:t>Review threshold 0.6 does real work: it separates a lead from a pleasantry. The domain case is the one that matters: skylinefitout.ae is evidence, not a company name, so it comes back null and the bot asks.</a:t>
            </a:r>
            <a:endParaRPr lang="en-US" sz="1150" dirty="0"/>
          </a:p>
        </p:txBody>
      </p:sp>
      <p:sp>
        <p:nvSpPr>
          <p:cNvPr id="19" name="Text 16"/>
          <p:cNvSpPr txBox="1"/>
          <p:nvPr/>
        </p:nvSpPr>
        <p:spPr>
          <a:xfrm>
            <a:off x="6400800" y="5349240"/>
            <a:ext cx="2651760" cy="822960"/>
          </a:xfrm>
          <a:prstGeom prst="rect">
            <a:avLst/>
          </a:prstGeom>
          <a:noFill/>
          <a:ln/>
        </p:spPr>
        <p:txBody>
          <a:bodyPr wrap="square" lIns="0" tIns="0" rIns="0" bIns="0" rtlCol="0" anchor="b"/>
          <a:lstStyle/>
          <a:p>
            <a:pPr algn="l" indent="0" marL="0">
              <a:buNone/>
            </a:pPr>
            <a:r>
              <a:rPr lang="en-US" sz="2600" b="1" dirty="0">
                <a:solidFill>
                  <a:srgbClr val="2E8B57"/>
                </a:solidFill>
                <a:latin typeface="Calibri" pitchFamily="34" charset="0"/>
                <a:ea typeface="Calibri" pitchFamily="34" charset="-122"/>
                <a:cs typeface="Calibri" pitchFamily="34" charset="-120"/>
              </a:rPr>
              <a:t>70/70</a:t>
            </a:r>
            <a:endParaRPr lang="en-US" sz="2600" dirty="0"/>
          </a:p>
        </p:txBody>
      </p:sp>
      <p:sp>
        <p:nvSpPr>
          <p:cNvPr id="20" name="Text 17"/>
          <p:cNvSpPr txBox="1"/>
          <p:nvPr/>
        </p:nvSpPr>
        <p:spPr>
          <a:xfrm>
            <a:off x="6400800" y="6217920"/>
            <a:ext cx="265176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evals: 14 labelled cases × 5 fields, $0.07 per run</a:t>
            </a:r>
            <a:endParaRPr lang="en-US" sz="1200" dirty="0"/>
          </a:p>
        </p:txBody>
      </p:sp>
      <p:sp>
        <p:nvSpPr>
          <p:cNvPr id="21" name="Text 18"/>
          <p:cNvSpPr txBox="1"/>
          <p:nvPr/>
        </p:nvSpPr>
        <p:spPr>
          <a:xfrm>
            <a:off x="9144000" y="5349240"/>
            <a:ext cx="2514600" cy="822960"/>
          </a:xfrm>
          <a:prstGeom prst="rect">
            <a:avLst/>
          </a:prstGeom>
          <a:noFill/>
          <a:ln/>
        </p:spPr>
        <p:txBody>
          <a:bodyPr wrap="square" lIns="0" tIns="0" rIns="0" bIns="0" rtlCol="0" anchor="b"/>
          <a:lstStyle/>
          <a:p>
            <a:pPr algn="l" indent="0" marL="0">
              <a:buNone/>
            </a:pPr>
            <a:r>
              <a:rPr lang="en-US" sz="2600" b="1" dirty="0">
                <a:solidFill>
                  <a:srgbClr val="2E8B57"/>
                </a:solidFill>
                <a:latin typeface="Calibri" pitchFamily="34" charset="0"/>
                <a:ea typeface="Calibri" pitchFamily="34" charset="-122"/>
                <a:cs typeface="Calibri" pitchFamily="34" charset="-120"/>
              </a:rPr>
              <a:t>25/25</a:t>
            </a:r>
            <a:endParaRPr lang="en-US" sz="2600" dirty="0"/>
          </a:p>
        </p:txBody>
      </p:sp>
      <p:sp>
        <p:nvSpPr>
          <p:cNvPr id="22" name="Text 19"/>
          <p:cNvSpPr txBox="1"/>
          <p:nvPr/>
        </p:nvSpPr>
        <p:spPr>
          <a:xfrm>
            <a:off x="9144000" y="6217920"/>
            <a:ext cx="2514600" cy="457200"/>
          </a:xfrm>
          <a:prstGeom prst="rect">
            <a:avLst/>
          </a:prstGeom>
          <a:noFill/>
          <a:ln/>
        </p:spPr>
        <p:txBody>
          <a:bodyPr wrap="square" lIns="0" tIns="0" rIns="0" bIns="0" rtlCol="0" anchor="t"/>
          <a:lstStyle/>
          <a:p>
            <a:pPr algn="l" indent="0" marL="0">
              <a:buNone/>
            </a:pPr>
            <a:r>
              <a:rPr lang="en-US" sz="1200" dirty="0">
                <a:solidFill>
                  <a:srgbClr val="6B7280"/>
                </a:solidFill>
                <a:latin typeface="Calibri" pitchFamily="34" charset="0"/>
                <a:ea typeface="Calibri" pitchFamily="34" charset="-122"/>
                <a:cs typeface="Calibri" pitchFamily="34" charset="-120"/>
              </a:rPr>
              <a:t>demo_check, end to end, real vendors</a:t>
            </a:r>
            <a:endParaRPr lang="en-US" sz="1200" dirty="0"/>
          </a:p>
        </p:txBody>
      </p:sp>
      <p:sp>
        <p:nvSpPr>
          <p:cNvPr id="23"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7315200" cy="274320"/>
          </a:xfrm>
          <a:prstGeom prst="rect">
            <a:avLst/>
          </a:prstGeom>
          <a:noFill/>
          <a:ln/>
        </p:spPr>
        <p:txBody>
          <a:bodyPr wrap="square" lIns="0" tIns="0" rIns="0" bIns="0" rtlCol="0" anchor="ctr"/>
          <a:lstStyle/>
          <a:p>
            <a:pPr indent="0" marL="0">
              <a:buNone/>
            </a:pPr>
            <a:r>
              <a:rPr lang="en-US" sz="1100" b="1" spc="200" kern="0" dirty="0">
                <a:solidFill>
                  <a:srgbClr val="B97A1E"/>
                </a:solidFill>
                <a:latin typeface="Calibri" pitchFamily="34" charset="0"/>
                <a:ea typeface="Calibri" pitchFamily="34" charset="-122"/>
                <a:cs typeface="Calibri" pitchFamily="34" charset="-120"/>
              </a:rPr>
              <a:t>APPENDIX  ·  NOT PRESENTED</a:t>
            </a:r>
            <a:endParaRPr lang="en-US" sz="1100" dirty="0"/>
          </a:p>
        </p:txBody>
      </p:sp>
      <p:sp>
        <p:nvSpPr>
          <p:cNvPr id="3" name="Text 1"/>
          <p:cNvSpPr txBox="1"/>
          <p:nvPr/>
        </p:nvSpPr>
        <p:spPr>
          <a:xfrm>
            <a:off x="548640" y="685800"/>
            <a:ext cx="11091672" cy="822960"/>
          </a:xfrm>
          <a:prstGeom prst="rect">
            <a:avLst/>
          </a:prstGeom>
          <a:noFill/>
          <a:ln/>
        </p:spPr>
        <p:txBody>
          <a:bodyPr wrap="square" lIns="0" tIns="0" rIns="0" bIns="0" rtlCol="0" anchor="t"/>
          <a:lstStyle/>
          <a:p>
            <a:pPr indent="0" marL="0">
              <a:buNone/>
            </a:pPr>
            <a:r>
              <a:rPr lang="en-US" sz="3400" b="1" dirty="0">
                <a:solidFill>
                  <a:srgbClr val="14181F"/>
                </a:solidFill>
                <a:latin typeface="Calibri" pitchFamily="34" charset="0"/>
                <a:ea typeface="Calibri" pitchFamily="34" charset="-122"/>
                <a:cs typeface="Calibri" pitchFamily="34" charset="-120"/>
              </a:rPr>
              <a:t>Twelve bugs, all found by running the demo</a:t>
            </a:r>
            <a:endParaRPr lang="en-US" sz="3400" dirty="0"/>
          </a:p>
        </p:txBody>
      </p:sp>
      <p:sp>
        <p:nvSpPr>
          <p:cNvPr id="4" name="Shape 2"/>
          <p:cNvSpPr/>
          <p:nvPr/>
        </p:nvSpPr>
        <p:spPr>
          <a:xfrm>
            <a:off x="548640" y="1691640"/>
            <a:ext cx="5440680" cy="676656"/>
          </a:xfrm>
          <a:prstGeom prst="roundRect">
            <a:avLst>
              <a:gd name="adj" fmla="val 16216"/>
            </a:avLst>
          </a:prstGeom>
          <a:solidFill>
            <a:srgbClr val="F3F4F6"/>
          </a:solidFill>
          <a:ln w="12700">
            <a:solidFill>
              <a:srgbClr val="F3F4F6"/>
            </a:solidFill>
            <a:prstDash val="solid"/>
          </a:ln>
        </p:spPr>
      </p:sp>
      <p:sp>
        <p:nvSpPr>
          <p:cNvPr id="5" name="Shape 3"/>
          <p:cNvSpPr/>
          <p:nvPr/>
        </p:nvSpPr>
        <p:spPr>
          <a:xfrm>
            <a:off x="731520" y="1837944"/>
            <a:ext cx="384048" cy="384048"/>
          </a:xfrm>
          <a:prstGeom prst="ellipse">
            <a:avLst/>
          </a:prstGeom>
          <a:solidFill>
            <a:srgbClr val="14181F"/>
          </a:solidFill>
          <a:ln w="12700">
            <a:solidFill>
              <a:srgbClr val="14181F"/>
            </a:solidFill>
            <a:prstDash val="solid"/>
          </a:ln>
        </p:spPr>
      </p:sp>
      <p:sp>
        <p:nvSpPr>
          <p:cNvPr id="6" name="Text 4"/>
          <p:cNvSpPr txBox="1"/>
          <p:nvPr/>
        </p:nvSpPr>
        <p:spPr>
          <a:xfrm>
            <a:off x="731520"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34440" y="1764792"/>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conversationUpdate ran the pipeline</a:t>
            </a:r>
            <a:endParaRPr lang="en-US" sz="1250" dirty="0"/>
          </a:p>
        </p:txBody>
      </p:sp>
      <p:sp>
        <p:nvSpPr>
          <p:cNvPr id="8" name="Text 6"/>
          <p:cNvSpPr txBox="1"/>
          <p:nvPr/>
        </p:nvSpPr>
        <p:spPr>
          <a:xfrm>
            <a:off x="1234440" y="2020824"/>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Unprompted "which company?" card ate the first real lead.</a:t>
            </a:r>
            <a:endParaRPr lang="en-US" sz="1000" dirty="0"/>
          </a:p>
        </p:txBody>
      </p:sp>
      <p:sp>
        <p:nvSpPr>
          <p:cNvPr id="9" name="Shape 7"/>
          <p:cNvSpPr/>
          <p:nvPr/>
        </p:nvSpPr>
        <p:spPr>
          <a:xfrm>
            <a:off x="6217920" y="1691640"/>
            <a:ext cx="5440680" cy="676656"/>
          </a:xfrm>
          <a:prstGeom prst="roundRect">
            <a:avLst>
              <a:gd name="adj" fmla="val 16216"/>
            </a:avLst>
          </a:prstGeom>
          <a:solidFill>
            <a:srgbClr val="F3F4F6"/>
          </a:solidFill>
          <a:ln w="12700">
            <a:solidFill>
              <a:srgbClr val="F3F4F6"/>
            </a:solidFill>
            <a:prstDash val="solid"/>
          </a:ln>
        </p:spPr>
      </p:sp>
      <p:sp>
        <p:nvSpPr>
          <p:cNvPr id="10" name="Shape 8"/>
          <p:cNvSpPr/>
          <p:nvPr/>
        </p:nvSpPr>
        <p:spPr>
          <a:xfrm>
            <a:off x="6400800" y="1837944"/>
            <a:ext cx="384048" cy="384048"/>
          </a:xfrm>
          <a:prstGeom prst="ellipse">
            <a:avLst/>
          </a:prstGeom>
          <a:solidFill>
            <a:srgbClr val="14181F"/>
          </a:solidFill>
          <a:ln w="12700">
            <a:solidFill>
              <a:srgbClr val="14181F"/>
            </a:solidFill>
            <a:prstDash val="solid"/>
          </a:ln>
        </p:spPr>
      </p:sp>
      <p:sp>
        <p:nvSpPr>
          <p:cNvPr id="11" name="Text 9"/>
          <p:cNvSpPr txBox="1"/>
          <p:nvPr/>
        </p:nvSpPr>
        <p:spPr>
          <a:xfrm>
            <a:off x="6400800" y="183794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903720" y="1764792"/>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Replies silently 400'd</a:t>
            </a:r>
            <a:endParaRPr lang="en-US" sz="1250" dirty="0"/>
          </a:p>
        </p:txBody>
      </p:sp>
      <p:sp>
        <p:nvSpPr>
          <p:cNvPr id="13" name="Text 11"/>
          <p:cNvSpPr txBox="1"/>
          <p:nvPr/>
        </p:nvSpPr>
        <p:spPr>
          <a:xfrm>
            <a:off x="6903720" y="2020824"/>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Activity.From missing on the outbound envelope.</a:t>
            </a:r>
            <a:endParaRPr lang="en-US" sz="1000" dirty="0"/>
          </a:p>
        </p:txBody>
      </p:sp>
      <p:sp>
        <p:nvSpPr>
          <p:cNvPr id="14" name="Shape 12"/>
          <p:cNvSpPr/>
          <p:nvPr/>
        </p:nvSpPr>
        <p:spPr>
          <a:xfrm>
            <a:off x="548640" y="2441448"/>
            <a:ext cx="5440680" cy="676656"/>
          </a:xfrm>
          <a:prstGeom prst="roundRect">
            <a:avLst>
              <a:gd name="adj" fmla="val 16216"/>
            </a:avLst>
          </a:prstGeom>
          <a:solidFill>
            <a:srgbClr val="F3F4F6"/>
          </a:solidFill>
          <a:ln w="12700">
            <a:solidFill>
              <a:srgbClr val="F3F4F6"/>
            </a:solidFill>
            <a:prstDash val="solid"/>
          </a:ln>
        </p:spPr>
      </p:sp>
      <p:sp>
        <p:nvSpPr>
          <p:cNvPr id="15" name="Shape 13"/>
          <p:cNvSpPr/>
          <p:nvPr/>
        </p:nvSpPr>
        <p:spPr>
          <a:xfrm>
            <a:off x="731520" y="2587752"/>
            <a:ext cx="384048" cy="384048"/>
          </a:xfrm>
          <a:prstGeom prst="ellipse">
            <a:avLst/>
          </a:prstGeom>
          <a:solidFill>
            <a:srgbClr val="14181F"/>
          </a:solidFill>
          <a:ln w="12700">
            <a:solidFill>
              <a:srgbClr val="14181F"/>
            </a:solidFill>
            <a:prstDash val="solid"/>
          </a:ln>
        </p:spPr>
      </p:sp>
      <p:sp>
        <p:nvSpPr>
          <p:cNvPr id="16" name="Text 14"/>
          <p:cNvSpPr txBox="1"/>
          <p:nvPr/>
        </p:nvSpPr>
        <p:spPr>
          <a:xfrm>
            <a:off x="73152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34440" y="2514600"/>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Wrong token authority</a:t>
            </a:r>
            <a:endParaRPr lang="en-US" sz="1250" dirty="0"/>
          </a:p>
        </p:txBody>
      </p:sp>
      <p:sp>
        <p:nvSpPr>
          <p:cNvPr id="18" name="Text 16"/>
          <p:cNvSpPr txBox="1"/>
          <p:nvPr/>
        </p:nvSpPr>
        <p:spPr>
          <a:xfrm>
            <a:off x="1234440" y="2770632"/>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Single-tenant app, common authority.</a:t>
            </a:r>
            <a:endParaRPr lang="en-US" sz="1000" dirty="0"/>
          </a:p>
        </p:txBody>
      </p:sp>
      <p:sp>
        <p:nvSpPr>
          <p:cNvPr id="19" name="Shape 17"/>
          <p:cNvSpPr/>
          <p:nvPr/>
        </p:nvSpPr>
        <p:spPr>
          <a:xfrm>
            <a:off x="6217920" y="2441448"/>
            <a:ext cx="5440680" cy="676656"/>
          </a:xfrm>
          <a:prstGeom prst="roundRect">
            <a:avLst>
              <a:gd name="adj" fmla="val 16216"/>
            </a:avLst>
          </a:prstGeom>
          <a:solidFill>
            <a:srgbClr val="F3F4F6"/>
          </a:solidFill>
          <a:ln w="12700">
            <a:solidFill>
              <a:srgbClr val="F3F4F6"/>
            </a:solidFill>
            <a:prstDash val="solid"/>
          </a:ln>
        </p:spPr>
      </p:sp>
      <p:sp>
        <p:nvSpPr>
          <p:cNvPr id="20" name="Shape 18"/>
          <p:cNvSpPr/>
          <p:nvPr/>
        </p:nvSpPr>
        <p:spPr>
          <a:xfrm>
            <a:off x="6400800" y="2587752"/>
            <a:ext cx="384048" cy="384048"/>
          </a:xfrm>
          <a:prstGeom prst="ellipse">
            <a:avLst/>
          </a:prstGeom>
          <a:solidFill>
            <a:srgbClr val="14181F"/>
          </a:solidFill>
          <a:ln w="12700">
            <a:solidFill>
              <a:srgbClr val="14181F"/>
            </a:solidFill>
            <a:prstDash val="solid"/>
          </a:ln>
        </p:spPr>
      </p:sp>
      <p:sp>
        <p:nvSpPr>
          <p:cNvPr id="21" name="Text 19"/>
          <p:cNvSpPr txBox="1"/>
          <p:nvPr/>
        </p:nvSpPr>
        <p:spPr>
          <a:xfrm>
            <a:off x="6400800" y="258775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903720" y="2514600"/>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Buttons claiming writes they never made</a:t>
            </a:r>
            <a:endParaRPr lang="en-US" sz="1250" dirty="0"/>
          </a:p>
        </p:txBody>
      </p:sp>
      <p:sp>
        <p:nvSpPr>
          <p:cNvPr id="23" name="Text 21"/>
          <p:cNvSpPr txBox="1"/>
          <p:nvPr/>
        </p:nvSpPr>
        <p:spPr>
          <a:xfrm>
            <a:off x="6903720" y="2770632"/>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provide_company removed rather than faked.</a:t>
            </a:r>
            <a:endParaRPr lang="en-US" sz="1000" dirty="0"/>
          </a:p>
        </p:txBody>
      </p:sp>
      <p:sp>
        <p:nvSpPr>
          <p:cNvPr id="24" name="Shape 22"/>
          <p:cNvSpPr/>
          <p:nvPr/>
        </p:nvSpPr>
        <p:spPr>
          <a:xfrm>
            <a:off x="548640" y="3191256"/>
            <a:ext cx="5440680" cy="676656"/>
          </a:xfrm>
          <a:prstGeom prst="roundRect">
            <a:avLst>
              <a:gd name="adj" fmla="val 16216"/>
            </a:avLst>
          </a:prstGeom>
          <a:solidFill>
            <a:srgbClr val="F3F4F6"/>
          </a:solidFill>
          <a:ln w="12700">
            <a:solidFill>
              <a:srgbClr val="F3F4F6"/>
            </a:solidFill>
            <a:prstDash val="solid"/>
          </a:ln>
        </p:spPr>
      </p:sp>
      <p:sp>
        <p:nvSpPr>
          <p:cNvPr id="25" name="Shape 23"/>
          <p:cNvSpPr/>
          <p:nvPr/>
        </p:nvSpPr>
        <p:spPr>
          <a:xfrm>
            <a:off x="731520" y="3337560"/>
            <a:ext cx="384048" cy="384048"/>
          </a:xfrm>
          <a:prstGeom prst="ellipse">
            <a:avLst/>
          </a:prstGeom>
          <a:solidFill>
            <a:srgbClr val="14181F"/>
          </a:solidFill>
          <a:ln w="12700">
            <a:solidFill>
              <a:srgbClr val="14181F"/>
            </a:solidFill>
            <a:prstDash val="solid"/>
          </a:ln>
        </p:spPr>
      </p:sp>
      <p:sp>
        <p:nvSpPr>
          <p:cNvPr id="26" name="Text 24"/>
          <p:cNvSpPr txBox="1"/>
          <p:nvPr/>
        </p:nvSpPr>
        <p:spPr>
          <a:xfrm>
            <a:off x="73152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234440" y="3264408"/>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Base64 attachments utf-8-encoded into bytes</a:t>
            </a:r>
            <a:endParaRPr lang="en-US" sz="1250" dirty="0"/>
          </a:p>
        </p:txBody>
      </p:sp>
      <p:sp>
        <p:nvSpPr>
          <p:cNvPr id="28" name="Text 26"/>
          <p:cNvSpPr txBox="1"/>
          <p:nvPr/>
        </p:nvSpPr>
        <p:spPr>
          <a:xfrm>
            <a:off x="1234440" y="3520440"/>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Every image and audio file via the API was corrupt. vCards passed by accident and hid it.</a:t>
            </a:r>
            <a:endParaRPr lang="en-US" sz="1000" dirty="0"/>
          </a:p>
        </p:txBody>
      </p:sp>
      <p:sp>
        <p:nvSpPr>
          <p:cNvPr id="29" name="Shape 27"/>
          <p:cNvSpPr/>
          <p:nvPr/>
        </p:nvSpPr>
        <p:spPr>
          <a:xfrm>
            <a:off x="6217920" y="3191256"/>
            <a:ext cx="5440680" cy="676656"/>
          </a:xfrm>
          <a:prstGeom prst="roundRect">
            <a:avLst>
              <a:gd name="adj" fmla="val 16216"/>
            </a:avLst>
          </a:prstGeom>
          <a:solidFill>
            <a:srgbClr val="F3F4F6"/>
          </a:solidFill>
          <a:ln w="12700">
            <a:solidFill>
              <a:srgbClr val="F3F4F6"/>
            </a:solidFill>
            <a:prstDash val="solid"/>
          </a:ln>
        </p:spPr>
      </p:sp>
      <p:sp>
        <p:nvSpPr>
          <p:cNvPr id="30" name="Shape 28"/>
          <p:cNvSpPr/>
          <p:nvPr/>
        </p:nvSpPr>
        <p:spPr>
          <a:xfrm>
            <a:off x="6400800" y="3337560"/>
            <a:ext cx="384048" cy="384048"/>
          </a:xfrm>
          <a:prstGeom prst="ellipse">
            <a:avLst/>
          </a:prstGeom>
          <a:solidFill>
            <a:srgbClr val="14181F"/>
          </a:solidFill>
          <a:ln w="12700">
            <a:solidFill>
              <a:srgbClr val="14181F"/>
            </a:solidFill>
            <a:prstDash val="solid"/>
          </a:ln>
        </p:spPr>
      </p:sp>
      <p:sp>
        <p:nvSpPr>
          <p:cNvPr id="31" name="Text 29"/>
          <p:cNvSpPr txBox="1"/>
          <p:nvPr/>
        </p:nvSpPr>
        <p:spPr>
          <a:xfrm>
            <a:off x="6400800" y="33375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6903720" y="3264408"/>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A stale question hijacked the next message</a:t>
            </a:r>
            <a:endParaRPr lang="en-US" sz="1250" dirty="0"/>
          </a:p>
        </p:txBody>
      </p:sp>
      <p:sp>
        <p:nvSpPr>
          <p:cNvPr id="33" name="Text 31"/>
          <p:cNvSpPr txBox="1"/>
          <p:nvPr/>
        </p:nvSpPr>
        <p:spPr>
          <a:xfrm>
            <a:off x="6903720" y="3520440"/>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Meeting notes became a 30-word company name. Questions now expire, and an Add-note tap clears them.</a:t>
            </a:r>
            <a:endParaRPr lang="en-US" sz="1000" dirty="0"/>
          </a:p>
        </p:txBody>
      </p:sp>
      <p:sp>
        <p:nvSpPr>
          <p:cNvPr id="34" name="Shape 32"/>
          <p:cNvSpPr/>
          <p:nvPr/>
        </p:nvSpPr>
        <p:spPr>
          <a:xfrm>
            <a:off x="548640" y="3941064"/>
            <a:ext cx="5440680" cy="676656"/>
          </a:xfrm>
          <a:prstGeom prst="roundRect">
            <a:avLst>
              <a:gd name="adj" fmla="val 16216"/>
            </a:avLst>
          </a:prstGeom>
          <a:solidFill>
            <a:srgbClr val="F3F4F6"/>
          </a:solidFill>
          <a:ln w="12700">
            <a:solidFill>
              <a:srgbClr val="F3F4F6"/>
            </a:solidFill>
            <a:prstDash val="solid"/>
          </a:ln>
        </p:spPr>
      </p:sp>
      <p:sp>
        <p:nvSpPr>
          <p:cNvPr id="35" name="Shape 33"/>
          <p:cNvSpPr/>
          <p:nvPr/>
        </p:nvSpPr>
        <p:spPr>
          <a:xfrm>
            <a:off x="731520" y="4087368"/>
            <a:ext cx="384048" cy="384048"/>
          </a:xfrm>
          <a:prstGeom prst="ellipse">
            <a:avLst/>
          </a:prstGeom>
          <a:solidFill>
            <a:srgbClr val="14181F"/>
          </a:solidFill>
          <a:ln w="12700">
            <a:solidFill>
              <a:srgbClr val="14181F"/>
            </a:solidFill>
            <a:prstDash val="solid"/>
          </a:ln>
        </p:spPr>
      </p:sp>
      <p:sp>
        <p:nvSpPr>
          <p:cNvPr id="36" name="Text 34"/>
          <p:cNvSpPr txBox="1"/>
          <p:nvPr/>
        </p:nvSpPr>
        <p:spPr>
          <a:xfrm>
            <a:off x="73152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1234440" y="4014216"/>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Spoken numbers unparsed</a:t>
            </a:r>
            <a:endParaRPr lang="en-US" sz="1250" dirty="0"/>
          </a:p>
        </p:txBody>
      </p:sp>
      <p:sp>
        <p:nvSpPr>
          <p:cNvPr id="38" name="Text 36"/>
          <p:cNvSpPr txBox="1"/>
          <p:nvPr/>
        </p:nvSpPr>
        <p:spPr>
          <a:xfrm>
            <a:off x="1234440" y="4270248"/>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"Two days" made every voice follow-up ambiguous.</a:t>
            </a:r>
            <a:endParaRPr lang="en-US" sz="1000" dirty="0"/>
          </a:p>
        </p:txBody>
      </p:sp>
      <p:sp>
        <p:nvSpPr>
          <p:cNvPr id="39" name="Shape 37"/>
          <p:cNvSpPr/>
          <p:nvPr/>
        </p:nvSpPr>
        <p:spPr>
          <a:xfrm>
            <a:off x="6217920" y="3941064"/>
            <a:ext cx="5440680" cy="676656"/>
          </a:xfrm>
          <a:prstGeom prst="roundRect">
            <a:avLst>
              <a:gd name="adj" fmla="val 16216"/>
            </a:avLst>
          </a:prstGeom>
          <a:solidFill>
            <a:srgbClr val="F3F4F6"/>
          </a:solidFill>
          <a:ln w="12700">
            <a:solidFill>
              <a:srgbClr val="F3F4F6"/>
            </a:solidFill>
            <a:prstDash val="solid"/>
          </a:ln>
        </p:spPr>
      </p:sp>
      <p:sp>
        <p:nvSpPr>
          <p:cNvPr id="40" name="Shape 38"/>
          <p:cNvSpPr/>
          <p:nvPr/>
        </p:nvSpPr>
        <p:spPr>
          <a:xfrm>
            <a:off x="6400800" y="4087368"/>
            <a:ext cx="384048" cy="384048"/>
          </a:xfrm>
          <a:prstGeom prst="ellipse">
            <a:avLst/>
          </a:prstGeom>
          <a:solidFill>
            <a:srgbClr val="14181F"/>
          </a:solidFill>
          <a:ln w="12700">
            <a:solidFill>
              <a:srgbClr val="14181F"/>
            </a:solidFill>
            <a:prstDash val="solid"/>
          </a:ln>
        </p:spPr>
      </p:sp>
      <p:sp>
        <p:nvSpPr>
          <p:cNvPr id="41" name="Text 39"/>
          <p:cNvSpPr txBox="1"/>
          <p:nvPr/>
        </p:nvSpPr>
        <p:spPr>
          <a:xfrm>
            <a:off x="6400800"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6903720" y="4014216"/>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A bare voice note failed outright</a:t>
            </a:r>
            <a:endParaRPr lang="en-US" sz="1250" dirty="0"/>
          </a:p>
        </p:txBody>
      </p:sp>
      <p:sp>
        <p:nvSpPr>
          <p:cNvPr id="43" name="Text 41"/>
          <p:cNvSpPr txBox="1"/>
          <p:nvPr/>
        </p:nvSpPr>
        <p:spPr>
          <a:xfrm>
            <a:off x="6903720" y="4270248"/>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Only worked after an Add-note tap. Now works cold.</a:t>
            </a:r>
            <a:endParaRPr lang="en-US" sz="1000" dirty="0"/>
          </a:p>
        </p:txBody>
      </p:sp>
      <p:sp>
        <p:nvSpPr>
          <p:cNvPr id="44" name="Shape 42"/>
          <p:cNvSpPr/>
          <p:nvPr/>
        </p:nvSpPr>
        <p:spPr>
          <a:xfrm>
            <a:off x="548640" y="4690872"/>
            <a:ext cx="5440680" cy="676656"/>
          </a:xfrm>
          <a:prstGeom prst="roundRect">
            <a:avLst>
              <a:gd name="adj" fmla="val 16216"/>
            </a:avLst>
          </a:prstGeom>
          <a:solidFill>
            <a:srgbClr val="F3F4F6"/>
          </a:solidFill>
          <a:ln w="12700">
            <a:solidFill>
              <a:srgbClr val="F3F4F6"/>
            </a:solidFill>
            <a:prstDash val="solid"/>
          </a:ln>
        </p:spPr>
      </p:sp>
      <p:sp>
        <p:nvSpPr>
          <p:cNvPr id="45" name="Shape 43"/>
          <p:cNvSpPr/>
          <p:nvPr/>
        </p:nvSpPr>
        <p:spPr>
          <a:xfrm>
            <a:off x="731520" y="4837176"/>
            <a:ext cx="384048" cy="384048"/>
          </a:xfrm>
          <a:prstGeom prst="ellipse">
            <a:avLst/>
          </a:prstGeom>
          <a:solidFill>
            <a:srgbClr val="14181F"/>
          </a:solidFill>
          <a:ln w="12700">
            <a:solidFill>
              <a:srgbClr val="14181F"/>
            </a:solidFill>
            <a:prstDash val="solid"/>
          </a:ln>
        </p:spPr>
      </p:sp>
      <p:sp>
        <p:nvSpPr>
          <p:cNvPr id="46" name="Text 44"/>
          <p:cNvSpPr txBox="1"/>
          <p:nvPr/>
        </p:nvSpPr>
        <p:spPr>
          <a:xfrm>
            <a:off x="73152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47" name="Text 45"/>
          <p:cNvSpPr txBox="1"/>
          <p:nvPr/>
        </p:nvSpPr>
        <p:spPr>
          <a:xfrm>
            <a:off x="1234440" y="4764024"/>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.env pinned the model</a:t>
            </a:r>
            <a:endParaRPr lang="en-US" sz="1250" dirty="0"/>
          </a:p>
        </p:txBody>
      </p:sp>
      <p:sp>
        <p:nvSpPr>
          <p:cNvPr id="48" name="Text 46"/>
          <p:cNvSpPr txBox="1"/>
          <p:nvPr/>
        </p:nvSpPr>
        <p:spPr>
          <a:xfrm>
            <a:off x="1234440" y="5020056"/>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Silently overrode the measured tuning.</a:t>
            </a:r>
            <a:endParaRPr lang="en-US" sz="1000" dirty="0"/>
          </a:p>
        </p:txBody>
      </p:sp>
      <p:sp>
        <p:nvSpPr>
          <p:cNvPr id="49" name="Shape 47"/>
          <p:cNvSpPr/>
          <p:nvPr/>
        </p:nvSpPr>
        <p:spPr>
          <a:xfrm>
            <a:off x="6217920" y="4690872"/>
            <a:ext cx="5440680" cy="676656"/>
          </a:xfrm>
          <a:prstGeom prst="roundRect">
            <a:avLst>
              <a:gd name="adj" fmla="val 16216"/>
            </a:avLst>
          </a:prstGeom>
          <a:solidFill>
            <a:srgbClr val="F3F4F6"/>
          </a:solidFill>
          <a:ln w="12700">
            <a:solidFill>
              <a:srgbClr val="F3F4F6"/>
            </a:solidFill>
            <a:prstDash val="solid"/>
          </a:ln>
        </p:spPr>
      </p:sp>
      <p:sp>
        <p:nvSpPr>
          <p:cNvPr id="50" name="Shape 48"/>
          <p:cNvSpPr/>
          <p:nvPr/>
        </p:nvSpPr>
        <p:spPr>
          <a:xfrm>
            <a:off x="6400800" y="4837176"/>
            <a:ext cx="384048" cy="384048"/>
          </a:xfrm>
          <a:prstGeom prst="ellipse">
            <a:avLst/>
          </a:prstGeom>
          <a:solidFill>
            <a:srgbClr val="14181F"/>
          </a:solidFill>
          <a:ln w="12700">
            <a:solidFill>
              <a:srgbClr val="14181F"/>
            </a:solidFill>
            <a:prstDash val="solid"/>
          </a:ln>
        </p:spPr>
      </p:sp>
      <p:sp>
        <p:nvSpPr>
          <p:cNvPr id="51" name="Text 49"/>
          <p:cNvSpPr txBox="1"/>
          <p:nvPr/>
        </p:nvSpPr>
        <p:spPr>
          <a:xfrm>
            <a:off x="6400800" y="4837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52" name="Text 50"/>
          <p:cNvSpPr txBox="1"/>
          <p:nvPr/>
        </p:nvSpPr>
        <p:spPr>
          <a:xfrm>
            <a:off x="6903720" y="4764024"/>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Live JWTs in raw captures</a:t>
            </a:r>
            <a:endParaRPr lang="en-US" sz="1250" dirty="0"/>
          </a:p>
        </p:txBody>
      </p:sp>
      <p:sp>
        <p:nvSpPr>
          <p:cNvPr id="53" name="Text 51"/>
          <p:cNvSpPr txBox="1"/>
          <p:nvPr/>
        </p:nvSpPr>
        <p:spPr>
          <a:xfrm>
            <a:off x="6903720" y="5020056"/>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Public repo. Scrubbed, rotated, fixtures redacted.</a:t>
            </a:r>
            <a:endParaRPr lang="en-US" sz="1000" dirty="0"/>
          </a:p>
        </p:txBody>
      </p:sp>
      <p:sp>
        <p:nvSpPr>
          <p:cNvPr id="54" name="Shape 52"/>
          <p:cNvSpPr/>
          <p:nvPr/>
        </p:nvSpPr>
        <p:spPr>
          <a:xfrm>
            <a:off x="548640" y="5440680"/>
            <a:ext cx="5440680" cy="676656"/>
          </a:xfrm>
          <a:prstGeom prst="roundRect">
            <a:avLst>
              <a:gd name="adj" fmla="val 16216"/>
            </a:avLst>
          </a:prstGeom>
          <a:solidFill>
            <a:srgbClr val="F3F4F6"/>
          </a:solidFill>
          <a:ln w="12700">
            <a:solidFill>
              <a:srgbClr val="F3F4F6"/>
            </a:solidFill>
            <a:prstDash val="solid"/>
          </a:ln>
        </p:spPr>
      </p:sp>
      <p:sp>
        <p:nvSpPr>
          <p:cNvPr id="55" name="Shape 53"/>
          <p:cNvSpPr/>
          <p:nvPr/>
        </p:nvSpPr>
        <p:spPr>
          <a:xfrm>
            <a:off x="731520" y="5586984"/>
            <a:ext cx="384048" cy="384048"/>
          </a:xfrm>
          <a:prstGeom prst="ellipse">
            <a:avLst/>
          </a:prstGeom>
          <a:solidFill>
            <a:srgbClr val="14181F"/>
          </a:solidFill>
          <a:ln w="12700">
            <a:solidFill>
              <a:srgbClr val="14181F"/>
            </a:solidFill>
            <a:prstDash val="solid"/>
          </a:ln>
        </p:spPr>
      </p:sp>
      <p:sp>
        <p:nvSpPr>
          <p:cNvPr id="56" name="Text 54"/>
          <p:cNvSpPr txBox="1"/>
          <p:nvPr/>
        </p:nvSpPr>
        <p:spPr>
          <a:xfrm>
            <a:off x="731520" y="5586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57" name="Text 55"/>
          <p:cNvSpPr txBox="1"/>
          <p:nvPr/>
        </p:nvSpPr>
        <p:spPr>
          <a:xfrm>
            <a:off x="1234440" y="5513832"/>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A short lead line became the company name</a:t>
            </a:r>
            <a:endParaRPr lang="en-US" sz="1250" dirty="0"/>
          </a:p>
        </p:txBody>
      </p:sp>
      <p:sp>
        <p:nvSpPr>
          <p:cNvPr id="58" name="Text 56"/>
          <p:cNvSpPr txBox="1"/>
          <p:nvPr/>
        </p:nvSpPr>
        <p:spPr>
          <a:xfrm>
            <a:off x="1234440" y="5769864"/>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"Omar, Lumen Facades, omar@..." fits in 8 words. Now an @, commas or length re-routes it.</a:t>
            </a:r>
            <a:endParaRPr lang="en-US" sz="1000" dirty="0"/>
          </a:p>
        </p:txBody>
      </p:sp>
      <p:sp>
        <p:nvSpPr>
          <p:cNvPr id="59" name="Shape 57"/>
          <p:cNvSpPr/>
          <p:nvPr/>
        </p:nvSpPr>
        <p:spPr>
          <a:xfrm>
            <a:off x="6217920" y="5440680"/>
            <a:ext cx="5440680" cy="676656"/>
          </a:xfrm>
          <a:prstGeom prst="roundRect">
            <a:avLst>
              <a:gd name="adj" fmla="val 16216"/>
            </a:avLst>
          </a:prstGeom>
          <a:solidFill>
            <a:srgbClr val="F3F4F6"/>
          </a:solidFill>
          <a:ln w="12700">
            <a:solidFill>
              <a:srgbClr val="F3F4F6"/>
            </a:solidFill>
            <a:prstDash val="solid"/>
          </a:ln>
        </p:spPr>
      </p:sp>
      <p:sp>
        <p:nvSpPr>
          <p:cNvPr id="60" name="Shape 58"/>
          <p:cNvSpPr/>
          <p:nvPr/>
        </p:nvSpPr>
        <p:spPr>
          <a:xfrm>
            <a:off x="6400800" y="5586984"/>
            <a:ext cx="384048" cy="384048"/>
          </a:xfrm>
          <a:prstGeom prst="ellipse">
            <a:avLst/>
          </a:prstGeom>
          <a:solidFill>
            <a:srgbClr val="14181F"/>
          </a:solidFill>
          <a:ln w="12700">
            <a:solidFill>
              <a:srgbClr val="14181F"/>
            </a:solidFill>
            <a:prstDash val="solid"/>
          </a:ln>
        </p:spPr>
      </p:sp>
      <p:sp>
        <p:nvSpPr>
          <p:cNvPr id="61" name="Text 59"/>
          <p:cNvSpPr txBox="1"/>
          <p:nvPr/>
        </p:nvSpPr>
        <p:spPr>
          <a:xfrm>
            <a:off x="6400800" y="558698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62" name="Text 60"/>
          <p:cNvSpPr txBox="1"/>
          <p:nvPr/>
        </p:nvSpPr>
        <p:spPr>
          <a:xfrm>
            <a:off x="6903720" y="5513832"/>
            <a:ext cx="4617720" cy="274320"/>
          </a:xfrm>
          <a:prstGeom prst="rect">
            <a:avLst/>
          </a:prstGeom>
          <a:noFill/>
          <a:ln/>
        </p:spPr>
        <p:txBody>
          <a:bodyPr wrap="square" lIns="0" tIns="0" rIns="0" bIns="0" rtlCol="0" anchor="t"/>
          <a:lstStyle/>
          <a:p>
            <a:pPr algn="l" indent="0" marL="0">
              <a:lnSpc>
                <a:spcPct val="110000"/>
              </a:lnSpc>
              <a:buNone/>
            </a:pPr>
            <a:r>
              <a:rPr lang="en-US" sz="1250" b="1" dirty="0">
                <a:solidFill>
                  <a:srgbClr val="1F2937"/>
                </a:solidFill>
                <a:latin typeface="Calibri" pitchFamily="34" charset="0"/>
                <a:ea typeface="Calibri" pitchFamily="34" charset="-122"/>
                <a:cs typeface="Calibri" pitchFamily="34" charset="-120"/>
              </a:rPr>
              <a:t>No way out of a pending state</a:t>
            </a:r>
            <a:endParaRPr lang="en-US" sz="1250" dirty="0"/>
          </a:p>
        </p:txBody>
      </p:sp>
      <p:sp>
        <p:nvSpPr>
          <p:cNvPr id="63" name="Text 61"/>
          <p:cNvSpPr txBox="1"/>
          <p:nvPr/>
        </p:nvSpPr>
        <p:spPr>
          <a:xfrm>
            <a:off x="6903720" y="5769864"/>
            <a:ext cx="4617720" cy="347472"/>
          </a:xfrm>
          <a:prstGeom prst="rect">
            <a:avLst/>
          </a:prstGeom>
          <a:noFill/>
          <a:ln/>
        </p:spPr>
        <p:txBody>
          <a:bodyPr wrap="square" lIns="0" tIns="0" rIns="0" bIns="0" rtlCol="0" anchor="t"/>
          <a:lstStyle/>
          <a:p>
            <a:pPr algn="l" indent="0" marL="0">
              <a:lnSpc>
                <a:spcPct val="110000"/>
              </a:lnSpc>
              <a:buNone/>
            </a:pPr>
            <a:r>
              <a:rPr lang="en-US" sz="1000" dirty="0">
                <a:solidFill>
                  <a:srgbClr val="6B7280"/>
                </a:solidFill>
                <a:latin typeface="Calibri" pitchFamily="34" charset="0"/>
                <a:ea typeface="Calibri" pitchFamily="34" charset="-122"/>
                <a:cs typeface="Calibri" pitchFamily="34" charset="-120"/>
              </a:rPr>
              <a:t>A mistaken Add-note tap stuck for 10 min. "cancel" / "never mind" now clears it and says so.</a:t>
            </a:r>
            <a:endParaRPr lang="en-US" sz="1000" dirty="0"/>
          </a:p>
        </p:txBody>
      </p:sp>
      <p:sp>
        <p:nvSpPr>
          <p:cNvPr id="64" name="Text 6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Chat-to-Lead  ·  Intrakore AI Hackathon  ·  Use Case 01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Chat-to-Lead</dc:title>
  <dc:subject>PptxGenJS Presentation</dc:subject>
  <dc:creator>Nandita &amp; Vishal</dc:creator>
  <cp:lastModifiedBy>Nandita &amp; Vishal</cp:lastModifiedBy>
  <cp:revision>1</cp:revision>
  <dcterms:created xsi:type="dcterms:W3CDTF">2026-09-12T12:41:59Z</dcterms:created>
  <dcterms:modified xsi:type="dcterms:W3CDTF">2026-09-12T12:41:59Z</dcterms:modified>
</cp:coreProperties>
</file>