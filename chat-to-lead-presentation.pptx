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NANDITA opens. 0:00–0:30.
"A salesperson meets a lead. The details are on a business card in their pocket, or in a voice note they recorded walking to the car."
"By the time anyone types that into a CRM — if anyone ever does — it's three days old and half of it is missing."
"That's the gap we went after. Not lead generation. Lead capture."
The four pills on the slide are the real status pills from our dashboard. Everything green is live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NANDITA. 0:30–1:15.
"So we put it where they already are — a chat window."
"They send whatever they have. Typed details. A photo of a card. A shared contact. A voice note on the way out of the meeting."
"The bot reads it, confirms back what it captured, and — this is the part that matters — it asks when it isn't sure, instead of guessing."
"Then they say when to follow up, in their own words. 'After two days.' 'Next week sometime.' It either schedules it, or it asks which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NANDITA. 1:15–2:00. Then hand to Vishal.
"Three decisions you'll see in the demo."
"It never invents a value. A missing company comes back as a question, not a plausible guess from the email domain."
"It never silently guesses a date. Vague timing gets a question back."
"Every action is priced and timed — real money, from real usage, split by component. That's the panel on the right, and it fills up as we go."
Handover: "Vishal's going to run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NANDITA, architecture segment. ~1:20.
"It's a fixed pipeline, not an agent."
"We know what comes in and we know what has to come out, so the steps are code. The model does one job, at one station: reading fields out of text, a photo, or a transcript."
"That's why we can tell you it costs two-tenths of a cent and takes two and a half seconds. An agent picks its own number of calls — and then you can't quote a number at all."
"The model fills a form. It never writes prose that we then parse. The output is schema-validated — malformed output retries once with the error fed back, and if it still fails we stop and ask. That's the difference between a caught error and a wrong record."
"Every field is allowed to be empty, on purpose. Empty triggers a question. It can't invent."
DO NOT SAY tool-calling is used for CRUD. It is a design decision (D4), not built. Week two.
VISHAL then takes the channel box: "My half is transport. Bytes in and out of the chat, and a card back. No Microsoft SDK — the Bot Framework is JSON over HTTPS, about a hundred and thirty lines we wrote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presenter. The three quotes at the bottom are REAL bot replies from today.
This is the argument the whole demo rests on. The two demo beats to slow down for are the first two columns: the business card with no company, and the vague follow-up.
If a judge asks "what about hallucination?": "Every field is optional, so a missing value comes back as null and becomes a question. The failure mode we designed against is a confidently invented phone number — that's worse than an empty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VISHAL drives. NANDITA narrates numbers over him.
BEFORE STARTING: warm the cache (one lead + one card), send.py reset, Start over in Web Chat, reload the dashboard. Do NOT restart the server once the demo begins.
Beat 1 EXACT text:
New lead - Fatima Al Mansoori at Skyline Fitout, mobile 971 50 332 8890, email f.mansoori@skylinefitout.ae. 40-unit villa project, budget 3.2m AED.
Beat 2: TAP ADD NOTE FIRST. Then:
Met Fatima on site. She wants a revised proposal. Follow up in 2 minutes.
Beat 3 (★): paperclip → fixtures/cards/04_no_company.png. Bot asks. Vishal: "Her email is reem-at-something. A system trying to look clever would infer the company from the domain." PAUSE two seconds. "It asked instead." Type: Delta Steel
Beat 4: fixtures/cards/05_photo_dark.jpg
Beat 5: Lead: Fatima Al Mansoori, Skyline Fitout, f.mansoori@skylinefitout.ae
Beat 6 (★): tap Add note on Skyline. Good call with Fatima, she likes the pricing. Follow up next week sometime.  → asks. Type: Monday
Beat 7: say nothing. Do NOT reply to the reminder — it parks a question.
Beat 8: send.py note &lt;lead_id&gt; then send.py voice &lt;ogg path&gt;
Beat 9: New lead - Yusuf Bin Ali at Arc Glazing, 971 52 888 3131, yusuf@arcglazing.ae — Edit mobile, Save. Delete.
If a beat misbehaves: redo once, don't debug. If a duplicate card appears when you wanted a creation: "That's already in there from rehearsal — which is duplicate detection doing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NANDITA, closing the demo. ~0:40.
"Everything you just watched: total activities, total cost, average latency — split into all calls versus model calls, because the database and the chat API cost nothing but still take time."
"And here's the Skyline record — project name and estimated value, pulled out of a typed sentence, sitting in structured fields."
Quote the MODEL-CALLS latency figure against the slide table, not the all-activities one.
Note: this image is the real dashboard. The status pills are the real health endpoint — it reports what actually runs, not what is configured. If a key were missing it would say MOCKED in that 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NANDITA.
Quote these and only these. Both presenters must say the same figures.
The first call of a session pays the prompt-cache WRITE — cold, a lead reads ~$0.0056 and a card ~$0.021. That is why we warm the cache before the demo. Do not quote cold numbers.
If asked "how accurate": "Seventy out of seventy on per-field evals across fourteen labelled cases. And more importantly it's built to abstain — you saw it ask twice."
If asked "why two models": "Sonnet for text at low reasoning effort — it's field extraction, it doesn't need more. Opus for business cards, because reading a photographed card in bad light is genuinely harder. One vendor, one cost line, one failure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VISHAL. The war story, ~40 seconds. Keep it fast.
Say NINETEEN. The deck slide 10 says twelve; HANDOFF lists nineteen. Line: "Nineteen. The slide shows twelve — we found seven more after we built the deck."
"Two bugs ate our morning. Both are worth thirty seconds, because they're the real cost of standing up a new channel."
"First: the bot couldn't get a security pass at all. Microsoft kept saying 'application not found in directory.' Our bot is registered to our directory. We were asking Microsoft's directory for the pass. Wrong front desk. One word in one URL."
"Second: it could read every message perfectly and couldn't reply. Every reply came back rejected — missing property. A reply has to say who it's from. The sender is sitting right there on the incoming message — the bot is whoever the message was addressed to. Swap two fields, send it back."
"Neither of those is in a tutorial. That's why we proved the channel before writing a line of AI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VISHAL. ~1:30. Say these BEFORE anyone asks. Naming a limit reads as judgement.
"Three things are deliberately not production, and I'd rather tell you than have you find them."
"The datastore is ours, not Intrakore's CRM. We had no sandbox and no credentials. The brief allows a working data store, and this is one. For production you'd need field mapping, auth and token refresh, idempotency keys, rate limits, an error taxonomy and a retry queue. I can name all six because I know exactly where the boundary sits."
"We're in Microsoft's Web Chat, not the Teams client. Installing a custom app needs a work tenant with app upload enabled. We had a personal account, and the university tenant only offers 'submit to your IT admin' — days, not hours. Same bot registration, same protocol, same card renderer. The only thing we lose is Teams-native file attachments, which are built to Microsoft's documented contract but not verified against a live tenant."
"No authentication on the webhook, no rate limiting. Deliberate one-day cuts."
"And the follow-up reminder is one-way today. Closing it from the chat needs a state machine on the follow-up, not a keyword. That's day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The one-sentence version if you get cut off.
Q&amp;A ready answers:
"Is this just ChatGPT in a wrapper?" — "No. The control flow is deterministic code. The model does one job — reading fields — and its output is schema-validated, so a bad read is a caught error, not a wrong record. That's what lets us quote a fixed cost per lead."
"How long to production?" — "The CRM integration is the main piece — mapping our fields onto Intrakore's lead object, plus auth, retries and a dead-letter path. The chat layer and the extraction are done."
"Prompt injection?" — "Not hardened, and I'd rather say so. The blast radius is small: the model fills a fixed form, it has no tools and can't act. Worst case is a bad field value the human sees on the confirmation card. Real hardening is a production item."
"What happens when the model is down?" — "Every external call degrades to a typed error the bot says out loud. It asks the salesperson to resend rather than hanging. The call is bounded by a timeout."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9"/>
        </a:solidFill>
      </p:bgPr>
    </p:bg>
    <p:spTree>
      <p:nvGrpSpPr>
        <p:cNvPr id="1" name=""/>
        <p:cNvGrpSpPr/>
        <p:nvPr/>
      </p:nvGrpSpPr>
      <p:grpSpPr>
        <a:xfrm>
          <a:off x="0" y="0"/>
          <a:ext cx="0" cy="0"/>
          <a:chOff x="0" y="0"/>
          <a:chExt cx="0" cy="0"/>
        </a:xfrm>
      </p:grpSpPr>
      <p:sp>
        <p:nvSpPr>
          <p:cNvPr id="2" name="Text 0"/>
          <p:cNvSpPr txBox="1"/>
          <p:nvPr/>
        </p:nvSpPr>
        <p:spPr>
          <a:xfrm>
            <a:off x="731520" y="1828800"/>
            <a:ext cx="10698480" cy="1097280"/>
          </a:xfrm>
          <a:prstGeom prst="rect">
            <a:avLst/>
          </a:prstGeom>
          <a:noFill/>
          <a:ln/>
        </p:spPr>
        <p:txBody>
          <a:bodyPr wrap="square" lIns="0" tIns="0" rIns="0" bIns="0" rtlCol="0" anchor="ctr"/>
          <a:lstStyle/>
          <a:p>
            <a:pPr indent="0" marL="0">
              <a:buNone/>
            </a:pPr>
            <a:r>
              <a:rPr lang="en-US" sz="6000" b="1" dirty="0">
                <a:solidFill>
                  <a:srgbClr val="F5A623"/>
                </a:solidFill>
                <a:latin typeface="Cambria" pitchFamily="34" charset="0"/>
                <a:ea typeface="Cambria" pitchFamily="34" charset="-122"/>
                <a:cs typeface="Cambria" pitchFamily="34" charset="-120"/>
              </a:rPr>
              <a:t>CHAT-TO-LEAD</a:t>
            </a:r>
            <a:endParaRPr lang="en-US" sz="6000" dirty="0"/>
          </a:p>
        </p:txBody>
      </p:sp>
      <p:sp>
        <p:nvSpPr>
          <p:cNvPr id="3" name="Text 1"/>
          <p:cNvSpPr txBox="1"/>
          <p:nvPr/>
        </p:nvSpPr>
        <p:spPr>
          <a:xfrm>
            <a:off x="731520" y="2971800"/>
            <a:ext cx="10698480" cy="731520"/>
          </a:xfrm>
          <a:prstGeom prst="rect">
            <a:avLst/>
          </a:prstGeom>
          <a:noFill/>
          <a:ln/>
        </p:spPr>
        <p:txBody>
          <a:bodyPr wrap="square" lIns="0" tIns="0" rIns="0" bIns="0" rtlCol="0" anchor="ctr"/>
          <a:lstStyle/>
          <a:p>
            <a:pPr indent="0" marL="0">
              <a:buNone/>
            </a:pPr>
            <a:r>
              <a:rPr lang="en-US" sz="2200" dirty="0">
                <a:solidFill>
                  <a:srgbClr val="F2F4F8"/>
                </a:solidFill>
                <a:latin typeface="Calibri" pitchFamily="34" charset="0"/>
                <a:ea typeface="Calibri" pitchFamily="34" charset="-122"/>
                <a:cs typeface="Calibri" pitchFamily="34" charset="-120"/>
              </a:rPr>
              <a:t>Lead capture and follow-up, from inside the chat the salesperson already uses.</a:t>
            </a:r>
            <a:endParaRPr lang="en-US" sz="2200" dirty="0"/>
          </a:p>
        </p:txBody>
      </p:sp>
      <p:sp>
        <p:nvSpPr>
          <p:cNvPr id="4" name="Text 2"/>
          <p:cNvSpPr txBox="1"/>
          <p:nvPr/>
        </p:nvSpPr>
        <p:spPr>
          <a:xfrm>
            <a:off x="731520" y="5394960"/>
            <a:ext cx="10698480" cy="457200"/>
          </a:xfrm>
          <a:prstGeom prst="rect">
            <a:avLst/>
          </a:prstGeom>
          <a:noFill/>
          <a:ln/>
        </p:spPr>
        <p:txBody>
          <a:bodyPr wrap="square" lIns="0" tIns="0" rIns="0" bIns="0" rtlCol="0" anchor="ctr"/>
          <a:lstStyle/>
          <a:p>
            <a:pPr indent="0" marL="0">
              <a:buNone/>
            </a:pPr>
            <a:r>
              <a:rPr lang="en-US" sz="1400" dirty="0">
                <a:solidFill>
                  <a:srgbClr val="9AA4B8"/>
                </a:solidFill>
                <a:latin typeface="Calibri" pitchFamily="34" charset="0"/>
                <a:ea typeface="Calibri" pitchFamily="34" charset="-122"/>
                <a:cs typeface="Calibri" pitchFamily="34" charset="-120"/>
              </a:rPr>
              <a:t>Intrakore AI Hackathon · Use Case 01 · Vishal &amp; Nandita</a:t>
            </a:r>
            <a:endParaRPr lang="en-US" sz="1400" dirty="0"/>
          </a:p>
        </p:txBody>
      </p:sp>
      <p:sp>
        <p:nvSpPr>
          <p:cNvPr id="5" name="Shape 3"/>
          <p:cNvSpPr/>
          <p:nvPr/>
        </p:nvSpPr>
        <p:spPr>
          <a:xfrm>
            <a:off x="731520" y="4023360"/>
            <a:ext cx="2194560" cy="411480"/>
          </a:xfrm>
          <a:prstGeom prst="roundRect">
            <a:avLst>
              <a:gd name="adj" fmla="val 17778"/>
            </a:avLst>
          </a:prstGeom>
          <a:solidFill>
            <a:srgbClr val="0B0F19"/>
          </a:solidFill>
          <a:ln w="12700">
            <a:solidFill>
              <a:srgbClr val="3FB950"/>
            </a:solidFill>
            <a:prstDash val="solid"/>
          </a:ln>
        </p:spPr>
      </p:sp>
      <p:sp>
        <p:nvSpPr>
          <p:cNvPr id="6" name="Text 4"/>
          <p:cNvSpPr txBox="1"/>
          <p:nvPr/>
        </p:nvSpPr>
        <p:spPr>
          <a:xfrm>
            <a:off x="731520" y="4023360"/>
            <a:ext cx="2194560" cy="411480"/>
          </a:xfrm>
          <a:prstGeom prst="rect">
            <a:avLst/>
          </a:prstGeom>
          <a:noFill/>
          <a:ln/>
        </p:spPr>
        <p:txBody>
          <a:bodyPr wrap="square" lIns="0" tIns="0" rIns="0" bIns="0" rtlCol="0" anchor="ctr"/>
          <a:lstStyle/>
          <a:p>
            <a:pPr algn="ctr" indent="0" marL="0">
              <a:buNone/>
            </a:pPr>
            <a:r>
              <a:rPr lang="en-US" sz="1200" dirty="0">
                <a:solidFill>
                  <a:srgbClr val="3FB950"/>
                </a:solidFill>
                <a:latin typeface="Courier New" pitchFamily="34" charset="0"/>
                <a:ea typeface="Courier New" pitchFamily="34" charset="-122"/>
                <a:cs typeface="Courier New" pitchFamily="34" charset="-120"/>
              </a:rPr>
              <a:t>claude: live</a:t>
            </a:r>
            <a:endParaRPr lang="en-US" sz="1200" dirty="0"/>
          </a:p>
        </p:txBody>
      </p:sp>
      <p:sp>
        <p:nvSpPr>
          <p:cNvPr id="7" name="Shape 5"/>
          <p:cNvSpPr/>
          <p:nvPr/>
        </p:nvSpPr>
        <p:spPr>
          <a:xfrm>
            <a:off x="3108960" y="4023360"/>
            <a:ext cx="2194560" cy="411480"/>
          </a:xfrm>
          <a:prstGeom prst="roundRect">
            <a:avLst>
              <a:gd name="adj" fmla="val 17778"/>
            </a:avLst>
          </a:prstGeom>
          <a:solidFill>
            <a:srgbClr val="0B0F19"/>
          </a:solidFill>
          <a:ln w="12700">
            <a:solidFill>
              <a:srgbClr val="3FB950"/>
            </a:solidFill>
            <a:prstDash val="solid"/>
          </a:ln>
        </p:spPr>
      </p:sp>
      <p:sp>
        <p:nvSpPr>
          <p:cNvPr id="8" name="Text 6"/>
          <p:cNvSpPr txBox="1"/>
          <p:nvPr/>
        </p:nvSpPr>
        <p:spPr>
          <a:xfrm>
            <a:off x="3108960" y="4023360"/>
            <a:ext cx="2194560" cy="411480"/>
          </a:xfrm>
          <a:prstGeom prst="rect">
            <a:avLst/>
          </a:prstGeom>
          <a:noFill/>
          <a:ln/>
        </p:spPr>
        <p:txBody>
          <a:bodyPr wrap="square" lIns="0" tIns="0" rIns="0" bIns="0" rtlCol="0" anchor="ctr"/>
          <a:lstStyle/>
          <a:p>
            <a:pPr algn="ctr" indent="0" marL="0">
              <a:buNone/>
            </a:pPr>
            <a:r>
              <a:rPr lang="en-US" sz="1200" dirty="0">
                <a:solidFill>
                  <a:srgbClr val="3FB950"/>
                </a:solidFill>
                <a:latin typeface="Courier New" pitchFamily="34" charset="0"/>
                <a:ea typeface="Courier New" pitchFamily="34" charset="-122"/>
                <a:cs typeface="Courier New" pitchFamily="34" charset="-120"/>
              </a:rPr>
              <a:t>teams: live</a:t>
            </a:r>
            <a:endParaRPr lang="en-US" sz="1200" dirty="0"/>
          </a:p>
        </p:txBody>
      </p:sp>
      <p:sp>
        <p:nvSpPr>
          <p:cNvPr id="9" name="Shape 7"/>
          <p:cNvSpPr/>
          <p:nvPr/>
        </p:nvSpPr>
        <p:spPr>
          <a:xfrm>
            <a:off x="5486400" y="4023360"/>
            <a:ext cx="2194560" cy="411480"/>
          </a:xfrm>
          <a:prstGeom prst="roundRect">
            <a:avLst>
              <a:gd name="adj" fmla="val 17778"/>
            </a:avLst>
          </a:prstGeom>
          <a:solidFill>
            <a:srgbClr val="0B0F19"/>
          </a:solidFill>
          <a:ln w="12700">
            <a:solidFill>
              <a:srgbClr val="3FB950"/>
            </a:solidFill>
            <a:prstDash val="solid"/>
          </a:ln>
        </p:spPr>
      </p:sp>
      <p:sp>
        <p:nvSpPr>
          <p:cNvPr id="10" name="Text 8"/>
          <p:cNvSpPr txBox="1"/>
          <p:nvPr/>
        </p:nvSpPr>
        <p:spPr>
          <a:xfrm>
            <a:off x="5486400" y="4023360"/>
            <a:ext cx="2194560" cy="411480"/>
          </a:xfrm>
          <a:prstGeom prst="rect">
            <a:avLst/>
          </a:prstGeom>
          <a:noFill/>
          <a:ln/>
        </p:spPr>
        <p:txBody>
          <a:bodyPr wrap="square" lIns="0" tIns="0" rIns="0" bIns="0" rtlCol="0" anchor="ctr"/>
          <a:lstStyle/>
          <a:p>
            <a:pPr algn="ctr" indent="0" marL="0">
              <a:buNone/>
            </a:pPr>
            <a:r>
              <a:rPr lang="en-US" sz="1200" dirty="0">
                <a:solidFill>
                  <a:srgbClr val="3FB950"/>
                </a:solidFill>
                <a:latin typeface="Courier New" pitchFamily="34" charset="0"/>
                <a:ea typeface="Courier New" pitchFamily="34" charset="-122"/>
                <a:cs typeface="Courier New" pitchFamily="34" charset="-120"/>
              </a:rPr>
              <a:t>stt: deepgram</a:t>
            </a:r>
            <a:endParaRPr lang="en-US" sz="1200" dirty="0"/>
          </a:p>
        </p:txBody>
      </p:sp>
      <p:sp>
        <p:nvSpPr>
          <p:cNvPr id="11" name="Shape 9"/>
          <p:cNvSpPr/>
          <p:nvPr/>
        </p:nvSpPr>
        <p:spPr>
          <a:xfrm>
            <a:off x="7863840" y="4023360"/>
            <a:ext cx="2194560" cy="411480"/>
          </a:xfrm>
          <a:prstGeom prst="roundRect">
            <a:avLst>
              <a:gd name="adj" fmla="val 17778"/>
            </a:avLst>
          </a:prstGeom>
          <a:solidFill>
            <a:srgbClr val="0B0F19"/>
          </a:solidFill>
          <a:ln w="12700">
            <a:solidFill>
              <a:srgbClr val="F5A623"/>
            </a:solidFill>
            <a:prstDash val="solid"/>
          </a:ln>
        </p:spPr>
      </p:sp>
      <p:sp>
        <p:nvSpPr>
          <p:cNvPr id="12" name="Text 10"/>
          <p:cNvSpPr txBox="1"/>
          <p:nvPr/>
        </p:nvSpPr>
        <p:spPr>
          <a:xfrm>
            <a:off x="7863840" y="4023360"/>
            <a:ext cx="2194560" cy="411480"/>
          </a:xfrm>
          <a:prstGeom prst="rect">
            <a:avLst/>
          </a:prstGeom>
          <a:noFill/>
          <a:ln/>
        </p:spPr>
        <p:txBody>
          <a:bodyPr wrap="square" lIns="0" tIns="0" rIns="0" bIns="0" rtlCol="0" anchor="ctr"/>
          <a:lstStyle/>
          <a:p>
            <a:pPr algn="ctr" indent="0" marL="0">
              <a:buNone/>
            </a:pPr>
            <a:r>
              <a:rPr lang="en-US" sz="1200" dirty="0">
                <a:solidFill>
                  <a:srgbClr val="F5A623"/>
                </a:solidFill>
                <a:latin typeface="Courier New" pitchFamily="34" charset="0"/>
                <a:ea typeface="Courier New" pitchFamily="34" charset="-122"/>
                <a:cs typeface="Courier New" pitchFamily="34" charset="-120"/>
              </a:rPr>
              <a:t>sqlite · our own store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0B0F19"/>
                </a:solidFill>
                <a:latin typeface="Cambria" pitchFamily="34" charset="0"/>
                <a:ea typeface="Cambria" pitchFamily="34" charset="-122"/>
                <a:cs typeface="Cambria" pitchFamily="34" charset="-120"/>
              </a:rPr>
              <a:t>The gap is capture, not generation</a:t>
            </a:r>
            <a:endParaRPr lang="en-US" sz="3600" dirty="0"/>
          </a:p>
        </p:txBody>
      </p:sp>
      <p:sp>
        <p:nvSpPr>
          <p:cNvPr id="3" name="Shape 1"/>
          <p:cNvSpPr/>
          <p:nvPr/>
        </p:nvSpPr>
        <p:spPr>
          <a:xfrm>
            <a:off x="731520" y="1554480"/>
            <a:ext cx="640080" cy="640080"/>
          </a:xfrm>
          <a:prstGeom prst="ellipse">
            <a:avLst/>
          </a:prstGeom>
          <a:solidFill>
            <a:srgbClr val="F5A623"/>
          </a:solidFill>
          <a:ln w="12700">
            <a:solidFill>
              <a:srgbClr val="F5A623"/>
            </a:solidFill>
            <a:prstDash val="solid"/>
          </a:ln>
        </p:spPr>
      </p:sp>
      <p:sp>
        <p:nvSpPr>
          <p:cNvPr id="4" name="Text 2"/>
          <p:cNvSpPr txBox="1"/>
          <p:nvPr/>
        </p:nvSpPr>
        <p:spPr>
          <a:xfrm>
            <a:off x="731520" y="1554480"/>
            <a:ext cx="640080" cy="640080"/>
          </a:xfrm>
          <a:prstGeom prst="rect">
            <a:avLst/>
          </a:prstGeom>
          <a:noFill/>
          <a:ln/>
        </p:spPr>
        <p:txBody>
          <a:bodyPr wrap="square" lIns="0" tIns="0" rIns="0" bIns="0" rtlCol="0" anchor="ctr"/>
          <a:lstStyle/>
          <a:p>
            <a:pPr algn="ctr" indent="0" marL="0">
              <a:buNone/>
            </a:pPr>
            <a:r>
              <a:rPr lang="en-US" sz="2400" b="1" dirty="0">
                <a:solidFill>
                  <a:srgbClr val="0B0F19"/>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645920" y="1536192"/>
            <a:ext cx="5029200" cy="365760"/>
          </a:xfrm>
          <a:prstGeom prst="rect">
            <a:avLst/>
          </a:prstGeom>
          <a:noFill/>
          <a:ln/>
        </p:spPr>
        <p:txBody>
          <a:bodyPr wrap="square" lIns="0" tIns="0" rIns="0" bIns="0" rtlCol="0" anchor="ctr"/>
          <a:lstStyle/>
          <a:p>
            <a:pPr indent="0" marL="0">
              <a:buNone/>
            </a:pPr>
            <a:r>
              <a:rPr lang="en-US" sz="2000" b="1" dirty="0">
                <a:solidFill>
                  <a:srgbClr val="0B0F19"/>
                </a:solidFill>
                <a:latin typeface="Calibri" pitchFamily="34" charset="0"/>
                <a:ea typeface="Calibri" pitchFamily="34" charset="-122"/>
                <a:cs typeface="Calibri" pitchFamily="34" charset="-120"/>
              </a:rPr>
              <a:t>Lead is met</a:t>
            </a:r>
            <a:endParaRPr lang="en-US" sz="2000" dirty="0"/>
          </a:p>
        </p:txBody>
      </p:sp>
      <p:sp>
        <p:nvSpPr>
          <p:cNvPr id="6" name="Text 4"/>
          <p:cNvSpPr txBox="1"/>
          <p:nvPr/>
        </p:nvSpPr>
        <p:spPr>
          <a:xfrm>
            <a:off x="1645920" y="1883664"/>
            <a:ext cx="50292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Details land on a card, in a voice note, or in a text.</a:t>
            </a:r>
            <a:endParaRPr lang="en-US" sz="1400" dirty="0"/>
          </a:p>
        </p:txBody>
      </p:sp>
      <p:sp>
        <p:nvSpPr>
          <p:cNvPr id="7" name="Shape 5"/>
          <p:cNvSpPr/>
          <p:nvPr/>
        </p:nvSpPr>
        <p:spPr>
          <a:xfrm>
            <a:off x="731520" y="2788920"/>
            <a:ext cx="640080" cy="640080"/>
          </a:xfrm>
          <a:prstGeom prst="ellipse">
            <a:avLst/>
          </a:prstGeom>
          <a:solidFill>
            <a:srgbClr val="F5A623"/>
          </a:solidFill>
          <a:ln w="12700">
            <a:solidFill>
              <a:srgbClr val="F5A623"/>
            </a:solidFill>
            <a:prstDash val="solid"/>
          </a:ln>
        </p:spPr>
      </p:sp>
      <p:sp>
        <p:nvSpPr>
          <p:cNvPr id="8" name="Text 6"/>
          <p:cNvSpPr txBox="1"/>
          <p:nvPr/>
        </p:nvSpPr>
        <p:spPr>
          <a:xfrm>
            <a:off x="731520" y="2788920"/>
            <a:ext cx="640080" cy="640080"/>
          </a:xfrm>
          <a:prstGeom prst="rect">
            <a:avLst/>
          </a:prstGeom>
          <a:noFill/>
          <a:ln/>
        </p:spPr>
        <p:txBody>
          <a:bodyPr wrap="square" lIns="0" tIns="0" rIns="0" bIns="0" rtlCol="0" anchor="ctr"/>
          <a:lstStyle/>
          <a:p>
            <a:pPr algn="ctr" indent="0" marL="0">
              <a:buNone/>
            </a:pPr>
            <a:r>
              <a:rPr lang="en-US" sz="2400" b="1" dirty="0">
                <a:solidFill>
                  <a:srgbClr val="0B0F19"/>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1645920" y="2770632"/>
            <a:ext cx="5029200" cy="365760"/>
          </a:xfrm>
          <a:prstGeom prst="rect">
            <a:avLst/>
          </a:prstGeom>
          <a:noFill/>
          <a:ln/>
        </p:spPr>
        <p:txBody>
          <a:bodyPr wrap="square" lIns="0" tIns="0" rIns="0" bIns="0" rtlCol="0" anchor="ctr"/>
          <a:lstStyle/>
          <a:p>
            <a:pPr indent="0" marL="0">
              <a:buNone/>
            </a:pPr>
            <a:r>
              <a:rPr lang="en-US" sz="2000" b="1" dirty="0">
                <a:solidFill>
                  <a:srgbClr val="0B0F19"/>
                </a:solidFill>
                <a:latin typeface="Calibri" pitchFamily="34" charset="0"/>
                <a:ea typeface="Calibri" pitchFamily="34" charset="-122"/>
                <a:cs typeface="Calibri" pitchFamily="34" charset="-120"/>
              </a:rPr>
              <a:t>Days pass</a:t>
            </a:r>
            <a:endParaRPr lang="en-US" sz="2000" dirty="0"/>
          </a:p>
        </p:txBody>
      </p:sp>
      <p:sp>
        <p:nvSpPr>
          <p:cNvPr id="10" name="Text 8"/>
          <p:cNvSpPr txBox="1"/>
          <p:nvPr/>
        </p:nvSpPr>
        <p:spPr>
          <a:xfrm>
            <a:off x="1645920" y="3118104"/>
            <a:ext cx="50292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Nobody types it into the CRM. Or someone does, badly.</a:t>
            </a:r>
            <a:endParaRPr lang="en-US" sz="1400" dirty="0"/>
          </a:p>
        </p:txBody>
      </p:sp>
      <p:sp>
        <p:nvSpPr>
          <p:cNvPr id="11" name="Shape 9"/>
          <p:cNvSpPr/>
          <p:nvPr/>
        </p:nvSpPr>
        <p:spPr>
          <a:xfrm>
            <a:off x="731520" y="4023360"/>
            <a:ext cx="640080" cy="640080"/>
          </a:xfrm>
          <a:prstGeom prst="ellipse">
            <a:avLst/>
          </a:prstGeom>
          <a:solidFill>
            <a:srgbClr val="F5A623"/>
          </a:solidFill>
          <a:ln w="12700">
            <a:solidFill>
              <a:srgbClr val="F5A623"/>
            </a:solidFill>
            <a:prstDash val="solid"/>
          </a:ln>
        </p:spPr>
      </p:sp>
      <p:sp>
        <p:nvSpPr>
          <p:cNvPr id="12" name="Text 10"/>
          <p:cNvSpPr txBox="1"/>
          <p:nvPr/>
        </p:nvSpPr>
        <p:spPr>
          <a:xfrm>
            <a:off x="731520" y="4023360"/>
            <a:ext cx="640080" cy="640080"/>
          </a:xfrm>
          <a:prstGeom prst="rect">
            <a:avLst/>
          </a:prstGeom>
          <a:noFill/>
          <a:ln/>
        </p:spPr>
        <p:txBody>
          <a:bodyPr wrap="square" lIns="0" tIns="0" rIns="0" bIns="0" rtlCol="0" anchor="ctr"/>
          <a:lstStyle/>
          <a:p>
            <a:pPr algn="ctr" indent="0" marL="0">
              <a:buNone/>
            </a:pPr>
            <a:r>
              <a:rPr lang="en-US" sz="2400" b="1" dirty="0">
                <a:solidFill>
                  <a:srgbClr val="0B0F19"/>
                </a:solidFill>
                <a:latin typeface="Cambria" pitchFamily="34" charset="0"/>
                <a:ea typeface="Cambria" pitchFamily="34" charset="-122"/>
                <a:cs typeface="Cambria" pitchFamily="34" charset="-120"/>
              </a:rPr>
              <a:t>3</a:t>
            </a:r>
            <a:endParaRPr lang="en-US" sz="2400" dirty="0"/>
          </a:p>
        </p:txBody>
      </p:sp>
      <p:sp>
        <p:nvSpPr>
          <p:cNvPr id="13" name="Text 11"/>
          <p:cNvSpPr txBox="1"/>
          <p:nvPr/>
        </p:nvSpPr>
        <p:spPr>
          <a:xfrm>
            <a:off x="1645920" y="4005072"/>
            <a:ext cx="5029200" cy="365760"/>
          </a:xfrm>
          <a:prstGeom prst="rect">
            <a:avLst/>
          </a:prstGeom>
          <a:noFill/>
          <a:ln/>
        </p:spPr>
        <p:txBody>
          <a:bodyPr wrap="square" lIns="0" tIns="0" rIns="0" bIns="0" rtlCol="0" anchor="ctr"/>
          <a:lstStyle/>
          <a:p>
            <a:pPr indent="0" marL="0">
              <a:buNone/>
            </a:pPr>
            <a:r>
              <a:rPr lang="en-US" sz="2000" b="1" dirty="0">
                <a:solidFill>
                  <a:srgbClr val="0B0F19"/>
                </a:solidFill>
                <a:latin typeface="Calibri" pitchFamily="34" charset="0"/>
                <a:ea typeface="Calibri" pitchFamily="34" charset="-122"/>
                <a:cs typeface="Calibri" pitchFamily="34" charset="-120"/>
              </a:rPr>
              <a:t>The follow-up slips</a:t>
            </a:r>
            <a:endParaRPr lang="en-US" sz="2000" dirty="0"/>
          </a:p>
        </p:txBody>
      </p:sp>
      <p:sp>
        <p:nvSpPr>
          <p:cNvPr id="14" name="Text 12"/>
          <p:cNvSpPr txBox="1"/>
          <p:nvPr/>
        </p:nvSpPr>
        <p:spPr>
          <a:xfrm>
            <a:off x="1645920" y="4352544"/>
            <a:ext cx="50292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No reminder, no record, no revenue.</a:t>
            </a:r>
            <a:endParaRPr lang="en-US" sz="1400" dirty="0"/>
          </a:p>
        </p:txBody>
      </p:sp>
      <p:sp>
        <p:nvSpPr>
          <p:cNvPr id="15" name="Shape 13"/>
          <p:cNvSpPr/>
          <p:nvPr/>
        </p:nvSpPr>
        <p:spPr>
          <a:xfrm>
            <a:off x="7315200" y="1554480"/>
            <a:ext cx="4297680" cy="3566160"/>
          </a:xfrm>
          <a:prstGeom prst="roundRect">
            <a:avLst>
              <a:gd name="adj" fmla="val 3077"/>
            </a:avLst>
          </a:prstGeom>
          <a:solidFill>
            <a:srgbClr val="F3F5F9"/>
          </a:solidFill>
          <a:ln w="12700">
            <a:solidFill>
              <a:srgbClr val="F3F5F9"/>
            </a:solidFill>
            <a:prstDash val="solid"/>
          </a:ln>
        </p:spPr>
      </p:sp>
      <p:sp>
        <p:nvSpPr>
          <p:cNvPr id="16" name="Text 14"/>
          <p:cNvSpPr txBox="1"/>
          <p:nvPr/>
        </p:nvSpPr>
        <p:spPr>
          <a:xfrm>
            <a:off x="7589520" y="1737360"/>
            <a:ext cx="3749040" cy="365760"/>
          </a:xfrm>
          <a:prstGeom prst="rect">
            <a:avLst/>
          </a:prstGeom>
          <a:noFill/>
          <a:ln/>
        </p:spPr>
        <p:txBody>
          <a:bodyPr wrap="square" lIns="0" tIns="0" rIns="0" bIns="0" rtlCol="0" anchor="ctr"/>
          <a:lstStyle/>
          <a:p>
            <a:pPr indent="0" marL="0">
              <a:buNone/>
            </a:pPr>
            <a:r>
              <a:rPr lang="en-US" sz="1400" b="1" dirty="0">
                <a:solidFill>
                  <a:srgbClr val="5B6472"/>
                </a:solidFill>
                <a:latin typeface="Calibri" pitchFamily="34" charset="0"/>
                <a:ea typeface="Calibri" pitchFamily="34" charset="-122"/>
                <a:cs typeface="Calibri" pitchFamily="34" charset="-120"/>
              </a:rPr>
              <a:t>What we built</a:t>
            </a:r>
            <a:endParaRPr lang="en-US" sz="1400" dirty="0"/>
          </a:p>
        </p:txBody>
      </p:sp>
      <p:sp>
        <p:nvSpPr>
          <p:cNvPr id="17" name="Text 15"/>
          <p:cNvSpPr txBox="1"/>
          <p:nvPr/>
        </p:nvSpPr>
        <p:spPr>
          <a:xfrm>
            <a:off x="7589520" y="2148840"/>
            <a:ext cx="3749040" cy="2011680"/>
          </a:xfrm>
          <a:prstGeom prst="rect">
            <a:avLst/>
          </a:prstGeom>
          <a:noFill/>
          <a:ln/>
        </p:spPr>
        <p:txBody>
          <a:bodyPr wrap="square" lIns="0" tIns="0" rIns="0" bIns="0" rtlCol="0" anchor="ctr"/>
          <a:lstStyle/>
          <a:p>
            <a:pPr indent="0" marL="0">
              <a:buNone/>
            </a:pPr>
            <a:r>
              <a:rPr lang="en-US" sz="1600" dirty="0">
                <a:solidFill>
                  <a:srgbClr val="0B0F19"/>
                </a:solidFill>
                <a:latin typeface="Calibri" pitchFamily="34" charset="0"/>
                <a:ea typeface="Calibri" pitchFamily="34" charset="-122"/>
                <a:cs typeface="Calibri" pitchFamily="34" charset="-120"/>
              </a:rPr>
              <a:t>A bot in the chat they already use. Send whatever you have. It reads it, confirms what it captured, asks when it isn't sure, and books the follow-up.</a:t>
            </a:r>
            <a:endParaRPr lang="en-US" sz="1600" dirty="0"/>
          </a:p>
        </p:txBody>
      </p:sp>
      <p:sp>
        <p:nvSpPr>
          <p:cNvPr id="18" name="Text 16"/>
          <p:cNvSpPr txBox="1"/>
          <p:nvPr/>
        </p:nvSpPr>
        <p:spPr>
          <a:xfrm>
            <a:off x="7589520" y="4297680"/>
            <a:ext cx="3749040" cy="457200"/>
          </a:xfrm>
          <a:prstGeom prst="rect">
            <a:avLst/>
          </a:prstGeom>
          <a:noFill/>
          <a:ln/>
        </p:spPr>
        <p:txBody>
          <a:bodyPr wrap="square" lIns="0" tIns="0" rIns="0" bIns="0" rtlCol="0" anchor="ctr"/>
          <a:lstStyle/>
          <a:p>
            <a:pPr indent="0" marL="0">
              <a:buNone/>
            </a:pPr>
            <a:r>
              <a:rPr lang="en-US" sz="1600" i="1" dirty="0">
                <a:solidFill>
                  <a:srgbClr val="F5A623"/>
                </a:solidFill>
                <a:latin typeface="Calibri" pitchFamily="34" charset="0"/>
                <a:ea typeface="Calibri" pitchFamily="34" charset="-122"/>
                <a:cs typeface="Calibri" pitchFamily="34" charset="-120"/>
              </a:rPr>
              <a:t>No forms. No CRM tab. No guessing.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0B0F19"/>
                </a:solidFill>
                <a:latin typeface="Cambria" pitchFamily="34" charset="0"/>
                <a:ea typeface="Cambria" pitchFamily="34" charset="-122"/>
                <a:cs typeface="Cambria" pitchFamily="34" charset="-120"/>
              </a:rPr>
              <a:t>What the salesperson actually does</a:t>
            </a:r>
            <a:endParaRPr lang="en-US" sz="3600" dirty="0"/>
          </a:p>
        </p:txBody>
      </p:sp>
      <p:sp>
        <p:nvSpPr>
          <p:cNvPr id="3" name="Shape 1"/>
          <p:cNvSpPr/>
          <p:nvPr/>
        </p:nvSpPr>
        <p:spPr>
          <a:xfrm>
            <a:off x="548640" y="1645920"/>
            <a:ext cx="2148840" cy="3291840"/>
          </a:xfrm>
          <a:prstGeom prst="roundRect">
            <a:avLst>
              <a:gd name="adj" fmla="val 5106"/>
            </a:avLst>
          </a:prstGeom>
          <a:solidFill>
            <a:srgbClr val="F3F5F9"/>
          </a:solidFill>
          <a:ln w="12700">
            <a:solidFill>
              <a:srgbClr val="F3F5F9"/>
            </a:solidFill>
            <a:prstDash val="solid"/>
          </a:ln>
        </p:spPr>
      </p:sp>
      <p:sp>
        <p:nvSpPr>
          <p:cNvPr id="4" name="Shape 2"/>
          <p:cNvSpPr/>
          <p:nvPr/>
        </p:nvSpPr>
        <p:spPr>
          <a:xfrm>
            <a:off x="731520" y="1828800"/>
            <a:ext cx="502920" cy="502920"/>
          </a:xfrm>
          <a:prstGeom prst="ellipse">
            <a:avLst/>
          </a:prstGeom>
          <a:solidFill>
            <a:srgbClr val="F5A623"/>
          </a:solidFill>
          <a:ln w="12700">
            <a:solidFill>
              <a:srgbClr val="F5A623"/>
            </a:solidFill>
            <a:prstDash val="solid"/>
          </a:ln>
        </p:spPr>
      </p:sp>
      <p:sp>
        <p:nvSpPr>
          <p:cNvPr id="5" name="Text 3"/>
          <p:cNvSpPr txBox="1"/>
          <p:nvPr/>
        </p:nvSpPr>
        <p:spPr>
          <a:xfrm>
            <a:off x="731520" y="1828800"/>
            <a:ext cx="502920" cy="502920"/>
          </a:xfrm>
          <a:prstGeom prst="rect">
            <a:avLst/>
          </a:prstGeom>
          <a:noFill/>
          <a:ln/>
        </p:spPr>
        <p:txBody>
          <a:bodyPr wrap="square" lIns="0" tIns="0" rIns="0" bIns="0" rtlCol="0" anchor="ctr"/>
          <a:lstStyle/>
          <a:p>
            <a:pPr algn="ctr" indent="0" marL="0">
              <a:buNone/>
            </a:pPr>
            <a:r>
              <a:rPr lang="en-US" sz="1800" b="1" dirty="0">
                <a:solidFill>
                  <a:srgbClr val="0B0F19"/>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731520" y="2468880"/>
            <a:ext cx="1783080" cy="411480"/>
          </a:xfrm>
          <a:prstGeom prst="rect">
            <a:avLst/>
          </a:prstGeom>
          <a:noFill/>
          <a:ln/>
        </p:spPr>
        <p:txBody>
          <a:bodyPr wrap="square" lIns="0" tIns="0" rIns="0" bIns="0" rtlCol="0" anchor="ctr"/>
          <a:lstStyle/>
          <a:p>
            <a:pPr indent="0" marL="0">
              <a:buNone/>
            </a:pPr>
            <a:r>
              <a:rPr lang="en-US" sz="1800" b="1" dirty="0">
                <a:solidFill>
                  <a:srgbClr val="0B0F19"/>
                </a:solidFill>
                <a:latin typeface="Calibri" pitchFamily="34" charset="0"/>
                <a:ea typeface="Calibri" pitchFamily="34" charset="-122"/>
                <a:cs typeface="Calibri" pitchFamily="34" charset="-120"/>
              </a:rPr>
              <a:t>Send</a:t>
            </a:r>
            <a:endParaRPr lang="en-US" sz="1800" dirty="0"/>
          </a:p>
        </p:txBody>
      </p:sp>
      <p:sp>
        <p:nvSpPr>
          <p:cNvPr id="7" name="Text 5"/>
          <p:cNvSpPr txBox="1"/>
          <p:nvPr/>
        </p:nvSpPr>
        <p:spPr>
          <a:xfrm>
            <a:off x="731520" y="2926080"/>
            <a:ext cx="1783080" cy="182880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Typed text, a business-card photo, a .vcf contact, or a voice note</a:t>
            </a:r>
            <a:endParaRPr lang="en-US" sz="1300" dirty="0"/>
          </a:p>
        </p:txBody>
      </p:sp>
      <p:sp>
        <p:nvSpPr>
          <p:cNvPr id="8" name="Shape 6"/>
          <p:cNvSpPr/>
          <p:nvPr/>
        </p:nvSpPr>
        <p:spPr>
          <a:xfrm>
            <a:off x="2834640" y="1645920"/>
            <a:ext cx="2148840" cy="3291840"/>
          </a:xfrm>
          <a:prstGeom prst="roundRect">
            <a:avLst>
              <a:gd name="adj" fmla="val 5106"/>
            </a:avLst>
          </a:prstGeom>
          <a:solidFill>
            <a:srgbClr val="F3F5F9"/>
          </a:solidFill>
          <a:ln w="12700">
            <a:solidFill>
              <a:srgbClr val="F3F5F9"/>
            </a:solidFill>
            <a:prstDash val="solid"/>
          </a:ln>
        </p:spPr>
      </p:sp>
      <p:sp>
        <p:nvSpPr>
          <p:cNvPr id="9" name="Shape 7"/>
          <p:cNvSpPr/>
          <p:nvPr/>
        </p:nvSpPr>
        <p:spPr>
          <a:xfrm>
            <a:off x="3017520" y="1828800"/>
            <a:ext cx="502920" cy="502920"/>
          </a:xfrm>
          <a:prstGeom prst="ellipse">
            <a:avLst/>
          </a:prstGeom>
          <a:solidFill>
            <a:srgbClr val="F5A623"/>
          </a:solidFill>
          <a:ln w="12700">
            <a:solidFill>
              <a:srgbClr val="F5A623"/>
            </a:solidFill>
            <a:prstDash val="solid"/>
          </a:ln>
        </p:spPr>
      </p:sp>
      <p:sp>
        <p:nvSpPr>
          <p:cNvPr id="10" name="Text 8"/>
          <p:cNvSpPr txBox="1"/>
          <p:nvPr/>
        </p:nvSpPr>
        <p:spPr>
          <a:xfrm>
            <a:off x="3017520" y="1828800"/>
            <a:ext cx="502920" cy="502920"/>
          </a:xfrm>
          <a:prstGeom prst="rect">
            <a:avLst/>
          </a:prstGeom>
          <a:noFill/>
          <a:ln/>
        </p:spPr>
        <p:txBody>
          <a:bodyPr wrap="square" lIns="0" tIns="0" rIns="0" bIns="0" rtlCol="0" anchor="ctr"/>
          <a:lstStyle/>
          <a:p>
            <a:pPr algn="ctr" indent="0" marL="0">
              <a:buNone/>
            </a:pPr>
            <a:r>
              <a:rPr lang="en-US" sz="1800" b="1" dirty="0">
                <a:solidFill>
                  <a:srgbClr val="0B0F19"/>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3017520" y="2468880"/>
            <a:ext cx="1783080" cy="411480"/>
          </a:xfrm>
          <a:prstGeom prst="rect">
            <a:avLst/>
          </a:prstGeom>
          <a:noFill/>
          <a:ln/>
        </p:spPr>
        <p:txBody>
          <a:bodyPr wrap="square" lIns="0" tIns="0" rIns="0" bIns="0" rtlCol="0" anchor="ctr"/>
          <a:lstStyle/>
          <a:p>
            <a:pPr indent="0" marL="0">
              <a:buNone/>
            </a:pPr>
            <a:r>
              <a:rPr lang="en-US" sz="1800" b="1" dirty="0">
                <a:solidFill>
                  <a:srgbClr val="0B0F19"/>
                </a:solidFill>
                <a:latin typeface="Calibri" pitchFamily="34" charset="0"/>
                <a:ea typeface="Calibri" pitchFamily="34" charset="-122"/>
                <a:cs typeface="Calibri" pitchFamily="34" charset="-120"/>
              </a:rPr>
              <a:t>Confirm</a:t>
            </a:r>
            <a:endParaRPr lang="en-US" sz="1800" dirty="0"/>
          </a:p>
        </p:txBody>
      </p:sp>
      <p:sp>
        <p:nvSpPr>
          <p:cNvPr id="12" name="Text 10"/>
          <p:cNvSpPr txBox="1"/>
          <p:nvPr/>
        </p:nvSpPr>
        <p:spPr>
          <a:xfrm>
            <a:off x="3017520" y="2926080"/>
            <a:ext cx="1783080" cy="182880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A card comes back: what was captured, what's missing, what it cost</a:t>
            </a:r>
            <a:endParaRPr lang="en-US" sz="1300" dirty="0"/>
          </a:p>
        </p:txBody>
      </p:sp>
      <p:sp>
        <p:nvSpPr>
          <p:cNvPr id="13" name="Shape 11"/>
          <p:cNvSpPr/>
          <p:nvPr/>
        </p:nvSpPr>
        <p:spPr>
          <a:xfrm>
            <a:off x="5120640" y="1645920"/>
            <a:ext cx="2148840" cy="3291840"/>
          </a:xfrm>
          <a:prstGeom prst="roundRect">
            <a:avLst>
              <a:gd name="adj" fmla="val 5106"/>
            </a:avLst>
          </a:prstGeom>
          <a:solidFill>
            <a:srgbClr val="F3F5F9"/>
          </a:solidFill>
          <a:ln w="12700">
            <a:solidFill>
              <a:srgbClr val="F3F5F9"/>
            </a:solidFill>
            <a:prstDash val="solid"/>
          </a:ln>
        </p:spPr>
      </p:sp>
      <p:sp>
        <p:nvSpPr>
          <p:cNvPr id="14" name="Shape 12"/>
          <p:cNvSpPr/>
          <p:nvPr/>
        </p:nvSpPr>
        <p:spPr>
          <a:xfrm>
            <a:off x="5303520" y="1828800"/>
            <a:ext cx="502920" cy="502920"/>
          </a:xfrm>
          <a:prstGeom prst="ellipse">
            <a:avLst/>
          </a:prstGeom>
          <a:solidFill>
            <a:srgbClr val="F5A623"/>
          </a:solidFill>
          <a:ln w="12700">
            <a:solidFill>
              <a:srgbClr val="F5A623"/>
            </a:solidFill>
            <a:prstDash val="solid"/>
          </a:ln>
        </p:spPr>
      </p:sp>
      <p:sp>
        <p:nvSpPr>
          <p:cNvPr id="15" name="Text 13"/>
          <p:cNvSpPr txBox="1"/>
          <p:nvPr/>
        </p:nvSpPr>
        <p:spPr>
          <a:xfrm>
            <a:off x="5303520" y="1828800"/>
            <a:ext cx="502920" cy="502920"/>
          </a:xfrm>
          <a:prstGeom prst="rect">
            <a:avLst/>
          </a:prstGeom>
          <a:noFill/>
          <a:ln/>
        </p:spPr>
        <p:txBody>
          <a:bodyPr wrap="square" lIns="0" tIns="0" rIns="0" bIns="0" rtlCol="0" anchor="ctr"/>
          <a:lstStyle/>
          <a:p>
            <a:pPr algn="ctr" indent="0" marL="0">
              <a:buNone/>
            </a:pPr>
            <a:r>
              <a:rPr lang="en-US" sz="1800" b="1" dirty="0">
                <a:solidFill>
                  <a:srgbClr val="0B0F19"/>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5303520" y="2468880"/>
            <a:ext cx="1783080" cy="411480"/>
          </a:xfrm>
          <a:prstGeom prst="rect">
            <a:avLst/>
          </a:prstGeom>
          <a:noFill/>
          <a:ln/>
        </p:spPr>
        <p:txBody>
          <a:bodyPr wrap="square" lIns="0" tIns="0" rIns="0" bIns="0" rtlCol="0" anchor="ctr"/>
          <a:lstStyle/>
          <a:p>
            <a:pPr indent="0" marL="0">
              <a:buNone/>
            </a:pPr>
            <a:r>
              <a:rPr lang="en-US" sz="1800" b="1" dirty="0">
                <a:solidFill>
                  <a:srgbClr val="0B0F19"/>
                </a:solidFill>
                <a:latin typeface="Calibri" pitchFamily="34" charset="0"/>
                <a:ea typeface="Calibri" pitchFamily="34" charset="-122"/>
                <a:cs typeface="Calibri" pitchFamily="34" charset="-120"/>
              </a:rPr>
              <a:t>Add notes</a:t>
            </a:r>
            <a:endParaRPr lang="en-US" sz="1800" dirty="0"/>
          </a:p>
        </p:txBody>
      </p:sp>
      <p:sp>
        <p:nvSpPr>
          <p:cNvPr id="17" name="Text 15"/>
          <p:cNvSpPr txBox="1"/>
          <p:nvPr/>
        </p:nvSpPr>
        <p:spPr>
          <a:xfrm>
            <a:off x="5303520" y="2926080"/>
            <a:ext cx="1783080" cy="182880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Tap Add note, then type or record. Project and budget are pulled out</a:t>
            </a:r>
            <a:endParaRPr lang="en-US" sz="1300" dirty="0"/>
          </a:p>
        </p:txBody>
      </p:sp>
      <p:sp>
        <p:nvSpPr>
          <p:cNvPr id="18" name="Shape 16"/>
          <p:cNvSpPr/>
          <p:nvPr/>
        </p:nvSpPr>
        <p:spPr>
          <a:xfrm>
            <a:off x="7406640" y="1645920"/>
            <a:ext cx="2148840" cy="3291840"/>
          </a:xfrm>
          <a:prstGeom prst="roundRect">
            <a:avLst>
              <a:gd name="adj" fmla="val 5106"/>
            </a:avLst>
          </a:prstGeom>
          <a:solidFill>
            <a:srgbClr val="F3F5F9"/>
          </a:solidFill>
          <a:ln w="12700">
            <a:solidFill>
              <a:srgbClr val="F3F5F9"/>
            </a:solidFill>
            <a:prstDash val="solid"/>
          </a:ln>
        </p:spPr>
      </p:sp>
      <p:sp>
        <p:nvSpPr>
          <p:cNvPr id="19" name="Shape 17"/>
          <p:cNvSpPr/>
          <p:nvPr/>
        </p:nvSpPr>
        <p:spPr>
          <a:xfrm>
            <a:off x="7589520" y="1828800"/>
            <a:ext cx="502920" cy="502920"/>
          </a:xfrm>
          <a:prstGeom prst="ellipse">
            <a:avLst/>
          </a:prstGeom>
          <a:solidFill>
            <a:srgbClr val="F5A623"/>
          </a:solidFill>
          <a:ln w="12700">
            <a:solidFill>
              <a:srgbClr val="F5A623"/>
            </a:solidFill>
            <a:prstDash val="solid"/>
          </a:ln>
        </p:spPr>
      </p:sp>
      <p:sp>
        <p:nvSpPr>
          <p:cNvPr id="20" name="Text 18"/>
          <p:cNvSpPr txBox="1"/>
          <p:nvPr/>
        </p:nvSpPr>
        <p:spPr>
          <a:xfrm>
            <a:off x="7589520" y="1828800"/>
            <a:ext cx="502920" cy="502920"/>
          </a:xfrm>
          <a:prstGeom prst="rect">
            <a:avLst/>
          </a:prstGeom>
          <a:noFill/>
          <a:ln/>
        </p:spPr>
        <p:txBody>
          <a:bodyPr wrap="square" lIns="0" tIns="0" rIns="0" bIns="0" rtlCol="0" anchor="ctr"/>
          <a:lstStyle/>
          <a:p>
            <a:pPr algn="ctr" indent="0" marL="0">
              <a:buNone/>
            </a:pPr>
            <a:r>
              <a:rPr lang="en-US" sz="1800" b="1" dirty="0">
                <a:solidFill>
                  <a:srgbClr val="0B0F19"/>
                </a:solidFill>
                <a:latin typeface="Cambria" pitchFamily="34" charset="0"/>
                <a:ea typeface="Cambria" pitchFamily="34" charset="-122"/>
                <a:cs typeface="Cambria" pitchFamily="34" charset="-120"/>
              </a:rPr>
              <a:t>4</a:t>
            </a:r>
            <a:endParaRPr lang="en-US" sz="1800" dirty="0"/>
          </a:p>
        </p:txBody>
      </p:sp>
      <p:sp>
        <p:nvSpPr>
          <p:cNvPr id="21" name="Text 19"/>
          <p:cNvSpPr txBox="1"/>
          <p:nvPr/>
        </p:nvSpPr>
        <p:spPr>
          <a:xfrm>
            <a:off x="7589520" y="2468880"/>
            <a:ext cx="1783080" cy="411480"/>
          </a:xfrm>
          <a:prstGeom prst="rect">
            <a:avLst/>
          </a:prstGeom>
          <a:noFill/>
          <a:ln/>
        </p:spPr>
        <p:txBody>
          <a:bodyPr wrap="square" lIns="0" tIns="0" rIns="0" bIns="0" rtlCol="0" anchor="ctr"/>
          <a:lstStyle/>
          <a:p>
            <a:pPr indent="0" marL="0">
              <a:buNone/>
            </a:pPr>
            <a:r>
              <a:rPr lang="en-US" sz="1800" b="1" dirty="0">
                <a:solidFill>
                  <a:srgbClr val="0B0F19"/>
                </a:solidFill>
                <a:latin typeface="Calibri" pitchFamily="34" charset="0"/>
                <a:ea typeface="Calibri" pitchFamily="34" charset="-122"/>
                <a:cs typeface="Calibri" pitchFamily="34" charset="-120"/>
              </a:rPr>
              <a:t>Follow up</a:t>
            </a:r>
            <a:endParaRPr lang="en-US" sz="1800" dirty="0"/>
          </a:p>
        </p:txBody>
      </p:sp>
      <p:sp>
        <p:nvSpPr>
          <p:cNvPr id="22" name="Text 20"/>
          <p:cNvSpPr txBox="1"/>
          <p:nvPr/>
        </p:nvSpPr>
        <p:spPr>
          <a:xfrm>
            <a:off x="7589520" y="2926080"/>
            <a:ext cx="1783080" cy="182880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"After two days" is booked. "Next week sometime" gets a question</a:t>
            </a:r>
            <a:endParaRPr lang="en-US" sz="1300" dirty="0"/>
          </a:p>
        </p:txBody>
      </p:sp>
      <p:sp>
        <p:nvSpPr>
          <p:cNvPr id="23" name="Shape 21"/>
          <p:cNvSpPr/>
          <p:nvPr/>
        </p:nvSpPr>
        <p:spPr>
          <a:xfrm>
            <a:off x="9692640" y="1645920"/>
            <a:ext cx="2148840" cy="3291840"/>
          </a:xfrm>
          <a:prstGeom prst="roundRect">
            <a:avLst>
              <a:gd name="adj" fmla="val 5106"/>
            </a:avLst>
          </a:prstGeom>
          <a:solidFill>
            <a:srgbClr val="F3F5F9"/>
          </a:solidFill>
          <a:ln w="12700">
            <a:solidFill>
              <a:srgbClr val="F3F5F9"/>
            </a:solidFill>
            <a:prstDash val="solid"/>
          </a:ln>
        </p:spPr>
      </p:sp>
      <p:sp>
        <p:nvSpPr>
          <p:cNvPr id="24" name="Shape 22"/>
          <p:cNvSpPr/>
          <p:nvPr/>
        </p:nvSpPr>
        <p:spPr>
          <a:xfrm>
            <a:off x="9875520" y="1828800"/>
            <a:ext cx="502920" cy="502920"/>
          </a:xfrm>
          <a:prstGeom prst="ellipse">
            <a:avLst/>
          </a:prstGeom>
          <a:solidFill>
            <a:srgbClr val="F5A623"/>
          </a:solidFill>
          <a:ln w="12700">
            <a:solidFill>
              <a:srgbClr val="F5A623"/>
            </a:solidFill>
            <a:prstDash val="solid"/>
          </a:ln>
        </p:spPr>
      </p:sp>
      <p:sp>
        <p:nvSpPr>
          <p:cNvPr id="25" name="Text 23"/>
          <p:cNvSpPr txBox="1"/>
          <p:nvPr/>
        </p:nvSpPr>
        <p:spPr>
          <a:xfrm>
            <a:off x="9875520" y="1828800"/>
            <a:ext cx="502920" cy="502920"/>
          </a:xfrm>
          <a:prstGeom prst="rect">
            <a:avLst/>
          </a:prstGeom>
          <a:noFill/>
          <a:ln/>
        </p:spPr>
        <p:txBody>
          <a:bodyPr wrap="square" lIns="0" tIns="0" rIns="0" bIns="0" rtlCol="0" anchor="ctr"/>
          <a:lstStyle/>
          <a:p>
            <a:pPr algn="ctr" indent="0" marL="0">
              <a:buNone/>
            </a:pPr>
            <a:r>
              <a:rPr lang="en-US" sz="1800" b="1" dirty="0">
                <a:solidFill>
                  <a:srgbClr val="0B0F19"/>
                </a:solidFill>
                <a:latin typeface="Cambria" pitchFamily="34" charset="0"/>
                <a:ea typeface="Cambria" pitchFamily="34" charset="-122"/>
                <a:cs typeface="Cambria" pitchFamily="34" charset="-120"/>
              </a:rPr>
              <a:t>5</a:t>
            </a:r>
            <a:endParaRPr lang="en-US" sz="1800" dirty="0"/>
          </a:p>
        </p:txBody>
      </p:sp>
      <p:sp>
        <p:nvSpPr>
          <p:cNvPr id="26" name="Text 24"/>
          <p:cNvSpPr txBox="1"/>
          <p:nvPr/>
        </p:nvSpPr>
        <p:spPr>
          <a:xfrm>
            <a:off x="9875520" y="2468880"/>
            <a:ext cx="1783080" cy="411480"/>
          </a:xfrm>
          <a:prstGeom prst="rect">
            <a:avLst/>
          </a:prstGeom>
          <a:noFill/>
          <a:ln/>
        </p:spPr>
        <p:txBody>
          <a:bodyPr wrap="square" lIns="0" tIns="0" rIns="0" bIns="0" rtlCol="0" anchor="ctr"/>
          <a:lstStyle/>
          <a:p>
            <a:pPr indent="0" marL="0">
              <a:buNone/>
            </a:pPr>
            <a:r>
              <a:rPr lang="en-US" sz="1800" b="1" dirty="0">
                <a:solidFill>
                  <a:srgbClr val="0B0F19"/>
                </a:solidFill>
                <a:latin typeface="Calibri" pitchFamily="34" charset="0"/>
                <a:ea typeface="Calibri" pitchFamily="34" charset="-122"/>
                <a:cs typeface="Calibri" pitchFamily="34" charset="-120"/>
              </a:rPr>
              <a:t>Get reminded</a:t>
            </a:r>
            <a:endParaRPr lang="en-US" sz="1800" dirty="0"/>
          </a:p>
        </p:txBody>
      </p:sp>
      <p:sp>
        <p:nvSpPr>
          <p:cNvPr id="27" name="Text 25"/>
          <p:cNvSpPr txBox="1"/>
          <p:nvPr/>
        </p:nvSpPr>
        <p:spPr>
          <a:xfrm>
            <a:off x="9875520" y="2926080"/>
            <a:ext cx="1783080" cy="182880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The bot writes back into the same chat when it's due</a:t>
            </a:r>
            <a:endParaRPr lang="en-US" sz="1300" dirty="0"/>
          </a:p>
        </p:txBody>
      </p:sp>
      <p:sp>
        <p:nvSpPr>
          <p:cNvPr id="28" name="Text 26"/>
          <p:cNvSpPr txBox="1"/>
          <p:nvPr/>
        </p:nvSpPr>
        <p:spPr>
          <a:xfrm>
            <a:off x="548640" y="5303520"/>
            <a:ext cx="11064240" cy="457200"/>
          </a:xfrm>
          <a:prstGeom prst="rect">
            <a:avLst/>
          </a:prstGeom>
          <a:noFill/>
          <a:ln/>
        </p:spPr>
        <p:txBody>
          <a:bodyPr wrap="square" lIns="0" tIns="0" rIns="0" bIns="0" rtlCol="0" anchor="ctr"/>
          <a:lstStyle/>
          <a:p>
            <a:pPr indent="0" marL="0">
              <a:buNone/>
            </a:pPr>
            <a:r>
              <a:rPr lang="en-US" sz="1500" i="1" dirty="0">
                <a:solidFill>
                  <a:srgbClr val="5B6472"/>
                </a:solidFill>
                <a:latin typeface="Calibri" pitchFamily="34" charset="0"/>
                <a:ea typeface="Calibri" pitchFamily="34" charset="-122"/>
                <a:cs typeface="Calibri" pitchFamily="34" charset="-120"/>
              </a:rPr>
              <a:t>Every step is priced and timed, per component, from real usage. It's printed on every card.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9"/>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F2F4F8"/>
                </a:solidFill>
                <a:latin typeface="Cambria" pitchFamily="34" charset="0"/>
                <a:ea typeface="Cambria" pitchFamily="34" charset="-122"/>
                <a:cs typeface="Cambria" pitchFamily="34" charset="-120"/>
              </a:rPr>
              <a:t>How it works, end to end</a:t>
            </a:r>
            <a:endParaRPr lang="en-US" sz="3600" dirty="0"/>
          </a:p>
        </p:txBody>
      </p:sp>
      <p:sp>
        <p:nvSpPr>
          <p:cNvPr id="3" name="Shape 1"/>
          <p:cNvSpPr/>
          <p:nvPr/>
        </p:nvSpPr>
        <p:spPr>
          <a:xfrm>
            <a:off x="457200" y="1600200"/>
            <a:ext cx="2103120" cy="1234440"/>
          </a:xfrm>
          <a:prstGeom prst="roundRect">
            <a:avLst>
              <a:gd name="adj" fmla="val 7407"/>
            </a:avLst>
          </a:prstGeom>
          <a:solidFill>
            <a:srgbClr val="141A26"/>
          </a:solidFill>
          <a:ln w="19050">
            <a:solidFill>
              <a:srgbClr val="F5A623"/>
            </a:solidFill>
            <a:prstDash val="solid"/>
          </a:ln>
        </p:spPr>
      </p:sp>
      <p:sp>
        <p:nvSpPr>
          <p:cNvPr id="4" name="Text 2"/>
          <p:cNvSpPr txBox="1"/>
          <p:nvPr/>
        </p:nvSpPr>
        <p:spPr>
          <a:xfrm>
            <a:off x="594360" y="1709928"/>
            <a:ext cx="1828800" cy="365760"/>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Chat</a:t>
            </a:r>
            <a:endParaRPr lang="en-US" sz="1600" dirty="0"/>
          </a:p>
        </p:txBody>
      </p:sp>
      <p:sp>
        <p:nvSpPr>
          <p:cNvPr id="5" name="Text 3"/>
          <p:cNvSpPr txBox="1"/>
          <p:nvPr/>
        </p:nvSpPr>
        <p:spPr>
          <a:xfrm>
            <a:off x="594360" y="2103120"/>
            <a:ext cx="1828800" cy="685800"/>
          </a:xfrm>
          <a:prstGeom prst="rect">
            <a:avLst/>
          </a:prstGeom>
          <a:noFill/>
          <a:ln/>
        </p:spPr>
        <p:txBody>
          <a:bodyPr wrap="square" lIns="0" tIns="0" rIns="0" bIns="0" rtlCol="0" anchor="ctr"/>
          <a:lstStyle/>
          <a:p>
            <a:pPr indent="0" marL="0">
              <a:buNone/>
            </a:pPr>
            <a:r>
              <a:rPr lang="en-US" sz="1100" dirty="0">
                <a:solidFill>
                  <a:srgbClr val="9AA4B8"/>
                </a:solidFill>
                <a:latin typeface="Calibri" pitchFamily="34" charset="0"/>
                <a:ea typeface="Calibri" pitchFamily="34" charset="-122"/>
                <a:cs typeface="Calibri" pitchFamily="34" charset="-120"/>
              </a:rPr>
              <a:t>Teams / Web Chat</a:t>
            </a:r>
            <a:endParaRPr lang="en-US" sz="1100" dirty="0"/>
          </a:p>
        </p:txBody>
      </p:sp>
      <p:sp>
        <p:nvSpPr>
          <p:cNvPr id="6" name="Text 4"/>
          <p:cNvSpPr txBox="1"/>
          <p:nvPr/>
        </p:nvSpPr>
        <p:spPr>
          <a:xfrm>
            <a:off x="2560320" y="1920240"/>
            <a:ext cx="274320" cy="548640"/>
          </a:xfrm>
          <a:prstGeom prst="rect">
            <a:avLst/>
          </a:prstGeom>
          <a:noFill/>
          <a:ln/>
        </p:spPr>
        <p:txBody>
          <a:bodyPr wrap="square" lIns="0" tIns="0" rIns="0" bIns="0" rtlCol="0" anchor="ctr"/>
          <a:lstStyle/>
          <a:p>
            <a:pPr algn="ctr" indent="0" marL="0">
              <a:buNone/>
            </a:pPr>
            <a:r>
              <a:rPr lang="en-US" sz="2200" dirty="0">
                <a:solidFill>
                  <a:srgbClr val="9AA4B8"/>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2834640" y="1600200"/>
            <a:ext cx="2103120" cy="1234440"/>
          </a:xfrm>
          <a:prstGeom prst="roundRect">
            <a:avLst>
              <a:gd name="adj" fmla="val 7407"/>
            </a:avLst>
          </a:prstGeom>
          <a:solidFill>
            <a:srgbClr val="141A26"/>
          </a:solidFill>
          <a:ln w="19050">
            <a:solidFill>
              <a:srgbClr val="3FB950"/>
            </a:solidFill>
            <a:prstDash val="solid"/>
          </a:ln>
        </p:spPr>
      </p:sp>
      <p:sp>
        <p:nvSpPr>
          <p:cNvPr id="8" name="Text 6"/>
          <p:cNvSpPr txBox="1"/>
          <p:nvPr/>
        </p:nvSpPr>
        <p:spPr>
          <a:xfrm>
            <a:off x="2971800" y="1709928"/>
            <a:ext cx="1828800" cy="365760"/>
          </a:xfrm>
          <a:prstGeom prst="rect">
            <a:avLst/>
          </a:prstGeom>
          <a:noFill/>
          <a:ln/>
        </p:spPr>
        <p:txBody>
          <a:bodyPr wrap="square" lIns="0" tIns="0" rIns="0" bIns="0" rtlCol="0" anchor="ctr"/>
          <a:lstStyle/>
          <a:p>
            <a:pPr indent="0" marL="0">
              <a:buNone/>
            </a:pPr>
            <a:r>
              <a:rPr lang="en-US" sz="1600" b="1" dirty="0">
                <a:solidFill>
                  <a:srgbClr val="3FB950"/>
                </a:solidFill>
                <a:latin typeface="Calibri" pitchFamily="34" charset="0"/>
                <a:ea typeface="Calibri" pitchFamily="34" charset="-122"/>
                <a:cs typeface="Calibri" pitchFamily="34" charset="-120"/>
              </a:rPr>
              <a:t>Channel</a:t>
            </a:r>
            <a:endParaRPr lang="en-US" sz="1600" dirty="0"/>
          </a:p>
        </p:txBody>
      </p:sp>
      <p:sp>
        <p:nvSpPr>
          <p:cNvPr id="9" name="Text 7"/>
          <p:cNvSpPr txBox="1"/>
          <p:nvPr/>
        </p:nvSpPr>
        <p:spPr>
          <a:xfrm>
            <a:off x="2971800" y="2103120"/>
            <a:ext cx="1828800" cy="685800"/>
          </a:xfrm>
          <a:prstGeom prst="rect">
            <a:avLst/>
          </a:prstGeom>
          <a:noFill/>
          <a:ln/>
        </p:spPr>
        <p:txBody>
          <a:bodyPr wrap="square" lIns="0" tIns="0" rIns="0" bIns="0" rtlCol="0" anchor="ctr"/>
          <a:lstStyle/>
          <a:p>
            <a:pPr indent="0" marL="0">
              <a:buNone/>
            </a:pPr>
            <a:r>
              <a:rPr lang="en-US" sz="1100" dirty="0">
                <a:solidFill>
                  <a:srgbClr val="9AA4B8"/>
                </a:solidFill>
                <a:latin typeface="Calibri" pitchFamily="34" charset="0"/>
                <a:ea typeface="Calibri" pitchFamily="34" charset="-122"/>
                <a:cs typeface="Calibri" pitchFamily="34" charset="-120"/>
              </a:rPr>
              <a:t>teams.py · 130 lines</a:t>
            </a:r>
            <a:endParaRPr lang="en-US" sz="1100" dirty="0"/>
          </a:p>
          <a:p>
            <a:pPr indent="0" marL="0">
              <a:buNone/>
            </a:pPr>
            <a:r>
              <a:rPr lang="en-US" sz="1100" dirty="0">
                <a:solidFill>
                  <a:srgbClr val="9AA4B8"/>
                </a:solidFill>
                <a:latin typeface="Calibri" pitchFamily="34" charset="0"/>
                <a:ea typeface="Calibri" pitchFamily="34" charset="-122"/>
                <a:cs typeface="Calibri" pitchFamily="34" charset="-120"/>
              </a:rPr>
              <a:t>no SDK</a:t>
            </a:r>
            <a:endParaRPr lang="en-US" sz="1100" dirty="0"/>
          </a:p>
        </p:txBody>
      </p:sp>
      <p:sp>
        <p:nvSpPr>
          <p:cNvPr id="10" name="Text 8"/>
          <p:cNvSpPr txBox="1"/>
          <p:nvPr/>
        </p:nvSpPr>
        <p:spPr>
          <a:xfrm>
            <a:off x="4937760" y="1920240"/>
            <a:ext cx="274320" cy="548640"/>
          </a:xfrm>
          <a:prstGeom prst="rect">
            <a:avLst/>
          </a:prstGeom>
          <a:noFill/>
          <a:ln/>
        </p:spPr>
        <p:txBody>
          <a:bodyPr wrap="square" lIns="0" tIns="0" rIns="0" bIns="0" rtlCol="0" anchor="ctr"/>
          <a:lstStyle/>
          <a:p>
            <a:pPr algn="ctr" indent="0" marL="0">
              <a:buNone/>
            </a:pPr>
            <a:r>
              <a:rPr lang="en-US" sz="2200" dirty="0">
                <a:solidFill>
                  <a:srgbClr val="9AA4B8"/>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212080" y="1600200"/>
            <a:ext cx="2103120" cy="1234440"/>
          </a:xfrm>
          <a:prstGeom prst="roundRect">
            <a:avLst>
              <a:gd name="adj" fmla="val 7407"/>
            </a:avLst>
          </a:prstGeom>
          <a:solidFill>
            <a:srgbClr val="141A26"/>
          </a:solidFill>
          <a:ln w="19050">
            <a:solidFill>
              <a:srgbClr val="F2F4F8"/>
            </a:solidFill>
            <a:prstDash val="solid"/>
          </a:ln>
        </p:spPr>
      </p:sp>
      <p:sp>
        <p:nvSpPr>
          <p:cNvPr id="12" name="Text 10"/>
          <p:cNvSpPr txBox="1"/>
          <p:nvPr/>
        </p:nvSpPr>
        <p:spPr>
          <a:xfrm>
            <a:off x="5349240" y="1709928"/>
            <a:ext cx="1828800" cy="365760"/>
          </a:xfrm>
          <a:prstGeom prst="rect">
            <a:avLst/>
          </a:prstGeom>
          <a:noFill/>
          <a:ln/>
        </p:spPr>
        <p:txBody>
          <a:bodyPr wrap="square" lIns="0" tIns="0" rIns="0" bIns="0" rtlCol="0" anchor="ctr"/>
          <a:lstStyle/>
          <a:p>
            <a:pPr indent="0" marL="0">
              <a:buNone/>
            </a:pPr>
            <a:r>
              <a:rPr lang="en-US" sz="1600" b="1" dirty="0">
                <a:solidFill>
                  <a:srgbClr val="F2F4F8"/>
                </a:solidFill>
                <a:latin typeface="Calibri" pitchFamily="34" charset="0"/>
                <a:ea typeface="Calibri" pitchFamily="34" charset="-122"/>
                <a:cs typeface="Calibri" pitchFamily="34" charset="-120"/>
              </a:rPr>
              <a:t>InboundEvent</a:t>
            </a:r>
            <a:endParaRPr lang="en-US" sz="1600" dirty="0"/>
          </a:p>
        </p:txBody>
      </p:sp>
      <p:sp>
        <p:nvSpPr>
          <p:cNvPr id="13" name="Text 11"/>
          <p:cNvSpPr txBox="1"/>
          <p:nvPr/>
        </p:nvSpPr>
        <p:spPr>
          <a:xfrm>
            <a:off x="5349240" y="2103120"/>
            <a:ext cx="1828800" cy="685800"/>
          </a:xfrm>
          <a:prstGeom prst="rect">
            <a:avLst/>
          </a:prstGeom>
          <a:noFill/>
          <a:ln/>
        </p:spPr>
        <p:txBody>
          <a:bodyPr wrap="square" lIns="0" tIns="0" rIns="0" bIns="0" rtlCol="0" anchor="ctr"/>
          <a:lstStyle/>
          <a:p>
            <a:pPr indent="0" marL="0">
              <a:buNone/>
            </a:pPr>
            <a:r>
              <a:rPr lang="en-US" sz="1100" dirty="0">
                <a:solidFill>
                  <a:srgbClr val="9AA4B8"/>
                </a:solidFill>
                <a:latin typeface="Calibri" pitchFamily="34" charset="0"/>
                <a:ea typeface="Calibri" pitchFamily="34" charset="-122"/>
                <a:cs typeface="Calibri" pitchFamily="34" charset="-120"/>
              </a:rPr>
              <a:t>one plain object</a:t>
            </a:r>
            <a:endParaRPr lang="en-US" sz="1100" dirty="0"/>
          </a:p>
          <a:p>
            <a:pPr indent="0" marL="0">
              <a:buNone/>
            </a:pPr>
            <a:r>
              <a:rPr lang="en-US" sz="1100" dirty="0">
                <a:solidFill>
                  <a:srgbClr val="9AA4B8"/>
                </a:solidFill>
                <a:latin typeface="Calibri" pitchFamily="34" charset="0"/>
                <a:ea typeface="Calibri" pitchFamily="34" charset="-122"/>
                <a:cs typeface="Calibri" pitchFamily="34" charset="-120"/>
              </a:rPr>
              <a:t>the contract</a:t>
            </a:r>
            <a:endParaRPr lang="en-US" sz="1100" dirty="0"/>
          </a:p>
        </p:txBody>
      </p:sp>
      <p:sp>
        <p:nvSpPr>
          <p:cNvPr id="14" name="Text 12"/>
          <p:cNvSpPr txBox="1"/>
          <p:nvPr/>
        </p:nvSpPr>
        <p:spPr>
          <a:xfrm>
            <a:off x="7315200" y="1920240"/>
            <a:ext cx="274320" cy="548640"/>
          </a:xfrm>
          <a:prstGeom prst="rect">
            <a:avLst/>
          </a:prstGeom>
          <a:noFill/>
          <a:ln/>
        </p:spPr>
        <p:txBody>
          <a:bodyPr wrap="square" lIns="0" tIns="0" rIns="0" bIns="0" rtlCol="0" anchor="ctr"/>
          <a:lstStyle/>
          <a:p>
            <a:pPr algn="ctr" indent="0" marL="0">
              <a:buNone/>
            </a:pPr>
            <a:r>
              <a:rPr lang="en-US" sz="2200" dirty="0">
                <a:solidFill>
                  <a:srgbClr val="9AA4B8"/>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7589520" y="1600200"/>
            <a:ext cx="2103120" cy="1234440"/>
          </a:xfrm>
          <a:prstGeom prst="roundRect">
            <a:avLst>
              <a:gd name="adj" fmla="val 7407"/>
            </a:avLst>
          </a:prstGeom>
          <a:solidFill>
            <a:srgbClr val="141A26"/>
          </a:solidFill>
          <a:ln w="19050">
            <a:solidFill>
              <a:srgbClr val="3FB950"/>
            </a:solidFill>
            <a:prstDash val="solid"/>
          </a:ln>
        </p:spPr>
      </p:sp>
      <p:sp>
        <p:nvSpPr>
          <p:cNvPr id="16" name="Text 14"/>
          <p:cNvSpPr txBox="1"/>
          <p:nvPr/>
        </p:nvSpPr>
        <p:spPr>
          <a:xfrm>
            <a:off x="7726680" y="1709928"/>
            <a:ext cx="1828800" cy="365760"/>
          </a:xfrm>
          <a:prstGeom prst="rect">
            <a:avLst/>
          </a:prstGeom>
          <a:noFill/>
          <a:ln/>
        </p:spPr>
        <p:txBody>
          <a:bodyPr wrap="square" lIns="0" tIns="0" rIns="0" bIns="0" rtlCol="0" anchor="ctr"/>
          <a:lstStyle/>
          <a:p>
            <a:pPr indent="0" marL="0">
              <a:buNone/>
            </a:pPr>
            <a:r>
              <a:rPr lang="en-US" sz="1600" b="1" dirty="0">
                <a:solidFill>
                  <a:srgbClr val="3FB950"/>
                </a:solidFill>
                <a:latin typeface="Calibri" pitchFamily="34" charset="0"/>
                <a:ea typeface="Calibri" pitchFamily="34" charset="-122"/>
                <a:cs typeface="Calibri" pitchFamily="34" charset="-120"/>
              </a:rPr>
              <a:t>Pipeline</a:t>
            </a:r>
            <a:endParaRPr lang="en-US" sz="1600" dirty="0"/>
          </a:p>
        </p:txBody>
      </p:sp>
      <p:sp>
        <p:nvSpPr>
          <p:cNvPr id="17" name="Text 15"/>
          <p:cNvSpPr txBox="1"/>
          <p:nvPr/>
        </p:nvSpPr>
        <p:spPr>
          <a:xfrm>
            <a:off x="7726680" y="2103120"/>
            <a:ext cx="1828800" cy="685800"/>
          </a:xfrm>
          <a:prstGeom prst="rect">
            <a:avLst/>
          </a:prstGeom>
          <a:noFill/>
          <a:ln/>
        </p:spPr>
        <p:txBody>
          <a:bodyPr wrap="square" lIns="0" tIns="0" rIns="0" bIns="0" rtlCol="0" anchor="ctr"/>
          <a:lstStyle/>
          <a:p>
            <a:pPr indent="0" marL="0">
              <a:buNone/>
            </a:pPr>
            <a:r>
              <a:rPr lang="en-US" sz="1100" dirty="0">
                <a:solidFill>
                  <a:srgbClr val="9AA4B8"/>
                </a:solidFill>
                <a:latin typeface="Calibri" pitchFamily="34" charset="0"/>
                <a:ea typeface="Calibri" pitchFamily="34" charset="-122"/>
                <a:cs typeface="Calibri" pitchFamily="34" charset="-120"/>
              </a:rPr>
              <a:t>fixed steps, not an agent</a:t>
            </a:r>
            <a:endParaRPr lang="en-US" sz="1100" dirty="0"/>
          </a:p>
          <a:p>
            <a:pPr indent="0" marL="0">
              <a:buNone/>
            </a:pPr>
            <a:r>
              <a:rPr lang="en-US" sz="1100" dirty="0">
                <a:solidFill>
                  <a:srgbClr val="9AA4B8"/>
                </a:solidFill>
                <a:latin typeface="Calibri" pitchFamily="34" charset="0"/>
                <a:ea typeface="Calibri" pitchFamily="34" charset="-122"/>
                <a:cs typeface="Calibri" pitchFamily="34" charset="-120"/>
              </a:rPr>
              <a:t>idempotent on activity_id</a:t>
            </a:r>
            <a:endParaRPr lang="en-US" sz="1100" dirty="0"/>
          </a:p>
        </p:txBody>
      </p:sp>
      <p:sp>
        <p:nvSpPr>
          <p:cNvPr id="18" name="Text 16"/>
          <p:cNvSpPr txBox="1"/>
          <p:nvPr/>
        </p:nvSpPr>
        <p:spPr>
          <a:xfrm>
            <a:off x="9692640" y="1920240"/>
            <a:ext cx="274320" cy="548640"/>
          </a:xfrm>
          <a:prstGeom prst="rect">
            <a:avLst/>
          </a:prstGeom>
          <a:noFill/>
          <a:ln/>
        </p:spPr>
        <p:txBody>
          <a:bodyPr wrap="square" lIns="0" tIns="0" rIns="0" bIns="0" rtlCol="0" anchor="ctr"/>
          <a:lstStyle/>
          <a:p>
            <a:pPr algn="ctr" indent="0" marL="0">
              <a:buNone/>
            </a:pPr>
            <a:r>
              <a:rPr lang="en-US" sz="2200" dirty="0">
                <a:solidFill>
                  <a:srgbClr val="9AA4B8"/>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9966960" y="1600200"/>
            <a:ext cx="2103120" cy="1234440"/>
          </a:xfrm>
          <a:prstGeom prst="roundRect">
            <a:avLst>
              <a:gd name="adj" fmla="val 7407"/>
            </a:avLst>
          </a:prstGeom>
          <a:solidFill>
            <a:srgbClr val="141A26"/>
          </a:solidFill>
          <a:ln w="19050">
            <a:solidFill>
              <a:srgbClr val="F5A623"/>
            </a:solidFill>
            <a:prstDash val="solid"/>
          </a:ln>
        </p:spPr>
      </p:sp>
      <p:sp>
        <p:nvSpPr>
          <p:cNvPr id="20" name="Text 18"/>
          <p:cNvSpPr txBox="1"/>
          <p:nvPr/>
        </p:nvSpPr>
        <p:spPr>
          <a:xfrm>
            <a:off x="10104120" y="1709928"/>
            <a:ext cx="1828800" cy="365760"/>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Card back</a:t>
            </a:r>
            <a:endParaRPr lang="en-US" sz="1600" dirty="0"/>
          </a:p>
        </p:txBody>
      </p:sp>
      <p:sp>
        <p:nvSpPr>
          <p:cNvPr id="21" name="Text 19"/>
          <p:cNvSpPr txBox="1"/>
          <p:nvPr/>
        </p:nvSpPr>
        <p:spPr>
          <a:xfrm>
            <a:off x="10104120" y="2103120"/>
            <a:ext cx="1828800" cy="685800"/>
          </a:xfrm>
          <a:prstGeom prst="rect">
            <a:avLst/>
          </a:prstGeom>
          <a:noFill/>
          <a:ln/>
        </p:spPr>
        <p:txBody>
          <a:bodyPr wrap="square" lIns="0" tIns="0" rIns="0" bIns="0" rtlCol="0" anchor="ctr"/>
          <a:lstStyle/>
          <a:p>
            <a:pPr indent="0" marL="0">
              <a:buNone/>
            </a:pPr>
            <a:r>
              <a:rPr lang="en-US" sz="1100" dirty="0">
                <a:solidFill>
                  <a:srgbClr val="9AA4B8"/>
                </a:solidFill>
                <a:latin typeface="Calibri" pitchFamily="34" charset="0"/>
                <a:ea typeface="Calibri" pitchFamily="34" charset="-122"/>
                <a:cs typeface="Calibri" pitchFamily="34" charset="-120"/>
              </a:rPr>
              <a:t>Adaptive Card</a:t>
            </a:r>
            <a:endParaRPr lang="en-US" sz="1100" dirty="0"/>
          </a:p>
          <a:p>
            <a:pPr indent="0" marL="0">
              <a:buNone/>
            </a:pPr>
            <a:r>
              <a:rPr lang="en-US" sz="1100" dirty="0">
                <a:solidFill>
                  <a:srgbClr val="9AA4B8"/>
                </a:solidFill>
                <a:latin typeface="Calibri" pitchFamily="34" charset="0"/>
                <a:ea typeface="Calibri" pitchFamily="34" charset="-122"/>
                <a:cs typeface="Calibri" pitchFamily="34" charset="-120"/>
              </a:rPr>
              <a:t>CRUD in the chat</a:t>
            </a:r>
            <a:endParaRPr lang="en-US" sz="1100" dirty="0"/>
          </a:p>
        </p:txBody>
      </p:sp>
      <p:sp>
        <p:nvSpPr>
          <p:cNvPr id="22" name="Shape 20"/>
          <p:cNvSpPr/>
          <p:nvPr/>
        </p:nvSpPr>
        <p:spPr>
          <a:xfrm>
            <a:off x="457200" y="3291840"/>
            <a:ext cx="2148840" cy="1554480"/>
          </a:xfrm>
          <a:prstGeom prst="roundRect">
            <a:avLst>
              <a:gd name="adj" fmla="val 5882"/>
            </a:avLst>
          </a:prstGeom>
          <a:solidFill>
            <a:srgbClr val="141A26"/>
          </a:solidFill>
          <a:ln w="12700">
            <a:solidFill>
              <a:srgbClr val="141A26"/>
            </a:solidFill>
            <a:prstDash val="solid"/>
          </a:ln>
        </p:spPr>
      </p:sp>
      <p:sp>
        <p:nvSpPr>
          <p:cNvPr id="23" name="Text 21"/>
          <p:cNvSpPr txBox="1"/>
          <p:nvPr/>
        </p:nvSpPr>
        <p:spPr>
          <a:xfrm>
            <a:off x="594360" y="3401568"/>
            <a:ext cx="1874520" cy="320040"/>
          </a:xfrm>
          <a:prstGeom prst="rect">
            <a:avLst/>
          </a:prstGeom>
          <a:noFill/>
          <a:ln/>
        </p:spPr>
        <p:txBody>
          <a:bodyPr wrap="square" lIns="0" tIns="0" rIns="0" bIns="0" rtlCol="0" anchor="ctr"/>
          <a:lstStyle/>
          <a:p>
            <a:pPr indent="0" marL="0">
              <a:buNone/>
            </a:pPr>
            <a:r>
              <a:rPr lang="en-US" sz="1200" b="1" dirty="0">
                <a:solidFill>
                  <a:srgbClr val="F5A623"/>
                </a:solidFill>
                <a:latin typeface="Courier New" pitchFamily="34" charset="0"/>
                <a:ea typeface="Courier New" pitchFamily="34" charset="-122"/>
                <a:cs typeface="Courier New" pitchFamily="34" charset="-120"/>
              </a:rPr>
              <a:t>extract.py</a:t>
            </a:r>
            <a:endParaRPr lang="en-US" sz="1200" dirty="0"/>
          </a:p>
        </p:txBody>
      </p:sp>
      <p:sp>
        <p:nvSpPr>
          <p:cNvPr id="24" name="Text 22"/>
          <p:cNvSpPr txBox="1"/>
          <p:nvPr/>
        </p:nvSpPr>
        <p:spPr>
          <a:xfrm>
            <a:off x="594360" y="3749040"/>
            <a:ext cx="1874520" cy="1005840"/>
          </a:xfrm>
          <a:prstGeom prst="rect">
            <a:avLst/>
          </a:prstGeom>
          <a:noFill/>
          <a:ln/>
        </p:spPr>
        <p:txBody>
          <a:bodyPr wrap="square" lIns="0" tIns="0" rIns="0" bIns="0" rtlCol="0" anchor="ctr"/>
          <a:lstStyle/>
          <a:p>
            <a:pPr indent="0" marL="0">
              <a:buNone/>
            </a:pPr>
            <a:r>
              <a:rPr lang="en-US" sz="1100" dirty="0">
                <a:solidFill>
                  <a:srgbClr val="F2F4F8"/>
                </a:solidFill>
                <a:latin typeface="Calibri" pitchFamily="34" charset="0"/>
                <a:ea typeface="Calibri" pitchFamily="34" charset="-122"/>
                <a:cs typeface="Calibri" pitchFamily="34" charset="-120"/>
              </a:rPr>
              <a:t>Claude fills a schema.</a:t>
            </a:r>
            <a:endParaRPr lang="en-US" sz="1100" dirty="0"/>
          </a:p>
          <a:p>
            <a:pPr indent="0" marL="0">
              <a:buNone/>
            </a:pPr>
            <a:r>
              <a:rPr lang="en-US" sz="1100" dirty="0">
                <a:solidFill>
                  <a:srgbClr val="F2F4F8"/>
                </a:solidFill>
                <a:latin typeface="Calibri" pitchFamily="34" charset="0"/>
                <a:ea typeface="Calibri" pitchFamily="34" charset="-122"/>
                <a:cs typeface="Calibri" pitchFamily="34" charset="-120"/>
              </a:rPr>
              <a:t>Invalid → retry once → abstain and ask.</a:t>
            </a:r>
            <a:endParaRPr lang="en-US" sz="1100" dirty="0"/>
          </a:p>
        </p:txBody>
      </p:sp>
      <p:sp>
        <p:nvSpPr>
          <p:cNvPr id="25" name="Shape 23"/>
          <p:cNvSpPr/>
          <p:nvPr/>
        </p:nvSpPr>
        <p:spPr>
          <a:xfrm>
            <a:off x="2807208" y="3291840"/>
            <a:ext cx="2148840" cy="1554480"/>
          </a:xfrm>
          <a:prstGeom prst="roundRect">
            <a:avLst>
              <a:gd name="adj" fmla="val 5882"/>
            </a:avLst>
          </a:prstGeom>
          <a:solidFill>
            <a:srgbClr val="141A26"/>
          </a:solidFill>
          <a:ln w="12700">
            <a:solidFill>
              <a:srgbClr val="141A26"/>
            </a:solidFill>
            <a:prstDash val="solid"/>
          </a:ln>
        </p:spPr>
      </p:sp>
      <p:sp>
        <p:nvSpPr>
          <p:cNvPr id="26" name="Text 24"/>
          <p:cNvSpPr txBox="1"/>
          <p:nvPr/>
        </p:nvSpPr>
        <p:spPr>
          <a:xfrm>
            <a:off x="2944368" y="3401568"/>
            <a:ext cx="1874520" cy="320040"/>
          </a:xfrm>
          <a:prstGeom prst="rect">
            <a:avLst/>
          </a:prstGeom>
          <a:noFill/>
          <a:ln/>
        </p:spPr>
        <p:txBody>
          <a:bodyPr wrap="square" lIns="0" tIns="0" rIns="0" bIns="0" rtlCol="0" anchor="ctr"/>
          <a:lstStyle/>
          <a:p>
            <a:pPr indent="0" marL="0">
              <a:buNone/>
            </a:pPr>
            <a:r>
              <a:rPr lang="en-US" sz="1200" b="1" dirty="0">
                <a:solidFill>
                  <a:srgbClr val="F5A623"/>
                </a:solidFill>
                <a:latin typeface="Courier New" pitchFamily="34" charset="0"/>
                <a:ea typeface="Courier New" pitchFamily="34" charset="-122"/>
                <a:cs typeface="Courier New" pitchFamily="34" charset="-120"/>
              </a:rPr>
              <a:t>followup.py</a:t>
            </a:r>
            <a:endParaRPr lang="en-US" sz="1200" dirty="0"/>
          </a:p>
        </p:txBody>
      </p:sp>
      <p:sp>
        <p:nvSpPr>
          <p:cNvPr id="27" name="Text 25"/>
          <p:cNvSpPr txBox="1"/>
          <p:nvPr/>
        </p:nvSpPr>
        <p:spPr>
          <a:xfrm>
            <a:off x="2944368" y="3749040"/>
            <a:ext cx="1874520" cy="1005840"/>
          </a:xfrm>
          <a:prstGeom prst="rect">
            <a:avLst/>
          </a:prstGeom>
          <a:noFill/>
          <a:ln/>
        </p:spPr>
        <p:txBody>
          <a:bodyPr wrap="square" lIns="0" tIns="0" rIns="0" bIns="0" rtlCol="0" anchor="ctr"/>
          <a:lstStyle/>
          <a:p>
            <a:pPr indent="0" marL="0">
              <a:buNone/>
            </a:pPr>
            <a:r>
              <a:rPr lang="en-US" sz="1100" dirty="0">
                <a:solidFill>
                  <a:srgbClr val="F2F4F8"/>
                </a:solidFill>
                <a:latin typeface="Calibri" pitchFamily="34" charset="0"/>
                <a:ea typeface="Calibri" pitchFamily="34" charset="-122"/>
                <a:cs typeface="Calibri" pitchFamily="34" charset="-120"/>
              </a:rPr>
              <a:t>RESOLVED · AMBIGUOUS · NONE</a:t>
            </a:r>
            <a:endParaRPr lang="en-US" sz="1100" dirty="0"/>
          </a:p>
          <a:p>
            <a:pPr indent="0" marL="0">
              <a:buNone/>
            </a:pPr>
            <a:r>
              <a:rPr lang="en-US" sz="1100" dirty="0">
                <a:solidFill>
                  <a:srgbClr val="F2F4F8"/>
                </a:solidFill>
                <a:latin typeface="Calibri" pitchFamily="34" charset="0"/>
                <a:ea typeface="Calibri" pitchFamily="34" charset="-122"/>
                <a:cs typeface="Calibri" pitchFamily="34" charset="-120"/>
              </a:rPr>
              <a:t>Regex, not the model. Can't hallucinate a Tuesday.</a:t>
            </a:r>
            <a:endParaRPr lang="en-US" sz="1100" dirty="0"/>
          </a:p>
        </p:txBody>
      </p:sp>
      <p:sp>
        <p:nvSpPr>
          <p:cNvPr id="28" name="Shape 26"/>
          <p:cNvSpPr/>
          <p:nvPr/>
        </p:nvSpPr>
        <p:spPr>
          <a:xfrm>
            <a:off x="5157216" y="3291840"/>
            <a:ext cx="2148840" cy="1554480"/>
          </a:xfrm>
          <a:prstGeom prst="roundRect">
            <a:avLst>
              <a:gd name="adj" fmla="val 5882"/>
            </a:avLst>
          </a:prstGeom>
          <a:solidFill>
            <a:srgbClr val="141A26"/>
          </a:solidFill>
          <a:ln w="12700">
            <a:solidFill>
              <a:srgbClr val="141A26"/>
            </a:solidFill>
            <a:prstDash val="solid"/>
          </a:ln>
        </p:spPr>
      </p:sp>
      <p:sp>
        <p:nvSpPr>
          <p:cNvPr id="29" name="Text 27"/>
          <p:cNvSpPr txBox="1"/>
          <p:nvPr/>
        </p:nvSpPr>
        <p:spPr>
          <a:xfrm>
            <a:off x="5294376" y="3401568"/>
            <a:ext cx="1874520" cy="320040"/>
          </a:xfrm>
          <a:prstGeom prst="rect">
            <a:avLst/>
          </a:prstGeom>
          <a:noFill/>
          <a:ln/>
        </p:spPr>
        <p:txBody>
          <a:bodyPr wrap="square" lIns="0" tIns="0" rIns="0" bIns="0" rtlCol="0" anchor="ctr"/>
          <a:lstStyle/>
          <a:p>
            <a:pPr indent="0" marL="0">
              <a:buNone/>
            </a:pPr>
            <a:r>
              <a:rPr lang="en-US" sz="1200" b="1" dirty="0">
                <a:solidFill>
                  <a:srgbClr val="F5A623"/>
                </a:solidFill>
                <a:latin typeface="Courier New" pitchFamily="34" charset="0"/>
                <a:ea typeface="Courier New" pitchFamily="34" charset="-122"/>
                <a:cs typeface="Courier New" pitchFamily="34" charset="-120"/>
              </a:rPr>
              <a:t>store.py</a:t>
            </a:r>
            <a:endParaRPr lang="en-US" sz="1200" dirty="0"/>
          </a:p>
        </p:txBody>
      </p:sp>
      <p:sp>
        <p:nvSpPr>
          <p:cNvPr id="30" name="Text 28"/>
          <p:cNvSpPr txBox="1"/>
          <p:nvPr/>
        </p:nvSpPr>
        <p:spPr>
          <a:xfrm>
            <a:off x="5294376" y="3749040"/>
            <a:ext cx="1874520" cy="1005840"/>
          </a:xfrm>
          <a:prstGeom prst="rect">
            <a:avLst/>
          </a:prstGeom>
          <a:noFill/>
          <a:ln/>
        </p:spPr>
        <p:txBody>
          <a:bodyPr wrap="square" lIns="0" tIns="0" rIns="0" bIns="0" rtlCol="0" anchor="ctr"/>
          <a:lstStyle/>
          <a:p>
            <a:pPr indent="0" marL="0">
              <a:buNone/>
            </a:pPr>
            <a:r>
              <a:rPr lang="en-US" sz="1100" dirty="0">
                <a:solidFill>
                  <a:srgbClr val="F2F4F8"/>
                </a:solidFill>
                <a:latin typeface="Calibri" pitchFamily="34" charset="0"/>
                <a:ea typeface="Calibri" pitchFamily="34" charset="-122"/>
                <a:cs typeface="Calibri" pitchFamily="34" charset="-120"/>
              </a:rPr>
              <a:t>SQLite. Dedupe on email, then mobile.</a:t>
            </a:r>
            <a:endParaRPr lang="en-US" sz="1100" dirty="0"/>
          </a:p>
          <a:p>
            <a:pPr indent="0" marL="0">
              <a:buNone/>
            </a:pPr>
            <a:r>
              <a:rPr lang="en-US" sz="1100" dirty="0">
                <a:solidFill>
                  <a:srgbClr val="F2F4F8"/>
                </a:solidFill>
                <a:latin typeface="Calibri" pitchFamily="34" charset="0"/>
                <a:ea typeface="Calibri" pitchFamily="34" charset="-122"/>
                <a:cs typeface="Calibri" pitchFamily="34" charset="-120"/>
              </a:rPr>
              <a:t>Never auto-merges.</a:t>
            </a:r>
            <a:endParaRPr lang="en-US" sz="1100" dirty="0"/>
          </a:p>
        </p:txBody>
      </p:sp>
      <p:sp>
        <p:nvSpPr>
          <p:cNvPr id="31" name="Shape 29"/>
          <p:cNvSpPr/>
          <p:nvPr/>
        </p:nvSpPr>
        <p:spPr>
          <a:xfrm>
            <a:off x="7507224" y="3291840"/>
            <a:ext cx="2148840" cy="1554480"/>
          </a:xfrm>
          <a:prstGeom prst="roundRect">
            <a:avLst>
              <a:gd name="adj" fmla="val 5882"/>
            </a:avLst>
          </a:prstGeom>
          <a:solidFill>
            <a:srgbClr val="141A26"/>
          </a:solidFill>
          <a:ln w="12700">
            <a:solidFill>
              <a:srgbClr val="141A26"/>
            </a:solidFill>
            <a:prstDash val="solid"/>
          </a:ln>
        </p:spPr>
      </p:sp>
      <p:sp>
        <p:nvSpPr>
          <p:cNvPr id="32" name="Text 30"/>
          <p:cNvSpPr txBox="1"/>
          <p:nvPr/>
        </p:nvSpPr>
        <p:spPr>
          <a:xfrm>
            <a:off x="7644384" y="3401568"/>
            <a:ext cx="1874520" cy="320040"/>
          </a:xfrm>
          <a:prstGeom prst="rect">
            <a:avLst/>
          </a:prstGeom>
          <a:noFill/>
          <a:ln/>
        </p:spPr>
        <p:txBody>
          <a:bodyPr wrap="square" lIns="0" tIns="0" rIns="0" bIns="0" rtlCol="0" anchor="ctr"/>
          <a:lstStyle/>
          <a:p>
            <a:pPr indent="0" marL="0">
              <a:buNone/>
            </a:pPr>
            <a:r>
              <a:rPr lang="en-US" sz="1200" b="1" dirty="0">
                <a:solidFill>
                  <a:srgbClr val="F5A623"/>
                </a:solidFill>
                <a:latin typeface="Courier New" pitchFamily="34" charset="0"/>
                <a:ea typeface="Courier New" pitchFamily="34" charset="-122"/>
                <a:cs typeface="Courier New" pitchFamily="34" charset="-120"/>
              </a:rPr>
              <a:t>ledger.py</a:t>
            </a:r>
            <a:endParaRPr lang="en-US" sz="1200" dirty="0"/>
          </a:p>
        </p:txBody>
      </p:sp>
      <p:sp>
        <p:nvSpPr>
          <p:cNvPr id="33" name="Text 31"/>
          <p:cNvSpPr txBox="1"/>
          <p:nvPr/>
        </p:nvSpPr>
        <p:spPr>
          <a:xfrm>
            <a:off x="7644384" y="3749040"/>
            <a:ext cx="1874520" cy="1005840"/>
          </a:xfrm>
          <a:prstGeom prst="rect">
            <a:avLst/>
          </a:prstGeom>
          <a:noFill/>
          <a:ln/>
        </p:spPr>
        <p:txBody>
          <a:bodyPr wrap="square" lIns="0" tIns="0" rIns="0" bIns="0" rtlCol="0" anchor="ctr"/>
          <a:lstStyle/>
          <a:p>
            <a:pPr indent="0" marL="0">
              <a:buNone/>
            </a:pPr>
            <a:r>
              <a:rPr lang="en-US" sz="1100" dirty="0">
                <a:solidFill>
                  <a:srgbClr val="F2F4F8"/>
                </a:solidFill>
                <a:latin typeface="Calibri" pitchFamily="34" charset="0"/>
                <a:ea typeface="Calibri" pitchFamily="34" charset="-122"/>
                <a:cs typeface="Calibri" pitchFamily="34" charset="-120"/>
              </a:rPr>
              <a:t>Every step priced from real usage.</a:t>
            </a:r>
            <a:endParaRPr lang="en-US" sz="1100" dirty="0"/>
          </a:p>
          <a:p>
            <a:pPr indent="0" marL="0">
              <a:buNone/>
            </a:pPr>
            <a:r>
              <a:rPr lang="en-US" sz="1100" dirty="0">
                <a:solidFill>
                  <a:srgbClr val="F2F4F8"/>
                </a:solidFill>
                <a:latin typeface="Calibri" pitchFamily="34" charset="0"/>
                <a:ea typeface="Calibri" pitchFamily="34" charset="-122"/>
                <a:cs typeface="Calibri" pitchFamily="34" charset="-120"/>
              </a:rPr>
              <a:t>DB and chat: $0, still timed.</a:t>
            </a:r>
            <a:endParaRPr lang="en-US" sz="1100" dirty="0"/>
          </a:p>
        </p:txBody>
      </p:sp>
      <p:sp>
        <p:nvSpPr>
          <p:cNvPr id="34" name="Shape 32"/>
          <p:cNvSpPr/>
          <p:nvPr/>
        </p:nvSpPr>
        <p:spPr>
          <a:xfrm>
            <a:off x="9857232" y="3291840"/>
            <a:ext cx="2148840" cy="1554480"/>
          </a:xfrm>
          <a:prstGeom prst="roundRect">
            <a:avLst>
              <a:gd name="adj" fmla="val 5882"/>
            </a:avLst>
          </a:prstGeom>
          <a:solidFill>
            <a:srgbClr val="141A26"/>
          </a:solidFill>
          <a:ln w="12700">
            <a:solidFill>
              <a:srgbClr val="141A26"/>
            </a:solidFill>
            <a:prstDash val="solid"/>
          </a:ln>
        </p:spPr>
      </p:sp>
      <p:sp>
        <p:nvSpPr>
          <p:cNvPr id="35" name="Text 33"/>
          <p:cNvSpPr txBox="1"/>
          <p:nvPr/>
        </p:nvSpPr>
        <p:spPr>
          <a:xfrm>
            <a:off x="9994392" y="3401568"/>
            <a:ext cx="1874520" cy="320040"/>
          </a:xfrm>
          <a:prstGeom prst="rect">
            <a:avLst/>
          </a:prstGeom>
          <a:noFill/>
          <a:ln/>
        </p:spPr>
        <p:txBody>
          <a:bodyPr wrap="square" lIns="0" tIns="0" rIns="0" bIns="0" rtlCol="0" anchor="ctr"/>
          <a:lstStyle/>
          <a:p>
            <a:pPr indent="0" marL="0">
              <a:buNone/>
            </a:pPr>
            <a:r>
              <a:rPr lang="en-US" sz="1200" b="1" dirty="0">
                <a:solidFill>
                  <a:srgbClr val="F5A623"/>
                </a:solidFill>
                <a:latin typeface="Courier New" pitchFamily="34" charset="0"/>
                <a:ea typeface="Courier New" pitchFamily="34" charset="-122"/>
                <a:cs typeface="Courier New" pitchFamily="34" charset="-120"/>
              </a:rPr>
              <a:t>scheduler.py</a:t>
            </a:r>
            <a:endParaRPr lang="en-US" sz="1200" dirty="0"/>
          </a:p>
        </p:txBody>
      </p:sp>
      <p:sp>
        <p:nvSpPr>
          <p:cNvPr id="36" name="Text 34"/>
          <p:cNvSpPr txBox="1"/>
          <p:nvPr/>
        </p:nvSpPr>
        <p:spPr>
          <a:xfrm>
            <a:off x="9994392" y="3749040"/>
            <a:ext cx="1874520" cy="1005840"/>
          </a:xfrm>
          <a:prstGeom prst="rect">
            <a:avLst/>
          </a:prstGeom>
          <a:noFill/>
          <a:ln/>
        </p:spPr>
        <p:txBody>
          <a:bodyPr wrap="square" lIns="0" tIns="0" rIns="0" bIns="0" rtlCol="0" anchor="ctr"/>
          <a:lstStyle/>
          <a:p>
            <a:pPr indent="0" marL="0">
              <a:buNone/>
            </a:pPr>
            <a:r>
              <a:rPr lang="en-US" sz="1100" dirty="0">
                <a:solidFill>
                  <a:srgbClr val="F2F4F8"/>
                </a:solidFill>
                <a:latin typeface="Calibri" pitchFamily="34" charset="0"/>
                <a:ea typeface="Calibri" pitchFamily="34" charset="-122"/>
                <a:cs typeface="Calibri" pitchFamily="34" charset="-120"/>
              </a:rPr>
              <a:t>Polls every 30s. Posts the reminder</a:t>
            </a:r>
            <a:endParaRPr lang="en-US" sz="1100" dirty="0"/>
          </a:p>
          <a:p>
            <a:pPr indent="0" marL="0">
              <a:buNone/>
            </a:pPr>
            <a:r>
              <a:rPr lang="en-US" sz="1100" dirty="0">
                <a:solidFill>
                  <a:srgbClr val="F2F4F8"/>
                </a:solidFill>
                <a:latin typeface="Calibri" pitchFamily="34" charset="0"/>
                <a:ea typeface="Calibri" pitchFamily="34" charset="-122"/>
                <a:cs typeface="Calibri" pitchFamily="34" charset="-120"/>
              </a:rPr>
              <a:t>back into the stored conversation.</a:t>
            </a:r>
            <a:endParaRPr lang="en-US" sz="1100" dirty="0"/>
          </a:p>
        </p:txBody>
      </p:sp>
      <p:sp>
        <p:nvSpPr>
          <p:cNvPr id="37" name="Text 35"/>
          <p:cNvSpPr txBox="1"/>
          <p:nvPr/>
        </p:nvSpPr>
        <p:spPr>
          <a:xfrm>
            <a:off x="457200" y="5166360"/>
            <a:ext cx="11247120" cy="640080"/>
          </a:xfrm>
          <a:prstGeom prst="rect">
            <a:avLst/>
          </a:prstGeom>
          <a:noFill/>
          <a:ln/>
        </p:spPr>
        <p:txBody>
          <a:bodyPr wrap="square" lIns="0" tIns="0" rIns="0" bIns="0" rtlCol="0" anchor="ctr"/>
          <a:lstStyle/>
          <a:p>
            <a:pPr indent="0" marL="0">
              <a:buNone/>
            </a:pPr>
            <a:r>
              <a:rPr lang="en-US" sz="1300" i="1" dirty="0">
                <a:solidFill>
                  <a:srgbClr val="9AA4B8"/>
                </a:solidFill>
                <a:latin typeface="Calibri" pitchFamily="34" charset="0"/>
                <a:ea typeface="Calibri" pitchFamily="34" charset="-122"/>
                <a:cs typeface="Calibri" pitchFamily="34" charset="-120"/>
              </a:rPr>
              <a:t>The channel moves bytes and never looks inside them. The pipeline decides what bytes mean. One contract between the halves: InboundEvent in, PipelineResult out.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0B0F19"/>
                </a:solidFill>
                <a:latin typeface="Cambria" pitchFamily="34" charset="0"/>
                <a:ea typeface="Cambria" pitchFamily="34" charset="-122"/>
                <a:cs typeface="Cambria" pitchFamily="34" charset="-120"/>
              </a:rPr>
              <a:t>Three things it will not do</a:t>
            </a:r>
            <a:endParaRPr lang="en-US" sz="3600" dirty="0"/>
          </a:p>
        </p:txBody>
      </p:sp>
      <p:sp>
        <p:nvSpPr>
          <p:cNvPr id="3" name="Shape 1"/>
          <p:cNvSpPr/>
          <p:nvPr/>
        </p:nvSpPr>
        <p:spPr>
          <a:xfrm>
            <a:off x="548640" y="1554480"/>
            <a:ext cx="3611880" cy="4023360"/>
          </a:xfrm>
          <a:prstGeom prst="roundRect">
            <a:avLst>
              <a:gd name="adj" fmla="val 3038"/>
            </a:avLst>
          </a:prstGeom>
          <a:solidFill>
            <a:srgbClr val="F3F5F9"/>
          </a:solidFill>
          <a:ln w="12700">
            <a:solidFill>
              <a:srgbClr val="F3F5F9"/>
            </a:solidFill>
            <a:prstDash val="solid"/>
          </a:ln>
        </p:spPr>
      </p:sp>
      <p:sp>
        <p:nvSpPr>
          <p:cNvPr id="4" name="Text 2"/>
          <p:cNvSpPr txBox="1"/>
          <p:nvPr/>
        </p:nvSpPr>
        <p:spPr>
          <a:xfrm>
            <a:off x="822960" y="1737360"/>
            <a:ext cx="3063240" cy="457200"/>
          </a:xfrm>
          <a:prstGeom prst="rect">
            <a:avLst/>
          </a:prstGeom>
          <a:noFill/>
          <a:ln/>
        </p:spPr>
        <p:txBody>
          <a:bodyPr wrap="square" lIns="0" tIns="0" rIns="0" bIns="0" rtlCol="0" anchor="ctr"/>
          <a:lstStyle/>
          <a:p>
            <a:pPr indent="0" marL="0">
              <a:buNone/>
            </a:pPr>
            <a:r>
              <a:rPr lang="en-US" sz="2200" b="1" dirty="0">
                <a:solidFill>
                  <a:srgbClr val="0B0F19"/>
                </a:solidFill>
                <a:latin typeface="Cambria" pitchFamily="34" charset="0"/>
                <a:ea typeface="Cambria" pitchFamily="34" charset="-122"/>
                <a:cs typeface="Cambria" pitchFamily="34" charset="-120"/>
              </a:rPr>
              <a:t>Invent a value</a:t>
            </a:r>
            <a:endParaRPr lang="en-US" sz="2200" dirty="0"/>
          </a:p>
        </p:txBody>
      </p:sp>
      <p:sp>
        <p:nvSpPr>
          <p:cNvPr id="5" name="Text 3"/>
          <p:cNvSpPr txBox="1"/>
          <p:nvPr/>
        </p:nvSpPr>
        <p:spPr>
          <a:xfrm>
            <a:off x="822960" y="2286000"/>
            <a:ext cx="3063240" cy="1554480"/>
          </a:xfrm>
          <a:prstGeom prst="rect">
            <a:avLst/>
          </a:prstGeom>
          <a:noFill/>
          <a:ln/>
        </p:spPr>
        <p:txBody>
          <a:bodyPr wrap="square" lIns="0" tIns="0" rIns="0" bIns="0" rtlCol="0" anchor="ctr"/>
          <a:lstStyle/>
          <a:p>
            <a:pPr indent="0" marL="0">
              <a:buNone/>
            </a:pPr>
            <a:r>
              <a:rPr lang="en-US" sz="1400" dirty="0">
                <a:solidFill>
                  <a:srgbClr val="0B0F19"/>
                </a:solidFill>
                <a:latin typeface="Calibri" pitchFamily="34" charset="0"/>
                <a:ea typeface="Calibri" pitchFamily="34" charset="-122"/>
                <a:cs typeface="Calibri" pitchFamily="34" charset="-120"/>
              </a:rPr>
              <a:t>Every field is Optional. A missing company comes back as a question — never inferred from the email domain.</a:t>
            </a:r>
            <a:endParaRPr lang="en-US" sz="1400" dirty="0"/>
          </a:p>
        </p:txBody>
      </p:sp>
      <p:sp>
        <p:nvSpPr>
          <p:cNvPr id="6" name="Shape 4"/>
          <p:cNvSpPr/>
          <p:nvPr/>
        </p:nvSpPr>
        <p:spPr>
          <a:xfrm>
            <a:off x="822960" y="3977640"/>
            <a:ext cx="3063240" cy="1371600"/>
          </a:xfrm>
          <a:prstGeom prst="roundRect">
            <a:avLst>
              <a:gd name="adj" fmla="val 5333"/>
            </a:avLst>
          </a:prstGeom>
          <a:solidFill>
            <a:srgbClr val="0B0F19"/>
          </a:solidFill>
          <a:ln w="12700">
            <a:solidFill>
              <a:srgbClr val="0B0F19"/>
            </a:solidFill>
            <a:prstDash val="solid"/>
          </a:ln>
        </p:spPr>
      </p:sp>
      <p:sp>
        <p:nvSpPr>
          <p:cNvPr id="7" name="Text 5"/>
          <p:cNvSpPr txBox="1"/>
          <p:nvPr/>
        </p:nvSpPr>
        <p:spPr>
          <a:xfrm>
            <a:off x="960120" y="4069080"/>
            <a:ext cx="2788920" cy="1188720"/>
          </a:xfrm>
          <a:prstGeom prst="rect">
            <a:avLst/>
          </a:prstGeom>
          <a:noFill/>
          <a:ln/>
        </p:spPr>
        <p:txBody>
          <a:bodyPr wrap="square" lIns="0" tIns="0" rIns="0" bIns="0" rtlCol="0" anchor="ctr"/>
          <a:lstStyle/>
          <a:p>
            <a:pPr indent="0" marL="0">
              <a:buNone/>
            </a:pPr>
            <a:r>
              <a:rPr lang="en-US" sz="1200" i="1" dirty="0">
                <a:solidFill>
                  <a:srgbClr val="F2F4F8"/>
                </a:solidFill>
                <a:latin typeface="Calibri" pitchFamily="34" charset="0"/>
                <a:ea typeface="Calibri" pitchFamily="34" charset="-122"/>
                <a:cs typeface="Calibri" pitchFamily="34" charset="-120"/>
              </a:rPr>
              <a:t>"I've got Reem Haddad, but no company. Which company are they with?"</a:t>
            </a:r>
            <a:endParaRPr lang="en-US" sz="1200" dirty="0"/>
          </a:p>
        </p:txBody>
      </p:sp>
      <p:sp>
        <p:nvSpPr>
          <p:cNvPr id="8" name="Shape 6"/>
          <p:cNvSpPr/>
          <p:nvPr/>
        </p:nvSpPr>
        <p:spPr>
          <a:xfrm>
            <a:off x="4297680" y="1554480"/>
            <a:ext cx="3611880" cy="4023360"/>
          </a:xfrm>
          <a:prstGeom prst="roundRect">
            <a:avLst>
              <a:gd name="adj" fmla="val 3038"/>
            </a:avLst>
          </a:prstGeom>
          <a:solidFill>
            <a:srgbClr val="F3F5F9"/>
          </a:solidFill>
          <a:ln w="12700">
            <a:solidFill>
              <a:srgbClr val="F3F5F9"/>
            </a:solidFill>
            <a:prstDash val="solid"/>
          </a:ln>
        </p:spPr>
      </p:sp>
      <p:sp>
        <p:nvSpPr>
          <p:cNvPr id="9" name="Text 7"/>
          <p:cNvSpPr txBox="1"/>
          <p:nvPr/>
        </p:nvSpPr>
        <p:spPr>
          <a:xfrm>
            <a:off x="4572000" y="1737360"/>
            <a:ext cx="3063240" cy="457200"/>
          </a:xfrm>
          <a:prstGeom prst="rect">
            <a:avLst/>
          </a:prstGeom>
          <a:noFill/>
          <a:ln/>
        </p:spPr>
        <p:txBody>
          <a:bodyPr wrap="square" lIns="0" tIns="0" rIns="0" bIns="0" rtlCol="0" anchor="ctr"/>
          <a:lstStyle/>
          <a:p>
            <a:pPr indent="0" marL="0">
              <a:buNone/>
            </a:pPr>
            <a:r>
              <a:rPr lang="en-US" sz="2200" b="1" dirty="0">
                <a:solidFill>
                  <a:srgbClr val="0B0F19"/>
                </a:solidFill>
                <a:latin typeface="Cambria" pitchFamily="34" charset="0"/>
                <a:ea typeface="Cambria" pitchFamily="34" charset="-122"/>
                <a:cs typeface="Cambria" pitchFamily="34" charset="-120"/>
              </a:rPr>
              <a:t>Guess a date</a:t>
            </a:r>
            <a:endParaRPr lang="en-US" sz="2200" dirty="0"/>
          </a:p>
        </p:txBody>
      </p:sp>
      <p:sp>
        <p:nvSpPr>
          <p:cNvPr id="10" name="Text 8"/>
          <p:cNvSpPr txBox="1"/>
          <p:nvPr/>
        </p:nvSpPr>
        <p:spPr>
          <a:xfrm>
            <a:off x="4572000" y="2286000"/>
            <a:ext cx="3063240" cy="1554480"/>
          </a:xfrm>
          <a:prstGeom prst="rect">
            <a:avLst/>
          </a:prstGeom>
          <a:noFill/>
          <a:ln/>
        </p:spPr>
        <p:txBody>
          <a:bodyPr wrap="square" lIns="0" tIns="0" rIns="0" bIns="0" rtlCol="0" anchor="ctr"/>
          <a:lstStyle/>
          <a:p>
            <a:pPr indent="0" marL="0">
              <a:buNone/>
            </a:pPr>
            <a:r>
              <a:rPr lang="en-US" sz="1400" dirty="0">
                <a:solidFill>
                  <a:srgbClr val="0B0F19"/>
                </a:solidFill>
                <a:latin typeface="Calibri" pitchFamily="34" charset="0"/>
                <a:ea typeface="Calibri" pitchFamily="34" charset="-122"/>
                <a:cs typeface="Calibri" pitchFamily="34" charset="-120"/>
              </a:rPr>
              <a:t>Follow-up parsing is tri-state. "After two days" resolves. "Next week sometime" asks which day.</a:t>
            </a:r>
            <a:endParaRPr lang="en-US" sz="1400" dirty="0"/>
          </a:p>
        </p:txBody>
      </p:sp>
      <p:sp>
        <p:nvSpPr>
          <p:cNvPr id="11" name="Shape 9"/>
          <p:cNvSpPr/>
          <p:nvPr/>
        </p:nvSpPr>
        <p:spPr>
          <a:xfrm>
            <a:off x="4572000" y="3977640"/>
            <a:ext cx="3063240" cy="1371600"/>
          </a:xfrm>
          <a:prstGeom prst="roundRect">
            <a:avLst>
              <a:gd name="adj" fmla="val 5333"/>
            </a:avLst>
          </a:prstGeom>
          <a:solidFill>
            <a:srgbClr val="0B0F19"/>
          </a:solidFill>
          <a:ln w="12700">
            <a:solidFill>
              <a:srgbClr val="0B0F19"/>
            </a:solidFill>
            <a:prstDash val="solid"/>
          </a:ln>
        </p:spPr>
      </p:sp>
      <p:sp>
        <p:nvSpPr>
          <p:cNvPr id="12" name="Text 10"/>
          <p:cNvSpPr txBox="1"/>
          <p:nvPr/>
        </p:nvSpPr>
        <p:spPr>
          <a:xfrm>
            <a:off x="4709160" y="4069080"/>
            <a:ext cx="2788920" cy="1188720"/>
          </a:xfrm>
          <a:prstGeom prst="rect">
            <a:avLst/>
          </a:prstGeom>
          <a:noFill/>
          <a:ln/>
        </p:spPr>
        <p:txBody>
          <a:bodyPr wrap="square" lIns="0" tIns="0" rIns="0" bIns="0" rtlCol="0" anchor="ctr"/>
          <a:lstStyle/>
          <a:p>
            <a:pPr indent="0" marL="0">
              <a:buNone/>
            </a:pPr>
            <a:r>
              <a:rPr lang="en-US" sz="1200" i="1" dirty="0">
                <a:solidFill>
                  <a:srgbClr val="F2F4F8"/>
                </a:solidFill>
                <a:latin typeface="Calibri" pitchFamily="34" charset="0"/>
                <a:ea typeface="Calibri" pitchFamily="34" charset="-122"/>
                <a:cs typeface="Calibri" pitchFamily="34" charset="-120"/>
              </a:rPr>
              <a:t>"Which day works? For example Monday or Wednesday."</a:t>
            </a:r>
            <a:endParaRPr lang="en-US" sz="1200" dirty="0"/>
          </a:p>
        </p:txBody>
      </p:sp>
      <p:sp>
        <p:nvSpPr>
          <p:cNvPr id="13" name="Shape 11"/>
          <p:cNvSpPr/>
          <p:nvPr/>
        </p:nvSpPr>
        <p:spPr>
          <a:xfrm>
            <a:off x="8046720" y="1554480"/>
            <a:ext cx="3611880" cy="4023360"/>
          </a:xfrm>
          <a:prstGeom prst="roundRect">
            <a:avLst>
              <a:gd name="adj" fmla="val 3038"/>
            </a:avLst>
          </a:prstGeom>
          <a:solidFill>
            <a:srgbClr val="F3F5F9"/>
          </a:solidFill>
          <a:ln w="12700">
            <a:solidFill>
              <a:srgbClr val="F3F5F9"/>
            </a:solidFill>
            <a:prstDash val="solid"/>
          </a:ln>
        </p:spPr>
      </p:sp>
      <p:sp>
        <p:nvSpPr>
          <p:cNvPr id="14" name="Text 12"/>
          <p:cNvSpPr txBox="1"/>
          <p:nvPr/>
        </p:nvSpPr>
        <p:spPr>
          <a:xfrm>
            <a:off x="8321040" y="1737360"/>
            <a:ext cx="3063240" cy="457200"/>
          </a:xfrm>
          <a:prstGeom prst="rect">
            <a:avLst/>
          </a:prstGeom>
          <a:noFill/>
          <a:ln/>
        </p:spPr>
        <p:txBody>
          <a:bodyPr wrap="square" lIns="0" tIns="0" rIns="0" bIns="0" rtlCol="0" anchor="ctr"/>
          <a:lstStyle/>
          <a:p>
            <a:pPr indent="0" marL="0">
              <a:buNone/>
            </a:pPr>
            <a:r>
              <a:rPr lang="en-US" sz="2200" b="1" dirty="0">
                <a:solidFill>
                  <a:srgbClr val="0B0F19"/>
                </a:solidFill>
                <a:latin typeface="Cambria" pitchFamily="34" charset="0"/>
                <a:ea typeface="Cambria" pitchFamily="34" charset="-122"/>
                <a:cs typeface="Cambria" pitchFamily="34" charset="-120"/>
              </a:rPr>
              <a:t>Hide a cost</a:t>
            </a:r>
            <a:endParaRPr lang="en-US" sz="2200" dirty="0"/>
          </a:p>
        </p:txBody>
      </p:sp>
      <p:sp>
        <p:nvSpPr>
          <p:cNvPr id="15" name="Text 13"/>
          <p:cNvSpPr txBox="1"/>
          <p:nvPr/>
        </p:nvSpPr>
        <p:spPr>
          <a:xfrm>
            <a:off x="8321040" y="2286000"/>
            <a:ext cx="3063240" cy="1554480"/>
          </a:xfrm>
          <a:prstGeom prst="rect">
            <a:avLst/>
          </a:prstGeom>
          <a:noFill/>
          <a:ln/>
        </p:spPr>
        <p:txBody>
          <a:bodyPr wrap="square" lIns="0" tIns="0" rIns="0" bIns="0" rtlCol="0" anchor="ctr"/>
          <a:lstStyle/>
          <a:p>
            <a:pPr indent="0" marL="0">
              <a:buNone/>
            </a:pPr>
            <a:r>
              <a:rPr lang="en-US" sz="1400" dirty="0">
                <a:solidFill>
                  <a:srgbClr val="0B0F19"/>
                </a:solidFill>
                <a:latin typeface="Calibri" pitchFamily="34" charset="0"/>
                <a:ea typeface="Calibri" pitchFamily="34" charset="-122"/>
                <a:cs typeface="Calibri" pitchFamily="34" charset="-120"/>
              </a:rPr>
              <a:t>Every step appends a ledger entry from real usage — including DB and chat calls at $0 that still take time.</a:t>
            </a:r>
            <a:endParaRPr lang="en-US" sz="1400" dirty="0"/>
          </a:p>
        </p:txBody>
      </p:sp>
      <p:sp>
        <p:nvSpPr>
          <p:cNvPr id="16" name="Shape 14"/>
          <p:cNvSpPr/>
          <p:nvPr/>
        </p:nvSpPr>
        <p:spPr>
          <a:xfrm>
            <a:off x="8321040" y="3977640"/>
            <a:ext cx="3063240" cy="1371600"/>
          </a:xfrm>
          <a:prstGeom prst="roundRect">
            <a:avLst>
              <a:gd name="adj" fmla="val 5333"/>
            </a:avLst>
          </a:prstGeom>
          <a:solidFill>
            <a:srgbClr val="0B0F19"/>
          </a:solidFill>
          <a:ln w="12700">
            <a:solidFill>
              <a:srgbClr val="0B0F19"/>
            </a:solidFill>
            <a:prstDash val="solid"/>
          </a:ln>
        </p:spPr>
      </p:sp>
      <p:sp>
        <p:nvSpPr>
          <p:cNvPr id="17" name="Text 15"/>
          <p:cNvSpPr txBox="1"/>
          <p:nvPr/>
        </p:nvSpPr>
        <p:spPr>
          <a:xfrm>
            <a:off x="8458200" y="4069080"/>
            <a:ext cx="2788920" cy="1188720"/>
          </a:xfrm>
          <a:prstGeom prst="rect">
            <a:avLst/>
          </a:prstGeom>
          <a:noFill/>
          <a:ln/>
        </p:spPr>
        <p:txBody>
          <a:bodyPr wrap="square" lIns="0" tIns="0" rIns="0" bIns="0" rtlCol="0" anchor="ctr"/>
          <a:lstStyle/>
          <a:p>
            <a:pPr indent="0" marL="0">
              <a:buNone/>
            </a:pPr>
            <a:r>
              <a:rPr lang="en-US" sz="1200" i="1" dirty="0">
                <a:solidFill>
                  <a:srgbClr val="F2F4F8"/>
                </a:solidFill>
                <a:latin typeface="Calibri" pitchFamily="34" charset="0"/>
                <a:ea typeface="Calibri" pitchFamily="34" charset="-122"/>
                <a:cs typeface="Calibri" pitchFamily="34" charset="-120"/>
              </a:rPr>
              <a:t>$0.0019 · 2624 ms · db + llm + db + channel_api</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9"/>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F2F4F8"/>
                </a:solidFill>
                <a:latin typeface="Cambria" pitchFamily="34" charset="0"/>
                <a:ea typeface="Cambria" pitchFamily="34" charset="-122"/>
                <a:cs typeface="Cambria" pitchFamily="34" charset="-120"/>
              </a:rPr>
              <a:t>Live demo — 7 minutes</a:t>
            </a:r>
            <a:endParaRPr lang="en-US" sz="3600" dirty="0"/>
          </a:p>
        </p:txBody>
      </p:sp>
      <p:sp>
        <p:nvSpPr>
          <p:cNvPr id="3" name="Text 1"/>
          <p:cNvSpPr txBox="1"/>
          <p:nvPr/>
        </p:nvSpPr>
        <p:spPr>
          <a:xfrm>
            <a:off x="548640" y="1417320"/>
            <a:ext cx="731520" cy="384048"/>
          </a:xfrm>
          <a:prstGeom prst="rect">
            <a:avLst/>
          </a:prstGeom>
          <a:noFill/>
          <a:ln/>
        </p:spPr>
        <p:txBody>
          <a:bodyPr wrap="square" lIns="0" tIns="0" rIns="0" bIns="0" rtlCol="0" anchor="ctr"/>
          <a:lstStyle/>
          <a:p>
            <a:pPr indent="0" marL="0">
              <a:buNone/>
            </a:pPr>
            <a:r>
              <a:rPr lang="en-US" sz="1200" dirty="0">
                <a:solidFill>
                  <a:srgbClr val="9AA4B8"/>
                </a:solidFill>
                <a:latin typeface="Courier New" pitchFamily="34" charset="0"/>
                <a:ea typeface="Courier New" pitchFamily="34" charset="-122"/>
                <a:cs typeface="Courier New" pitchFamily="34" charset="-120"/>
              </a:rPr>
              <a:t>0:00</a:t>
            </a:r>
            <a:endParaRPr lang="en-US" sz="1200" dirty="0"/>
          </a:p>
        </p:txBody>
      </p:sp>
      <p:sp>
        <p:nvSpPr>
          <p:cNvPr id="4" name="Text 2"/>
          <p:cNvSpPr txBox="1"/>
          <p:nvPr/>
        </p:nvSpPr>
        <p:spPr>
          <a:xfrm>
            <a:off x="1371600" y="1417320"/>
            <a:ext cx="2926080" cy="384048"/>
          </a:xfrm>
          <a:prstGeom prst="rect">
            <a:avLst/>
          </a:prstGeom>
          <a:noFill/>
          <a:ln/>
        </p:spPr>
        <p:txBody>
          <a:bodyPr wrap="square" lIns="0" tIns="0" rIns="0" bIns="0" rtlCol="0" anchor="ctr"/>
          <a:lstStyle/>
          <a:p>
            <a:pPr indent="0" marL="0">
              <a:buNone/>
            </a:pPr>
            <a:r>
              <a:rPr lang="en-US" sz="1500" b="1" dirty="0">
                <a:solidFill>
                  <a:srgbClr val="F2F4F8"/>
                </a:solidFill>
                <a:latin typeface="Calibri" pitchFamily="34" charset="0"/>
                <a:ea typeface="Calibri" pitchFamily="34" charset="-122"/>
                <a:cs typeface="Calibri" pitchFamily="34" charset="-120"/>
              </a:rPr>
              <a:t>Typed lead</a:t>
            </a:r>
            <a:endParaRPr lang="en-US" sz="1500" dirty="0"/>
          </a:p>
        </p:txBody>
      </p:sp>
      <p:sp>
        <p:nvSpPr>
          <p:cNvPr id="5" name="Text 3"/>
          <p:cNvSpPr txBox="1"/>
          <p:nvPr/>
        </p:nvSpPr>
        <p:spPr>
          <a:xfrm>
            <a:off x="4389120" y="1417320"/>
            <a:ext cx="7315200" cy="384048"/>
          </a:xfrm>
          <a:prstGeom prst="rect">
            <a:avLst/>
          </a:prstGeom>
          <a:noFill/>
          <a:ln/>
        </p:spPr>
        <p:txBody>
          <a:bodyPr wrap="square" lIns="0" tIns="0" rIns="0" bIns="0" rtlCol="0" anchor="ctr"/>
          <a:lstStyle/>
          <a:p>
            <a:pPr indent="0" marL="0">
              <a:buNone/>
            </a:pPr>
            <a:r>
              <a:rPr lang="en-US" sz="1300" dirty="0">
                <a:solidFill>
                  <a:srgbClr val="9AA4B8"/>
                </a:solidFill>
                <a:latin typeface="Calibri" pitchFamily="34" charset="0"/>
                <a:ea typeface="Calibri" pitchFamily="34" charset="-122"/>
                <a:cs typeface="Calibri" pitchFamily="34" charset="-120"/>
              </a:rPr>
              <a:t>Fatima at Skyline Fitout, with project and budget in the message</a:t>
            </a:r>
            <a:endParaRPr lang="en-US" sz="1300" dirty="0"/>
          </a:p>
        </p:txBody>
      </p:sp>
      <p:sp>
        <p:nvSpPr>
          <p:cNvPr id="6" name="Text 4"/>
          <p:cNvSpPr txBox="1"/>
          <p:nvPr/>
        </p:nvSpPr>
        <p:spPr>
          <a:xfrm>
            <a:off x="548640" y="1847088"/>
            <a:ext cx="731520" cy="384048"/>
          </a:xfrm>
          <a:prstGeom prst="rect">
            <a:avLst/>
          </a:prstGeom>
          <a:noFill/>
          <a:ln/>
        </p:spPr>
        <p:txBody>
          <a:bodyPr wrap="square" lIns="0" tIns="0" rIns="0" bIns="0" rtlCol="0" anchor="ctr"/>
          <a:lstStyle/>
          <a:p>
            <a:pPr indent="0" marL="0">
              <a:buNone/>
            </a:pPr>
            <a:r>
              <a:rPr lang="en-US" sz="1200" dirty="0">
                <a:solidFill>
                  <a:srgbClr val="9AA4B8"/>
                </a:solidFill>
                <a:latin typeface="Courier New" pitchFamily="34" charset="0"/>
                <a:ea typeface="Courier New" pitchFamily="34" charset="-122"/>
                <a:cs typeface="Courier New" pitchFamily="34" charset="-120"/>
              </a:rPr>
              <a:t>0:40</a:t>
            </a:r>
            <a:endParaRPr lang="en-US" sz="1200" dirty="0"/>
          </a:p>
        </p:txBody>
      </p:sp>
      <p:sp>
        <p:nvSpPr>
          <p:cNvPr id="7" name="Text 5"/>
          <p:cNvSpPr txBox="1"/>
          <p:nvPr/>
        </p:nvSpPr>
        <p:spPr>
          <a:xfrm>
            <a:off x="1371600" y="1847088"/>
            <a:ext cx="2926080" cy="384048"/>
          </a:xfrm>
          <a:prstGeom prst="rect">
            <a:avLst/>
          </a:prstGeom>
          <a:noFill/>
          <a:ln/>
        </p:spPr>
        <p:txBody>
          <a:bodyPr wrap="square" lIns="0" tIns="0" rIns="0" bIns="0" rtlCol="0" anchor="ctr"/>
          <a:lstStyle/>
          <a:p>
            <a:pPr indent="0" marL="0">
              <a:buNone/>
            </a:pPr>
            <a:r>
              <a:rPr lang="en-US" sz="1500" b="1" dirty="0">
                <a:solidFill>
                  <a:srgbClr val="F2F4F8"/>
                </a:solidFill>
                <a:latin typeface="Calibri" pitchFamily="34" charset="0"/>
                <a:ea typeface="Calibri" pitchFamily="34" charset="-122"/>
                <a:cs typeface="Calibri" pitchFamily="34" charset="-120"/>
              </a:rPr>
              <a:t>Add note + follow-up</a:t>
            </a:r>
            <a:endParaRPr lang="en-US" sz="1500" dirty="0"/>
          </a:p>
        </p:txBody>
      </p:sp>
      <p:sp>
        <p:nvSpPr>
          <p:cNvPr id="8" name="Text 6"/>
          <p:cNvSpPr txBox="1"/>
          <p:nvPr/>
        </p:nvSpPr>
        <p:spPr>
          <a:xfrm>
            <a:off x="4389120" y="1847088"/>
            <a:ext cx="7315200" cy="384048"/>
          </a:xfrm>
          <a:prstGeom prst="rect">
            <a:avLst/>
          </a:prstGeom>
          <a:noFill/>
          <a:ln/>
        </p:spPr>
        <p:txBody>
          <a:bodyPr wrap="square" lIns="0" tIns="0" rIns="0" bIns="0" rtlCol="0" anchor="ctr"/>
          <a:lstStyle/>
          <a:p>
            <a:pPr indent="0" marL="0">
              <a:buNone/>
            </a:pPr>
            <a:r>
              <a:rPr lang="en-US" sz="1300" dirty="0">
                <a:solidFill>
                  <a:srgbClr val="9AA4B8"/>
                </a:solidFill>
                <a:latin typeface="Calibri" pitchFamily="34" charset="0"/>
                <a:ea typeface="Calibri" pitchFamily="34" charset="-122"/>
                <a:cs typeface="Calibri" pitchFamily="34" charset="-120"/>
              </a:rPr>
              <a:t>"Follow up in 2 minutes" — seeded so it fires while we stand here</a:t>
            </a:r>
            <a:endParaRPr lang="en-US" sz="1300" dirty="0"/>
          </a:p>
        </p:txBody>
      </p:sp>
      <p:sp>
        <p:nvSpPr>
          <p:cNvPr id="9" name="Text 7"/>
          <p:cNvSpPr txBox="1"/>
          <p:nvPr/>
        </p:nvSpPr>
        <p:spPr>
          <a:xfrm>
            <a:off x="548640" y="2276856"/>
            <a:ext cx="731520" cy="384048"/>
          </a:xfrm>
          <a:prstGeom prst="rect">
            <a:avLst/>
          </a:prstGeom>
          <a:noFill/>
          <a:ln/>
        </p:spPr>
        <p:txBody>
          <a:bodyPr wrap="square" lIns="0" tIns="0" rIns="0" bIns="0" rtlCol="0" anchor="ctr"/>
          <a:lstStyle/>
          <a:p>
            <a:pPr indent="0" marL="0">
              <a:buNone/>
            </a:pPr>
            <a:r>
              <a:rPr lang="en-US" sz="1200" dirty="0">
                <a:solidFill>
                  <a:srgbClr val="9AA4B8"/>
                </a:solidFill>
                <a:latin typeface="Courier New" pitchFamily="34" charset="0"/>
                <a:ea typeface="Courier New" pitchFamily="34" charset="-122"/>
                <a:cs typeface="Courier New" pitchFamily="34" charset="-120"/>
              </a:rPr>
              <a:t>1:30</a:t>
            </a:r>
            <a:endParaRPr lang="en-US" sz="1200" dirty="0"/>
          </a:p>
        </p:txBody>
      </p:sp>
      <p:sp>
        <p:nvSpPr>
          <p:cNvPr id="10" name="Text 8"/>
          <p:cNvSpPr txBox="1"/>
          <p:nvPr/>
        </p:nvSpPr>
        <p:spPr>
          <a:xfrm>
            <a:off x="1371600" y="2276856"/>
            <a:ext cx="2926080" cy="384048"/>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 Card, no company</a:t>
            </a:r>
            <a:endParaRPr lang="en-US" sz="1500" dirty="0"/>
          </a:p>
        </p:txBody>
      </p:sp>
      <p:sp>
        <p:nvSpPr>
          <p:cNvPr id="11" name="Text 9"/>
          <p:cNvSpPr txBox="1"/>
          <p:nvPr/>
        </p:nvSpPr>
        <p:spPr>
          <a:xfrm>
            <a:off x="4389120" y="2276856"/>
            <a:ext cx="7315200" cy="384048"/>
          </a:xfrm>
          <a:prstGeom prst="rect">
            <a:avLst/>
          </a:prstGeom>
          <a:noFill/>
          <a:ln/>
        </p:spPr>
        <p:txBody>
          <a:bodyPr wrap="square" lIns="0" tIns="0" rIns="0" bIns="0" rtlCol="0" anchor="ctr"/>
          <a:lstStyle/>
          <a:p>
            <a:pPr indent="0" marL="0">
              <a:buNone/>
            </a:pPr>
            <a:r>
              <a:rPr lang="en-US" sz="1300" dirty="0">
                <a:solidFill>
                  <a:srgbClr val="9AA4B8"/>
                </a:solidFill>
                <a:latin typeface="Calibri" pitchFamily="34" charset="0"/>
                <a:ea typeface="Calibri" pitchFamily="34" charset="-122"/>
                <a:cs typeface="Calibri" pitchFamily="34" charset="-120"/>
              </a:rPr>
              <a:t>It asks. Type: Delta Steel. Pause before you answer.</a:t>
            </a:r>
            <a:endParaRPr lang="en-US" sz="1300" dirty="0"/>
          </a:p>
        </p:txBody>
      </p:sp>
      <p:sp>
        <p:nvSpPr>
          <p:cNvPr id="12" name="Text 10"/>
          <p:cNvSpPr txBox="1"/>
          <p:nvPr/>
        </p:nvSpPr>
        <p:spPr>
          <a:xfrm>
            <a:off x="548640" y="2706624"/>
            <a:ext cx="731520" cy="384048"/>
          </a:xfrm>
          <a:prstGeom prst="rect">
            <a:avLst/>
          </a:prstGeom>
          <a:noFill/>
          <a:ln/>
        </p:spPr>
        <p:txBody>
          <a:bodyPr wrap="square" lIns="0" tIns="0" rIns="0" bIns="0" rtlCol="0" anchor="ctr"/>
          <a:lstStyle/>
          <a:p>
            <a:pPr indent="0" marL="0">
              <a:buNone/>
            </a:pPr>
            <a:r>
              <a:rPr lang="en-US" sz="1200" dirty="0">
                <a:solidFill>
                  <a:srgbClr val="9AA4B8"/>
                </a:solidFill>
                <a:latin typeface="Courier New" pitchFamily="34" charset="0"/>
                <a:ea typeface="Courier New" pitchFamily="34" charset="-122"/>
                <a:cs typeface="Courier New" pitchFamily="34" charset="-120"/>
              </a:rPr>
              <a:t>2:40</a:t>
            </a:r>
            <a:endParaRPr lang="en-US" sz="1200" dirty="0"/>
          </a:p>
        </p:txBody>
      </p:sp>
      <p:sp>
        <p:nvSpPr>
          <p:cNvPr id="13" name="Text 11"/>
          <p:cNvSpPr txBox="1"/>
          <p:nvPr/>
        </p:nvSpPr>
        <p:spPr>
          <a:xfrm>
            <a:off x="1371600" y="2706624"/>
            <a:ext cx="2926080" cy="384048"/>
          </a:xfrm>
          <a:prstGeom prst="rect">
            <a:avLst/>
          </a:prstGeom>
          <a:noFill/>
          <a:ln/>
        </p:spPr>
        <p:txBody>
          <a:bodyPr wrap="square" lIns="0" tIns="0" rIns="0" bIns="0" rtlCol="0" anchor="ctr"/>
          <a:lstStyle/>
          <a:p>
            <a:pPr indent="0" marL="0">
              <a:buNone/>
            </a:pPr>
            <a:r>
              <a:rPr lang="en-US" sz="1500" b="1" dirty="0">
                <a:solidFill>
                  <a:srgbClr val="F2F4F8"/>
                </a:solidFill>
                <a:latin typeface="Calibri" pitchFamily="34" charset="0"/>
                <a:ea typeface="Calibri" pitchFamily="34" charset="-122"/>
                <a:cs typeface="Calibri" pitchFamily="34" charset="-120"/>
              </a:rPr>
              <a:t>Photo of a card</a:t>
            </a:r>
            <a:endParaRPr lang="en-US" sz="1500" dirty="0"/>
          </a:p>
        </p:txBody>
      </p:sp>
      <p:sp>
        <p:nvSpPr>
          <p:cNvPr id="14" name="Text 12"/>
          <p:cNvSpPr txBox="1"/>
          <p:nvPr/>
        </p:nvSpPr>
        <p:spPr>
          <a:xfrm>
            <a:off x="4389120" y="2706624"/>
            <a:ext cx="7315200" cy="384048"/>
          </a:xfrm>
          <a:prstGeom prst="rect">
            <a:avLst/>
          </a:prstGeom>
          <a:noFill/>
          <a:ln/>
        </p:spPr>
        <p:txBody>
          <a:bodyPr wrap="square" lIns="0" tIns="0" rIns="0" bIns="0" rtlCol="0" anchor="ctr"/>
          <a:lstStyle/>
          <a:p>
            <a:pPr indent="0" marL="0">
              <a:buNone/>
            </a:pPr>
            <a:r>
              <a:rPr lang="en-US" sz="1300" dirty="0">
                <a:solidFill>
                  <a:srgbClr val="9AA4B8"/>
                </a:solidFill>
                <a:latin typeface="Calibri" pitchFamily="34" charset="0"/>
                <a:ea typeface="Calibri" pitchFamily="34" charset="-122"/>
                <a:cs typeface="Calibri" pitchFamily="34" charset="-120"/>
              </a:rPr>
              <a:t>Bad light, read straight off the image. ~2¢, ~5s</a:t>
            </a:r>
            <a:endParaRPr lang="en-US" sz="1300" dirty="0"/>
          </a:p>
        </p:txBody>
      </p:sp>
      <p:sp>
        <p:nvSpPr>
          <p:cNvPr id="15" name="Text 13"/>
          <p:cNvSpPr txBox="1"/>
          <p:nvPr/>
        </p:nvSpPr>
        <p:spPr>
          <a:xfrm>
            <a:off x="548640" y="3136392"/>
            <a:ext cx="731520" cy="384048"/>
          </a:xfrm>
          <a:prstGeom prst="rect">
            <a:avLst/>
          </a:prstGeom>
          <a:noFill/>
          <a:ln/>
        </p:spPr>
        <p:txBody>
          <a:bodyPr wrap="square" lIns="0" tIns="0" rIns="0" bIns="0" rtlCol="0" anchor="ctr"/>
          <a:lstStyle/>
          <a:p>
            <a:pPr indent="0" marL="0">
              <a:buNone/>
            </a:pPr>
            <a:r>
              <a:rPr lang="en-US" sz="1200" dirty="0">
                <a:solidFill>
                  <a:srgbClr val="9AA4B8"/>
                </a:solidFill>
                <a:latin typeface="Courier New" pitchFamily="34" charset="0"/>
                <a:ea typeface="Courier New" pitchFamily="34" charset="-122"/>
                <a:cs typeface="Courier New" pitchFamily="34" charset="-120"/>
              </a:rPr>
              <a:t>3:20</a:t>
            </a:r>
            <a:endParaRPr lang="en-US" sz="1200" dirty="0"/>
          </a:p>
        </p:txBody>
      </p:sp>
      <p:sp>
        <p:nvSpPr>
          <p:cNvPr id="16" name="Text 14"/>
          <p:cNvSpPr txBox="1"/>
          <p:nvPr/>
        </p:nvSpPr>
        <p:spPr>
          <a:xfrm>
            <a:off x="1371600" y="3136392"/>
            <a:ext cx="2926080" cy="384048"/>
          </a:xfrm>
          <a:prstGeom prst="rect">
            <a:avLst/>
          </a:prstGeom>
          <a:noFill/>
          <a:ln/>
        </p:spPr>
        <p:txBody>
          <a:bodyPr wrap="square" lIns="0" tIns="0" rIns="0" bIns="0" rtlCol="0" anchor="ctr"/>
          <a:lstStyle/>
          <a:p>
            <a:pPr indent="0" marL="0">
              <a:buNone/>
            </a:pPr>
            <a:r>
              <a:rPr lang="en-US" sz="1500" b="1" dirty="0">
                <a:solidFill>
                  <a:srgbClr val="F2F4F8"/>
                </a:solidFill>
                <a:latin typeface="Calibri" pitchFamily="34" charset="0"/>
                <a:ea typeface="Calibri" pitchFamily="34" charset="-122"/>
                <a:cs typeface="Calibri" pitchFamily="34" charset="-120"/>
              </a:rPr>
              <a:t>Duplicate</a:t>
            </a:r>
            <a:endParaRPr lang="en-US" sz="1500" dirty="0"/>
          </a:p>
        </p:txBody>
      </p:sp>
      <p:sp>
        <p:nvSpPr>
          <p:cNvPr id="17" name="Text 15"/>
          <p:cNvSpPr txBox="1"/>
          <p:nvPr/>
        </p:nvSpPr>
        <p:spPr>
          <a:xfrm>
            <a:off x="4389120" y="3136392"/>
            <a:ext cx="7315200" cy="384048"/>
          </a:xfrm>
          <a:prstGeom prst="rect">
            <a:avLst/>
          </a:prstGeom>
          <a:noFill/>
          <a:ln/>
        </p:spPr>
        <p:txBody>
          <a:bodyPr wrap="square" lIns="0" tIns="0" rIns="0" bIns="0" rtlCol="0" anchor="ctr"/>
          <a:lstStyle/>
          <a:p>
            <a:pPr indent="0" marL="0">
              <a:buNone/>
            </a:pPr>
            <a:r>
              <a:rPr lang="en-US" sz="1300" dirty="0">
                <a:solidFill>
                  <a:srgbClr val="9AA4B8"/>
                </a:solidFill>
                <a:latin typeface="Calibri" pitchFamily="34" charset="0"/>
                <a:ea typeface="Calibri" pitchFamily="34" charset="-122"/>
                <a:cs typeface="Calibri" pitchFamily="34" charset="-120"/>
              </a:rPr>
              <a:t>Same person again → matched on email, no new row</a:t>
            </a:r>
            <a:endParaRPr lang="en-US" sz="1300" dirty="0"/>
          </a:p>
        </p:txBody>
      </p:sp>
      <p:sp>
        <p:nvSpPr>
          <p:cNvPr id="18" name="Text 16"/>
          <p:cNvSpPr txBox="1"/>
          <p:nvPr/>
        </p:nvSpPr>
        <p:spPr>
          <a:xfrm>
            <a:off x="548640" y="3566160"/>
            <a:ext cx="731520" cy="384048"/>
          </a:xfrm>
          <a:prstGeom prst="rect">
            <a:avLst/>
          </a:prstGeom>
          <a:noFill/>
          <a:ln/>
        </p:spPr>
        <p:txBody>
          <a:bodyPr wrap="square" lIns="0" tIns="0" rIns="0" bIns="0" rtlCol="0" anchor="ctr"/>
          <a:lstStyle/>
          <a:p>
            <a:pPr indent="0" marL="0">
              <a:buNone/>
            </a:pPr>
            <a:r>
              <a:rPr lang="en-US" sz="1200" dirty="0">
                <a:solidFill>
                  <a:srgbClr val="9AA4B8"/>
                </a:solidFill>
                <a:latin typeface="Courier New" pitchFamily="34" charset="0"/>
                <a:ea typeface="Courier New" pitchFamily="34" charset="-122"/>
                <a:cs typeface="Courier New" pitchFamily="34" charset="-120"/>
              </a:rPr>
              <a:t>3:45</a:t>
            </a:r>
            <a:endParaRPr lang="en-US" sz="1200" dirty="0"/>
          </a:p>
        </p:txBody>
      </p:sp>
      <p:sp>
        <p:nvSpPr>
          <p:cNvPr id="19" name="Text 17"/>
          <p:cNvSpPr txBox="1"/>
          <p:nvPr/>
        </p:nvSpPr>
        <p:spPr>
          <a:xfrm>
            <a:off x="1371600" y="3566160"/>
            <a:ext cx="2926080" cy="384048"/>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 Vague follow-up</a:t>
            </a:r>
            <a:endParaRPr lang="en-US" sz="1500" dirty="0"/>
          </a:p>
        </p:txBody>
      </p:sp>
      <p:sp>
        <p:nvSpPr>
          <p:cNvPr id="20" name="Text 18"/>
          <p:cNvSpPr txBox="1"/>
          <p:nvPr/>
        </p:nvSpPr>
        <p:spPr>
          <a:xfrm>
            <a:off x="4389120" y="3566160"/>
            <a:ext cx="7315200" cy="384048"/>
          </a:xfrm>
          <a:prstGeom prst="rect">
            <a:avLst/>
          </a:prstGeom>
          <a:noFill/>
          <a:ln/>
        </p:spPr>
        <p:txBody>
          <a:bodyPr wrap="square" lIns="0" tIns="0" rIns="0" bIns="0" rtlCol="0" anchor="ctr"/>
          <a:lstStyle/>
          <a:p>
            <a:pPr indent="0" marL="0">
              <a:buNone/>
            </a:pPr>
            <a:r>
              <a:rPr lang="en-US" sz="1300" dirty="0">
                <a:solidFill>
                  <a:srgbClr val="9AA4B8"/>
                </a:solidFill>
                <a:latin typeface="Calibri" pitchFamily="34" charset="0"/>
                <a:ea typeface="Calibri" pitchFamily="34" charset="-122"/>
                <a:cs typeface="Calibri" pitchFamily="34" charset="-120"/>
              </a:rPr>
              <a:t>"Next week sometime" → which day? Type: Monday</a:t>
            </a:r>
            <a:endParaRPr lang="en-US" sz="1300" dirty="0"/>
          </a:p>
        </p:txBody>
      </p:sp>
      <p:sp>
        <p:nvSpPr>
          <p:cNvPr id="21" name="Text 19"/>
          <p:cNvSpPr txBox="1"/>
          <p:nvPr/>
        </p:nvSpPr>
        <p:spPr>
          <a:xfrm>
            <a:off x="548640" y="3995928"/>
            <a:ext cx="731520" cy="384048"/>
          </a:xfrm>
          <a:prstGeom prst="rect">
            <a:avLst/>
          </a:prstGeom>
          <a:noFill/>
          <a:ln/>
        </p:spPr>
        <p:txBody>
          <a:bodyPr wrap="square" lIns="0" tIns="0" rIns="0" bIns="0" rtlCol="0" anchor="ctr"/>
          <a:lstStyle/>
          <a:p>
            <a:pPr indent="0" marL="0">
              <a:buNone/>
            </a:pPr>
            <a:r>
              <a:rPr lang="en-US" sz="1200" dirty="0">
                <a:solidFill>
                  <a:srgbClr val="9AA4B8"/>
                </a:solidFill>
                <a:latin typeface="Courier New" pitchFamily="34" charset="0"/>
                <a:ea typeface="Courier New" pitchFamily="34" charset="-122"/>
                <a:cs typeface="Courier New" pitchFamily="34" charset="-120"/>
              </a:rPr>
              <a:t>4:40</a:t>
            </a:r>
            <a:endParaRPr lang="en-US" sz="1200" dirty="0"/>
          </a:p>
        </p:txBody>
      </p:sp>
      <p:sp>
        <p:nvSpPr>
          <p:cNvPr id="22" name="Text 20"/>
          <p:cNvSpPr txBox="1"/>
          <p:nvPr/>
        </p:nvSpPr>
        <p:spPr>
          <a:xfrm>
            <a:off x="1371600" y="3995928"/>
            <a:ext cx="2926080" cy="384048"/>
          </a:xfrm>
          <a:prstGeom prst="rect">
            <a:avLst/>
          </a:prstGeom>
          <a:noFill/>
          <a:ln/>
        </p:spPr>
        <p:txBody>
          <a:bodyPr wrap="square" lIns="0" tIns="0" rIns="0" bIns="0" rtlCol="0" anchor="ctr"/>
          <a:lstStyle/>
          <a:p>
            <a:pPr indent="0" marL="0">
              <a:buNone/>
            </a:pPr>
            <a:r>
              <a:rPr lang="en-US" sz="1500" b="1" dirty="0">
                <a:solidFill>
                  <a:srgbClr val="F2F4F8"/>
                </a:solidFill>
                <a:latin typeface="Calibri" pitchFamily="34" charset="0"/>
                <a:ea typeface="Calibri" pitchFamily="34" charset="-122"/>
                <a:cs typeface="Calibri" pitchFamily="34" charset="-120"/>
              </a:rPr>
              <a:t>Reminder fires</a:t>
            </a:r>
            <a:endParaRPr lang="en-US" sz="1500" dirty="0"/>
          </a:p>
        </p:txBody>
      </p:sp>
      <p:sp>
        <p:nvSpPr>
          <p:cNvPr id="23" name="Text 21"/>
          <p:cNvSpPr txBox="1"/>
          <p:nvPr/>
        </p:nvSpPr>
        <p:spPr>
          <a:xfrm>
            <a:off x="4389120" y="3995928"/>
            <a:ext cx="7315200" cy="384048"/>
          </a:xfrm>
          <a:prstGeom prst="rect">
            <a:avLst/>
          </a:prstGeom>
          <a:noFill/>
          <a:ln/>
        </p:spPr>
        <p:txBody>
          <a:bodyPr wrap="square" lIns="0" tIns="0" rIns="0" bIns="0" rtlCol="0" anchor="ctr"/>
          <a:lstStyle/>
          <a:p>
            <a:pPr indent="0" marL="0">
              <a:buNone/>
            </a:pPr>
            <a:r>
              <a:rPr lang="en-US" sz="1300" dirty="0">
                <a:solidFill>
                  <a:srgbClr val="9AA4B8"/>
                </a:solidFill>
                <a:latin typeface="Calibri" pitchFamily="34" charset="0"/>
                <a:ea typeface="Calibri" pitchFamily="34" charset="-122"/>
                <a:cs typeface="Calibri" pitchFamily="34" charset="-120"/>
              </a:rPr>
              <a:t>Arrives on its own. Do not reply to it.</a:t>
            </a:r>
            <a:endParaRPr lang="en-US" sz="1300" dirty="0"/>
          </a:p>
        </p:txBody>
      </p:sp>
      <p:sp>
        <p:nvSpPr>
          <p:cNvPr id="24" name="Text 22"/>
          <p:cNvSpPr txBox="1"/>
          <p:nvPr/>
        </p:nvSpPr>
        <p:spPr>
          <a:xfrm>
            <a:off x="548640" y="4425696"/>
            <a:ext cx="731520" cy="384048"/>
          </a:xfrm>
          <a:prstGeom prst="rect">
            <a:avLst/>
          </a:prstGeom>
          <a:noFill/>
          <a:ln/>
        </p:spPr>
        <p:txBody>
          <a:bodyPr wrap="square" lIns="0" tIns="0" rIns="0" bIns="0" rtlCol="0" anchor="ctr"/>
          <a:lstStyle/>
          <a:p>
            <a:pPr indent="0" marL="0">
              <a:buNone/>
            </a:pPr>
            <a:r>
              <a:rPr lang="en-US" sz="1200" dirty="0">
                <a:solidFill>
                  <a:srgbClr val="9AA4B8"/>
                </a:solidFill>
                <a:latin typeface="Courier New" pitchFamily="34" charset="0"/>
                <a:ea typeface="Courier New" pitchFamily="34" charset="-122"/>
                <a:cs typeface="Courier New" pitchFamily="34" charset="-120"/>
              </a:rPr>
              <a:t>4:55</a:t>
            </a:r>
            <a:endParaRPr lang="en-US" sz="1200" dirty="0"/>
          </a:p>
        </p:txBody>
      </p:sp>
      <p:sp>
        <p:nvSpPr>
          <p:cNvPr id="25" name="Text 23"/>
          <p:cNvSpPr txBox="1"/>
          <p:nvPr/>
        </p:nvSpPr>
        <p:spPr>
          <a:xfrm>
            <a:off x="1371600" y="4425696"/>
            <a:ext cx="2926080" cy="384048"/>
          </a:xfrm>
          <a:prstGeom prst="rect">
            <a:avLst/>
          </a:prstGeom>
          <a:noFill/>
          <a:ln/>
        </p:spPr>
        <p:txBody>
          <a:bodyPr wrap="square" lIns="0" tIns="0" rIns="0" bIns="0" rtlCol="0" anchor="ctr"/>
          <a:lstStyle/>
          <a:p>
            <a:pPr indent="0" marL="0">
              <a:buNone/>
            </a:pPr>
            <a:r>
              <a:rPr lang="en-US" sz="1500" b="1" dirty="0">
                <a:solidFill>
                  <a:srgbClr val="F2F4F8"/>
                </a:solidFill>
                <a:latin typeface="Calibri" pitchFamily="34" charset="0"/>
                <a:ea typeface="Calibri" pitchFamily="34" charset="-122"/>
                <a:cs typeface="Calibri" pitchFamily="34" charset="-120"/>
              </a:rPr>
              <a:t>Voice note</a:t>
            </a:r>
            <a:endParaRPr lang="en-US" sz="1500" dirty="0"/>
          </a:p>
        </p:txBody>
      </p:sp>
      <p:sp>
        <p:nvSpPr>
          <p:cNvPr id="26" name="Text 24"/>
          <p:cNvSpPr txBox="1"/>
          <p:nvPr/>
        </p:nvSpPr>
        <p:spPr>
          <a:xfrm>
            <a:off x="4389120" y="4425696"/>
            <a:ext cx="7315200" cy="384048"/>
          </a:xfrm>
          <a:prstGeom prst="rect">
            <a:avLst/>
          </a:prstGeom>
          <a:noFill/>
          <a:ln/>
        </p:spPr>
        <p:txBody>
          <a:bodyPr wrap="square" lIns="0" tIns="0" rIns="0" bIns="0" rtlCol="0" anchor="ctr"/>
          <a:lstStyle/>
          <a:p>
            <a:pPr indent="0" marL="0">
              <a:buNone/>
            </a:pPr>
            <a:r>
              <a:rPr lang="en-US" sz="1300" dirty="0">
                <a:solidFill>
                  <a:srgbClr val="9AA4B8"/>
                </a:solidFill>
                <a:latin typeface="Calibri" pitchFamily="34" charset="0"/>
                <a:ea typeface="Calibri" pitchFamily="34" charset="-122"/>
                <a:cs typeface="Calibri" pitchFamily="34" charset="-120"/>
              </a:rPr>
              <a:t>Real Deepgram transcript, kept next to the summary</a:t>
            </a:r>
            <a:endParaRPr lang="en-US" sz="1300" dirty="0"/>
          </a:p>
        </p:txBody>
      </p:sp>
      <p:sp>
        <p:nvSpPr>
          <p:cNvPr id="27" name="Text 25"/>
          <p:cNvSpPr txBox="1"/>
          <p:nvPr/>
        </p:nvSpPr>
        <p:spPr>
          <a:xfrm>
            <a:off x="548640" y="4855464"/>
            <a:ext cx="731520" cy="384048"/>
          </a:xfrm>
          <a:prstGeom prst="rect">
            <a:avLst/>
          </a:prstGeom>
          <a:noFill/>
          <a:ln/>
        </p:spPr>
        <p:txBody>
          <a:bodyPr wrap="square" lIns="0" tIns="0" rIns="0" bIns="0" rtlCol="0" anchor="ctr"/>
          <a:lstStyle/>
          <a:p>
            <a:pPr indent="0" marL="0">
              <a:buNone/>
            </a:pPr>
            <a:r>
              <a:rPr lang="en-US" sz="1200" dirty="0">
                <a:solidFill>
                  <a:srgbClr val="9AA4B8"/>
                </a:solidFill>
                <a:latin typeface="Courier New" pitchFamily="34" charset="0"/>
                <a:ea typeface="Courier New" pitchFamily="34" charset="-122"/>
                <a:cs typeface="Courier New" pitchFamily="34" charset="-120"/>
              </a:rPr>
              <a:t>5:40</a:t>
            </a:r>
            <a:endParaRPr lang="en-US" sz="1200" dirty="0"/>
          </a:p>
        </p:txBody>
      </p:sp>
      <p:sp>
        <p:nvSpPr>
          <p:cNvPr id="28" name="Text 26"/>
          <p:cNvSpPr txBox="1"/>
          <p:nvPr/>
        </p:nvSpPr>
        <p:spPr>
          <a:xfrm>
            <a:off x="1371600" y="4855464"/>
            <a:ext cx="2926080" cy="384048"/>
          </a:xfrm>
          <a:prstGeom prst="rect">
            <a:avLst/>
          </a:prstGeom>
          <a:noFill/>
          <a:ln/>
        </p:spPr>
        <p:txBody>
          <a:bodyPr wrap="square" lIns="0" tIns="0" rIns="0" bIns="0" rtlCol="0" anchor="ctr"/>
          <a:lstStyle/>
          <a:p>
            <a:pPr indent="0" marL="0">
              <a:buNone/>
            </a:pPr>
            <a:r>
              <a:rPr lang="en-US" sz="1500" b="1" dirty="0">
                <a:solidFill>
                  <a:srgbClr val="F2F4F8"/>
                </a:solidFill>
                <a:latin typeface="Calibri" pitchFamily="34" charset="0"/>
                <a:ea typeface="Calibri" pitchFamily="34" charset="-122"/>
                <a:cs typeface="Calibri" pitchFamily="34" charset="-120"/>
              </a:rPr>
              <a:t>Edit + Delete</a:t>
            </a:r>
            <a:endParaRPr lang="en-US" sz="1500" dirty="0"/>
          </a:p>
        </p:txBody>
      </p:sp>
      <p:sp>
        <p:nvSpPr>
          <p:cNvPr id="29" name="Text 27"/>
          <p:cNvSpPr txBox="1"/>
          <p:nvPr/>
        </p:nvSpPr>
        <p:spPr>
          <a:xfrm>
            <a:off x="4389120" y="4855464"/>
            <a:ext cx="7315200" cy="384048"/>
          </a:xfrm>
          <a:prstGeom prst="rect">
            <a:avLst/>
          </a:prstGeom>
          <a:noFill/>
          <a:ln/>
        </p:spPr>
        <p:txBody>
          <a:bodyPr wrap="square" lIns="0" tIns="0" rIns="0" bIns="0" rtlCol="0" anchor="ctr"/>
          <a:lstStyle/>
          <a:p>
            <a:pPr indent="0" marL="0">
              <a:buNone/>
            </a:pPr>
            <a:r>
              <a:rPr lang="en-US" sz="1300" dirty="0">
                <a:solidFill>
                  <a:srgbClr val="9AA4B8"/>
                </a:solidFill>
                <a:latin typeface="Calibri" pitchFamily="34" charset="0"/>
                <a:ea typeface="Calibri" pitchFamily="34" charset="-122"/>
                <a:cs typeface="Calibri" pitchFamily="34" charset="-120"/>
              </a:rPr>
              <a:t>From the card. Never leave the chat.</a:t>
            </a:r>
            <a:endParaRPr lang="en-US" sz="1300" dirty="0"/>
          </a:p>
        </p:txBody>
      </p:sp>
      <p:sp>
        <p:nvSpPr>
          <p:cNvPr id="30" name="Text 28"/>
          <p:cNvSpPr txBox="1"/>
          <p:nvPr/>
        </p:nvSpPr>
        <p:spPr>
          <a:xfrm>
            <a:off x="548640" y="5285232"/>
            <a:ext cx="731520" cy="384048"/>
          </a:xfrm>
          <a:prstGeom prst="rect">
            <a:avLst/>
          </a:prstGeom>
          <a:noFill/>
          <a:ln/>
        </p:spPr>
        <p:txBody>
          <a:bodyPr wrap="square" lIns="0" tIns="0" rIns="0" bIns="0" rtlCol="0" anchor="ctr"/>
          <a:lstStyle/>
          <a:p>
            <a:pPr indent="0" marL="0">
              <a:buNone/>
            </a:pPr>
            <a:r>
              <a:rPr lang="en-US" sz="1200" dirty="0">
                <a:solidFill>
                  <a:srgbClr val="9AA4B8"/>
                </a:solidFill>
                <a:latin typeface="Courier New" pitchFamily="34" charset="0"/>
                <a:ea typeface="Courier New" pitchFamily="34" charset="-122"/>
                <a:cs typeface="Courier New" pitchFamily="34" charset="-120"/>
              </a:rPr>
              <a:t>6:20</a:t>
            </a:r>
            <a:endParaRPr lang="en-US" sz="1200" dirty="0"/>
          </a:p>
        </p:txBody>
      </p:sp>
      <p:sp>
        <p:nvSpPr>
          <p:cNvPr id="31" name="Text 29"/>
          <p:cNvSpPr txBox="1"/>
          <p:nvPr/>
        </p:nvSpPr>
        <p:spPr>
          <a:xfrm>
            <a:off x="1371600" y="5285232"/>
            <a:ext cx="2926080" cy="384048"/>
          </a:xfrm>
          <a:prstGeom prst="rect">
            <a:avLst/>
          </a:prstGeom>
          <a:noFill/>
          <a:ln/>
        </p:spPr>
        <p:txBody>
          <a:bodyPr wrap="square" lIns="0" tIns="0" rIns="0" bIns="0" rtlCol="0" anchor="ctr"/>
          <a:lstStyle/>
          <a:p>
            <a:pPr indent="0" marL="0">
              <a:buNone/>
            </a:pPr>
            <a:r>
              <a:rPr lang="en-US" sz="1500" b="1" dirty="0">
                <a:solidFill>
                  <a:srgbClr val="F2F4F8"/>
                </a:solidFill>
                <a:latin typeface="Calibri" pitchFamily="34" charset="0"/>
                <a:ea typeface="Calibri" pitchFamily="34" charset="-122"/>
                <a:cs typeface="Calibri" pitchFamily="34" charset="-120"/>
              </a:rPr>
              <a:t>The numbers</a:t>
            </a:r>
            <a:endParaRPr lang="en-US" sz="1500" dirty="0"/>
          </a:p>
        </p:txBody>
      </p:sp>
      <p:sp>
        <p:nvSpPr>
          <p:cNvPr id="32" name="Text 30"/>
          <p:cNvSpPr txBox="1"/>
          <p:nvPr/>
        </p:nvSpPr>
        <p:spPr>
          <a:xfrm>
            <a:off x="4389120" y="5285232"/>
            <a:ext cx="7315200" cy="384048"/>
          </a:xfrm>
          <a:prstGeom prst="rect">
            <a:avLst/>
          </a:prstGeom>
          <a:noFill/>
          <a:ln/>
        </p:spPr>
        <p:txBody>
          <a:bodyPr wrap="square" lIns="0" tIns="0" rIns="0" bIns="0" rtlCol="0" anchor="ctr"/>
          <a:lstStyle/>
          <a:p>
            <a:pPr indent="0" marL="0">
              <a:buNone/>
            </a:pPr>
            <a:r>
              <a:rPr lang="en-US" sz="1300" dirty="0">
                <a:solidFill>
                  <a:srgbClr val="9AA4B8"/>
                </a:solidFill>
                <a:latin typeface="Calibri" pitchFamily="34" charset="0"/>
                <a:ea typeface="Calibri" pitchFamily="34" charset="-122"/>
                <a:cs typeface="Calibri" pitchFamily="34" charset="-120"/>
              </a:rPr>
              <a:t>Dashboard tile, then /api/leads shows project + budget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9"/>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F2F4F8"/>
                </a:solidFill>
                <a:latin typeface="Cambria" pitchFamily="34" charset="0"/>
                <a:ea typeface="Cambria" pitchFamily="34" charset="-122"/>
                <a:cs typeface="Cambria" pitchFamily="34" charset="-120"/>
              </a:rPr>
              <a:t>The dashboard, live</a:t>
            </a:r>
            <a:endParaRPr lang="en-US" sz="3600" dirty="0"/>
          </a:p>
        </p:txBody>
      </p:sp>
      <p:pic>
        <p:nvPicPr>
          <p:cNvPr id="3" name="Image 0" descr="/tmp/deck/dashboard_top.png">    </p:cNvPr>
          <p:cNvPicPr>
            <a:picLocks noChangeAspect="1"/>
          </p:cNvPicPr>
          <p:nvPr/>
        </p:nvPicPr>
        <p:blipFill>
          <a:blip r:embed="rId1"/>
          <a:stretch>
            <a:fillRect/>
          </a:stretch>
        </p:blipFill>
        <p:spPr>
          <a:xfrm>
            <a:off x="548640" y="1371600"/>
            <a:ext cx="11064240" cy="3319272"/>
          </a:xfrm>
          <a:prstGeom prst="rect">
            <a:avLst/>
          </a:prstGeom>
        </p:spPr>
      </p:pic>
      <p:sp>
        <p:nvSpPr>
          <p:cNvPr id="4" name="Text 1"/>
          <p:cNvSpPr txBox="1"/>
          <p:nvPr/>
        </p:nvSpPr>
        <p:spPr>
          <a:xfrm>
            <a:off x="548640" y="4937760"/>
            <a:ext cx="11064240" cy="457200"/>
          </a:xfrm>
          <a:prstGeom prst="rect">
            <a:avLst/>
          </a:prstGeom>
          <a:noFill/>
          <a:ln/>
        </p:spPr>
        <p:txBody>
          <a:bodyPr wrap="square" lIns="0" tIns="0" rIns="0" bIns="0" rtlCol="0" anchor="ctr"/>
          <a:lstStyle/>
          <a:p>
            <a:pPr indent="0" marL="0">
              <a:buNone/>
            </a:pPr>
            <a:r>
              <a:rPr lang="en-US" sz="1400" dirty="0">
                <a:solidFill>
                  <a:srgbClr val="9AA4B8"/>
                </a:solidFill>
                <a:latin typeface="Calibri" pitchFamily="34" charset="0"/>
                <a:ea typeface="Calibri" pitchFamily="34" charset="-122"/>
                <a:cs typeface="Calibri" pitchFamily="34" charset="-120"/>
              </a:rPr>
              <a:t>Every activity streams in as it happens. Cost by component, latency split into all calls versus model calls, confidence per lead.</a:t>
            </a:r>
            <a:endParaRPr lang="en-US" sz="1400" dirty="0"/>
          </a:p>
        </p:txBody>
      </p:sp>
      <p:sp>
        <p:nvSpPr>
          <p:cNvPr id="5" name="Text 2"/>
          <p:cNvSpPr txBox="1"/>
          <p:nvPr/>
        </p:nvSpPr>
        <p:spPr>
          <a:xfrm>
            <a:off x="548640" y="5440680"/>
            <a:ext cx="11064240" cy="457200"/>
          </a:xfrm>
          <a:prstGeom prst="rect">
            <a:avLst/>
          </a:prstGeom>
          <a:noFill/>
          <a:ln/>
        </p:spPr>
        <p:txBody>
          <a:bodyPr wrap="square" lIns="0" tIns="0" rIns="0" bIns="0" rtlCol="0" anchor="ctr"/>
          <a:lstStyle/>
          <a:p>
            <a:pPr indent="0" marL="0">
              <a:buNone/>
            </a:pPr>
            <a:r>
              <a:rPr lang="en-US" sz="1200" i="1" dirty="0">
                <a:solidFill>
                  <a:srgbClr val="F5A623"/>
                </a:solidFill>
                <a:latin typeface="Calibri" pitchFamily="34" charset="0"/>
                <a:ea typeface="Calibri" pitchFamily="34" charset="-122"/>
                <a:cs typeface="Calibri" pitchFamily="34" charset="-120"/>
              </a:rPr>
              <a:t>The economics panel accumulates in the browser from live events. Reload it once before the demo, never during.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0B0F19"/>
                </a:solidFill>
                <a:latin typeface="Cambria" pitchFamily="34" charset="0"/>
                <a:ea typeface="Cambria" pitchFamily="34" charset="-122"/>
                <a:cs typeface="Cambria" pitchFamily="34" charset="-120"/>
              </a:rPr>
              <a:t>The numbers, from real usage</a:t>
            </a:r>
            <a:endParaRPr lang="en-US" sz="3600" dirty="0"/>
          </a:p>
        </p:txBody>
      </p:sp>
      <p:sp>
        <p:nvSpPr>
          <p:cNvPr id="3" name="Shape 1"/>
          <p:cNvSpPr/>
          <p:nvPr/>
        </p:nvSpPr>
        <p:spPr>
          <a:xfrm>
            <a:off x="548640" y="1554480"/>
            <a:ext cx="2697480" cy="2377440"/>
          </a:xfrm>
          <a:prstGeom prst="roundRect">
            <a:avLst>
              <a:gd name="adj" fmla="val 4615"/>
            </a:avLst>
          </a:prstGeom>
          <a:solidFill>
            <a:srgbClr val="F3F5F9"/>
          </a:solidFill>
          <a:ln w="12700">
            <a:solidFill>
              <a:srgbClr val="F3F5F9"/>
            </a:solidFill>
            <a:prstDash val="solid"/>
          </a:ln>
        </p:spPr>
      </p:sp>
      <p:sp>
        <p:nvSpPr>
          <p:cNvPr id="4" name="Text 2"/>
          <p:cNvSpPr txBox="1"/>
          <p:nvPr/>
        </p:nvSpPr>
        <p:spPr>
          <a:xfrm>
            <a:off x="731520" y="1691640"/>
            <a:ext cx="2331720" cy="822960"/>
          </a:xfrm>
          <a:prstGeom prst="rect">
            <a:avLst/>
          </a:prstGeom>
          <a:noFill/>
          <a:ln/>
        </p:spPr>
        <p:txBody>
          <a:bodyPr wrap="square" lIns="0" tIns="0" rIns="0" bIns="0" rtlCol="0" anchor="ctr"/>
          <a:lstStyle/>
          <a:p>
            <a:pPr indent="0" marL="0">
              <a:buNone/>
            </a:pPr>
            <a:r>
              <a:rPr lang="en-US" sz="4000" b="1" dirty="0">
                <a:solidFill>
                  <a:srgbClr val="F5A623"/>
                </a:solidFill>
                <a:latin typeface="Cambria" pitchFamily="34" charset="0"/>
                <a:ea typeface="Cambria" pitchFamily="34" charset="-122"/>
                <a:cs typeface="Cambria" pitchFamily="34" charset="-120"/>
              </a:rPr>
              <a:t>$0.002</a:t>
            </a:r>
            <a:endParaRPr lang="en-US" sz="4000" dirty="0"/>
          </a:p>
        </p:txBody>
      </p:sp>
      <p:sp>
        <p:nvSpPr>
          <p:cNvPr id="5" name="Text 3"/>
          <p:cNvSpPr txBox="1"/>
          <p:nvPr/>
        </p:nvSpPr>
        <p:spPr>
          <a:xfrm>
            <a:off x="731520" y="2514600"/>
            <a:ext cx="2331720" cy="365760"/>
          </a:xfrm>
          <a:prstGeom prst="rect">
            <a:avLst/>
          </a:prstGeom>
          <a:noFill/>
          <a:ln/>
        </p:spPr>
        <p:txBody>
          <a:bodyPr wrap="square" lIns="0" tIns="0" rIns="0" bIns="0" rtlCol="0" anchor="ctr"/>
          <a:lstStyle/>
          <a:p>
            <a:pPr indent="0" marL="0">
              <a:buNone/>
            </a:pPr>
            <a:r>
              <a:rPr lang="en-US" sz="1400" b="1" dirty="0">
                <a:solidFill>
                  <a:srgbClr val="0B0F19"/>
                </a:solidFill>
                <a:latin typeface="Calibri" pitchFamily="34" charset="0"/>
                <a:ea typeface="Calibri" pitchFamily="34" charset="-122"/>
                <a:cs typeface="Calibri" pitchFamily="34" charset="-120"/>
              </a:rPr>
              <a:t>per typed lead</a:t>
            </a:r>
            <a:endParaRPr lang="en-US" sz="1400" dirty="0"/>
          </a:p>
        </p:txBody>
      </p:sp>
      <p:sp>
        <p:nvSpPr>
          <p:cNvPr id="6" name="Text 4"/>
          <p:cNvSpPr txBox="1"/>
          <p:nvPr/>
        </p:nvSpPr>
        <p:spPr>
          <a:xfrm>
            <a:off x="731520" y="2926080"/>
            <a:ext cx="2331720" cy="82296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Sonnet 5, low effort</a:t>
            </a:r>
            <a:endParaRPr lang="en-US" sz="1200" dirty="0"/>
          </a:p>
          <a:p>
            <a:pPr indent="0" marL="0">
              <a:buNone/>
            </a:pPr>
            <a:r>
              <a:rPr lang="en-US" sz="1200" dirty="0">
                <a:solidFill>
                  <a:srgbClr val="5B6472"/>
                </a:solidFill>
                <a:latin typeface="Calibri" pitchFamily="34" charset="0"/>
                <a:ea typeface="Calibri" pitchFamily="34" charset="-122"/>
                <a:cs typeface="Calibri" pitchFamily="34" charset="-120"/>
              </a:rPr>
              <a:t>~2.5 s warm</a:t>
            </a:r>
            <a:endParaRPr lang="en-US" sz="1200" dirty="0"/>
          </a:p>
        </p:txBody>
      </p:sp>
      <p:sp>
        <p:nvSpPr>
          <p:cNvPr id="7" name="Shape 5"/>
          <p:cNvSpPr/>
          <p:nvPr/>
        </p:nvSpPr>
        <p:spPr>
          <a:xfrm>
            <a:off x="3337560" y="1554480"/>
            <a:ext cx="2697480" cy="2377440"/>
          </a:xfrm>
          <a:prstGeom prst="roundRect">
            <a:avLst>
              <a:gd name="adj" fmla="val 4615"/>
            </a:avLst>
          </a:prstGeom>
          <a:solidFill>
            <a:srgbClr val="F3F5F9"/>
          </a:solidFill>
          <a:ln w="12700">
            <a:solidFill>
              <a:srgbClr val="F3F5F9"/>
            </a:solidFill>
            <a:prstDash val="solid"/>
          </a:ln>
        </p:spPr>
      </p:sp>
      <p:sp>
        <p:nvSpPr>
          <p:cNvPr id="8" name="Text 6"/>
          <p:cNvSpPr txBox="1"/>
          <p:nvPr/>
        </p:nvSpPr>
        <p:spPr>
          <a:xfrm>
            <a:off x="3520440" y="1691640"/>
            <a:ext cx="2331720" cy="822960"/>
          </a:xfrm>
          <a:prstGeom prst="rect">
            <a:avLst/>
          </a:prstGeom>
          <a:noFill/>
          <a:ln/>
        </p:spPr>
        <p:txBody>
          <a:bodyPr wrap="square" lIns="0" tIns="0" rIns="0" bIns="0" rtlCol="0" anchor="ctr"/>
          <a:lstStyle/>
          <a:p>
            <a:pPr indent="0" marL="0">
              <a:buNone/>
            </a:pPr>
            <a:r>
              <a:rPr lang="en-US" sz="4000" b="1" dirty="0">
                <a:solidFill>
                  <a:srgbClr val="F5A623"/>
                </a:solidFill>
                <a:latin typeface="Cambria" pitchFamily="34" charset="0"/>
                <a:ea typeface="Cambria" pitchFamily="34" charset="-122"/>
                <a:cs typeface="Cambria" pitchFamily="34" charset="-120"/>
              </a:rPr>
              <a:t>$0.02</a:t>
            </a:r>
            <a:endParaRPr lang="en-US" sz="4000" dirty="0"/>
          </a:p>
        </p:txBody>
      </p:sp>
      <p:sp>
        <p:nvSpPr>
          <p:cNvPr id="9" name="Text 7"/>
          <p:cNvSpPr txBox="1"/>
          <p:nvPr/>
        </p:nvSpPr>
        <p:spPr>
          <a:xfrm>
            <a:off x="3520440" y="2514600"/>
            <a:ext cx="2331720" cy="365760"/>
          </a:xfrm>
          <a:prstGeom prst="rect">
            <a:avLst/>
          </a:prstGeom>
          <a:noFill/>
          <a:ln/>
        </p:spPr>
        <p:txBody>
          <a:bodyPr wrap="square" lIns="0" tIns="0" rIns="0" bIns="0" rtlCol="0" anchor="ctr"/>
          <a:lstStyle/>
          <a:p>
            <a:pPr indent="0" marL="0">
              <a:buNone/>
            </a:pPr>
            <a:r>
              <a:rPr lang="en-US" sz="1400" b="1" dirty="0">
                <a:solidFill>
                  <a:srgbClr val="0B0F19"/>
                </a:solidFill>
                <a:latin typeface="Calibri" pitchFamily="34" charset="0"/>
                <a:ea typeface="Calibri" pitchFamily="34" charset="-122"/>
                <a:cs typeface="Calibri" pitchFamily="34" charset="-120"/>
              </a:rPr>
              <a:t>per business card</a:t>
            </a:r>
            <a:endParaRPr lang="en-US" sz="1400" dirty="0"/>
          </a:p>
        </p:txBody>
      </p:sp>
      <p:sp>
        <p:nvSpPr>
          <p:cNvPr id="10" name="Text 8"/>
          <p:cNvSpPr txBox="1"/>
          <p:nvPr/>
        </p:nvSpPr>
        <p:spPr>
          <a:xfrm>
            <a:off x="3520440" y="2926080"/>
            <a:ext cx="2331720" cy="82296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Opus 5 vision</a:t>
            </a:r>
            <a:endParaRPr lang="en-US" sz="1200" dirty="0"/>
          </a:p>
          <a:p>
            <a:pPr indent="0" marL="0">
              <a:buNone/>
            </a:pPr>
            <a:r>
              <a:rPr lang="en-US" sz="1200" dirty="0">
                <a:solidFill>
                  <a:srgbClr val="5B6472"/>
                </a:solidFill>
                <a:latin typeface="Calibri" pitchFamily="34" charset="0"/>
                <a:ea typeface="Calibri" pitchFamily="34" charset="-122"/>
                <a:cs typeface="Calibri" pitchFamily="34" charset="-120"/>
              </a:rPr>
              <a:t>~5 s</a:t>
            </a:r>
            <a:endParaRPr lang="en-US" sz="1200" dirty="0"/>
          </a:p>
        </p:txBody>
      </p:sp>
      <p:sp>
        <p:nvSpPr>
          <p:cNvPr id="11" name="Shape 9"/>
          <p:cNvSpPr/>
          <p:nvPr/>
        </p:nvSpPr>
        <p:spPr>
          <a:xfrm>
            <a:off x="6126480" y="1554480"/>
            <a:ext cx="2697480" cy="2377440"/>
          </a:xfrm>
          <a:prstGeom prst="roundRect">
            <a:avLst>
              <a:gd name="adj" fmla="val 4615"/>
            </a:avLst>
          </a:prstGeom>
          <a:solidFill>
            <a:srgbClr val="F3F5F9"/>
          </a:solidFill>
          <a:ln w="12700">
            <a:solidFill>
              <a:srgbClr val="F3F5F9"/>
            </a:solidFill>
            <a:prstDash val="solid"/>
          </a:ln>
        </p:spPr>
      </p:sp>
      <p:sp>
        <p:nvSpPr>
          <p:cNvPr id="12" name="Text 10"/>
          <p:cNvSpPr txBox="1"/>
          <p:nvPr/>
        </p:nvSpPr>
        <p:spPr>
          <a:xfrm>
            <a:off x="6309360" y="1691640"/>
            <a:ext cx="2331720" cy="822960"/>
          </a:xfrm>
          <a:prstGeom prst="rect">
            <a:avLst/>
          </a:prstGeom>
          <a:noFill/>
          <a:ln/>
        </p:spPr>
        <p:txBody>
          <a:bodyPr wrap="square" lIns="0" tIns="0" rIns="0" bIns="0" rtlCol="0" anchor="ctr"/>
          <a:lstStyle/>
          <a:p>
            <a:pPr indent="0" marL="0">
              <a:buNone/>
            </a:pPr>
            <a:r>
              <a:rPr lang="en-US" sz="4000" b="1" dirty="0">
                <a:solidFill>
                  <a:srgbClr val="F5A623"/>
                </a:solidFill>
                <a:latin typeface="Cambria" pitchFamily="34" charset="0"/>
                <a:ea typeface="Cambria" pitchFamily="34" charset="-122"/>
                <a:cs typeface="Cambria" pitchFamily="34" charset="-120"/>
              </a:rPr>
              <a:t>$0.004</a:t>
            </a:r>
            <a:endParaRPr lang="en-US" sz="4000" dirty="0"/>
          </a:p>
        </p:txBody>
      </p:sp>
      <p:sp>
        <p:nvSpPr>
          <p:cNvPr id="13" name="Text 11"/>
          <p:cNvSpPr txBox="1"/>
          <p:nvPr/>
        </p:nvSpPr>
        <p:spPr>
          <a:xfrm>
            <a:off x="6309360" y="2514600"/>
            <a:ext cx="2331720" cy="365760"/>
          </a:xfrm>
          <a:prstGeom prst="rect">
            <a:avLst/>
          </a:prstGeom>
          <a:noFill/>
          <a:ln/>
        </p:spPr>
        <p:txBody>
          <a:bodyPr wrap="square" lIns="0" tIns="0" rIns="0" bIns="0" rtlCol="0" anchor="ctr"/>
          <a:lstStyle/>
          <a:p>
            <a:pPr indent="0" marL="0">
              <a:buNone/>
            </a:pPr>
            <a:r>
              <a:rPr lang="en-US" sz="1400" b="1" dirty="0">
                <a:solidFill>
                  <a:srgbClr val="0B0F19"/>
                </a:solidFill>
                <a:latin typeface="Calibri" pitchFamily="34" charset="0"/>
                <a:ea typeface="Calibri" pitchFamily="34" charset="-122"/>
                <a:cs typeface="Calibri" pitchFamily="34" charset="-120"/>
              </a:rPr>
              <a:t>per voice note</a:t>
            </a:r>
            <a:endParaRPr lang="en-US" sz="1400" dirty="0"/>
          </a:p>
        </p:txBody>
      </p:sp>
      <p:sp>
        <p:nvSpPr>
          <p:cNvPr id="14" name="Text 12"/>
          <p:cNvSpPr txBox="1"/>
          <p:nvPr/>
        </p:nvSpPr>
        <p:spPr>
          <a:xfrm>
            <a:off x="6309360" y="2926080"/>
            <a:ext cx="2331720" cy="82296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Deepgram + Sonnet</a:t>
            </a:r>
            <a:endParaRPr lang="en-US" sz="1200" dirty="0"/>
          </a:p>
          <a:p>
            <a:pPr indent="0" marL="0">
              <a:buNone/>
            </a:pPr>
            <a:r>
              <a:rPr lang="en-US" sz="1200" dirty="0">
                <a:solidFill>
                  <a:srgbClr val="5B6472"/>
                </a:solidFill>
                <a:latin typeface="Calibri" pitchFamily="34" charset="0"/>
                <a:ea typeface="Calibri" pitchFamily="34" charset="-122"/>
                <a:cs typeface="Calibri" pitchFamily="34" charset="-120"/>
              </a:rPr>
              <a:t>~4–5 s</a:t>
            </a:r>
            <a:endParaRPr lang="en-US" sz="1200" dirty="0"/>
          </a:p>
        </p:txBody>
      </p:sp>
      <p:sp>
        <p:nvSpPr>
          <p:cNvPr id="15" name="Shape 13"/>
          <p:cNvSpPr/>
          <p:nvPr/>
        </p:nvSpPr>
        <p:spPr>
          <a:xfrm>
            <a:off x="8915400" y="1554480"/>
            <a:ext cx="2697480" cy="2377440"/>
          </a:xfrm>
          <a:prstGeom prst="roundRect">
            <a:avLst>
              <a:gd name="adj" fmla="val 4615"/>
            </a:avLst>
          </a:prstGeom>
          <a:solidFill>
            <a:srgbClr val="F3F5F9"/>
          </a:solidFill>
          <a:ln w="12700">
            <a:solidFill>
              <a:srgbClr val="F3F5F9"/>
            </a:solidFill>
            <a:prstDash val="solid"/>
          </a:ln>
        </p:spPr>
      </p:sp>
      <p:sp>
        <p:nvSpPr>
          <p:cNvPr id="16" name="Text 14"/>
          <p:cNvSpPr txBox="1"/>
          <p:nvPr/>
        </p:nvSpPr>
        <p:spPr>
          <a:xfrm>
            <a:off x="9098280" y="1691640"/>
            <a:ext cx="2331720" cy="822960"/>
          </a:xfrm>
          <a:prstGeom prst="rect">
            <a:avLst/>
          </a:prstGeom>
          <a:noFill/>
          <a:ln/>
        </p:spPr>
        <p:txBody>
          <a:bodyPr wrap="square" lIns="0" tIns="0" rIns="0" bIns="0" rtlCol="0" anchor="ctr"/>
          <a:lstStyle/>
          <a:p>
            <a:pPr indent="0" marL="0">
              <a:buNone/>
            </a:pPr>
            <a:r>
              <a:rPr lang="en-US" sz="4000" b="1" dirty="0">
                <a:solidFill>
                  <a:srgbClr val="F5A623"/>
                </a:solidFill>
                <a:latin typeface="Cambria" pitchFamily="34" charset="0"/>
                <a:ea typeface="Cambria" pitchFamily="34" charset="-122"/>
                <a:cs typeface="Cambria" pitchFamily="34" charset="-120"/>
              </a:rPr>
              <a:t>25 / 25</a:t>
            </a:r>
            <a:endParaRPr lang="en-US" sz="4000" dirty="0"/>
          </a:p>
        </p:txBody>
      </p:sp>
      <p:sp>
        <p:nvSpPr>
          <p:cNvPr id="17" name="Text 15"/>
          <p:cNvSpPr txBox="1"/>
          <p:nvPr/>
        </p:nvSpPr>
        <p:spPr>
          <a:xfrm>
            <a:off x="9098280" y="2514600"/>
            <a:ext cx="2331720" cy="365760"/>
          </a:xfrm>
          <a:prstGeom prst="rect">
            <a:avLst/>
          </a:prstGeom>
          <a:noFill/>
          <a:ln/>
        </p:spPr>
        <p:txBody>
          <a:bodyPr wrap="square" lIns="0" tIns="0" rIns="0" bIns="0" rtlCol="0" anchor="ctr"/>
          <a:lstStyle/>
          <a:p>
            <a:pPr indent="0" marL="0">
              <a:buNone/>
            </a:pPr>
            <a:r>
              <a:rPr lang="en-US" sz="1400" b="1" dirty="0">
                <a:solidFill>
                  <a:srgbClr val="0B0F19"/>
                </a:solidFill>
                <a:latin typeface="Calibri" pitchFamily="34" charset="0"/>
                <a:ea typeface="Calibri" pitchFamily="34" charset="-122"/>
                <a:cs typeface="Calibri" pitchFamily="34" charset="-120"/>
              </a:rPr>
              <a:t>demo checks</a:t>
            </a:r>
            <a:endParaRPr lang="en-US" sz="1400" dirty="0"/>
          </a:p>
        </p:txBody>
      </p:sp>
      <p:sp>
        <p:nvSpPr>
          <p:cNvPr id="18" name="Text 16"/>
          <p:cNvSpPr txBox="1"/>
          <p:nvPr/>
        </p:nvSpPr>
        <p:spPr>
          <a:xfrm>
            <a:off x="9098280" y="2926080"/>
            <a:ext cx="2331720" cy="82296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the whole journey,</a:t>
            </a:r>
            <a:endParaRPr lang="en-US" sz="1200" dirty="0"/>
          </a:p>
          <a:p>
            <a:pPr indent="0" marL="0">
              <a:buNone/>
            </a:pPr>
            <a:r>
              <a:rPr lang="en-US" sz="1200" dirty="0">
                <a:solidFill>
                  <a:srgbClr val="5B6472"/>
                </a:solidFill>
                <a:latin typeface="Calibri" pitchFamily="34" charset="0"/>
                <a:ea typeface="Calibri" pitchFamily="34" charset="-122"/>
                <a:cs typeface="Calibri" pitchFamily="34" charset="-120"/>
              </a:rPr>
              <a:t>real pipeline, no mocks</a:t>
            </a:r>
            <a:endParaRPr lang="en-US" sz="1200" dirty="0"/>
          </a:p>
        </p:txBody>
      </p:sp>
      <p:sp>
        <p:nvSpPr>
          <p:cNvPr id="19" name="Text 17"/>
          <p:cNvSpPr txBox="1"/>
          <p:nvPr/>
        </p:nvSpPr>
        <p:spPr>
          <a:xfrm>
            <a:off x="548640" y="4206240"/>
            <a:ext cx="11064240" cy="164592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0B0F19"/>
                </a:solidFill>
                <a:latin typeface="Calibri" pitchFamily="34" charset="0"/>
                <a:ea typeface="Calibri" pitchFamily="34" charset="-122"/>
                <a:cs typeface="Calibri" pitchFamily="34" charset="-120"/>
              </a:rPr>
              <a:t>Prompt caching verified: ~1,510 tokens read from cache per call, ~49 fresh</a:t>
            </a:r>
            <a:endParaRPr lang="en-US" sz="1400" dirty="0"/>
          </a:p>
          <a:p>
            <a:pPr marL="342900" indent="-342900">
              <a:spcAft>
                <a:spcPts val="600"/>
              </a:spcAft>
              <a:buSzPct val="100000"/>
              <a:buChar char="•"/>
            </a:pPr>
            <a:r>
              <a:rPr lang="en-US" sz="1400" dirty="0">
                <a:solidFill>
                  <a:srgbClr val="0B0F19"/>
                </a:solidFill>
                <a:latin typeface="Calibri" pitchFamily="34" charset="0"/>
                <a:ea typeface="Calibri" pitchFamily="34" charset="-122"/>
                <a:cs typeface="Calibri" pitchFamily="34" charset="-120"/>
              </a:rPr>
              <a:t>Latency is 99.9% the model call. DB is ~3 ms. Caching is done; output tokens are the lever</a:t>
            </a:r>
            <a:endParaRPr lang="en-US" sz="1400" dirty="0"/>
          </a:p>
          <a:p>
            <a:pPr marL="342900" indent="-342900">
              <a:spcAft>
                <a:spcPts val="600"/>
              </a:spcAft>
              <a:buSzPct val="100000"/>
              <a:buChar char="•"/>
            </a:pPr>
            <a:r>
              <a:rPr lang="en-US" sz="1400" dirty="0">
                <a:solidFill>
                  <a:srgbClr val="0B0F19"/>
                </a:solidFill>
                <a:latin typeface="Calibri" pitchFamily="34" charset="0"/>
                <a:ea typeface="Calibri" pitchFamily="34" charset="-122"/>
                <a:cs typeface="Calibri" pitchFamily="34" charset="-120"/>
              </a:rPr>
              <a:t>Evals: 70 / 70 across five fields on 14 labelled cases, $0.07 to run</a:t>
            </a:r>
            <a:endParaRPr lang="en-US" sz="1400" dirty="0"/>
          </a:p>
          <a:p>
            <a:pPr marL="342900" indent="-342900">
              <a:spcAft>
                <a:spcPts val="600"/>
              </a:spcAft>
              <a:buSzPct val="100000"/>
              <a:buChar char="•"/>
            </a:pPr>
            <a:r>
              <a:rPr lang="en-US" sz="1400" dirty="0">
                <a:solidFill>
                  <a:srgbClr val="0B0F19"/>
                </a:solidFill>
                <a:latin typeface="Calibri" pitchFamily="34" charset="0"/>
                <a:ea typeface="Calibri" pitchFamily="34" charset="-122"/>
                <a:cs typeface="Calibri" pitchFamily="34" charset="-120"/>
              </a:rPr>
              <a:t>Rates live in one place (ledger.py): Opus 5 $5 / $25 · Sonnet 5 $2 / $10 per MTok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9"/>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F2F4F8"/>
                </a:solidFill>
                <a:latin typeface="Cambria" pitchFamily="34" charset="0"/>
                <a:ea typeface="Cambria" pitchFamily="34" charset="-122"/>
                <a:cs typeface="Cambria" pitchFamily="34" charset="-120"/>
              </a:rPr>
              <a:t>Nineteen defects found and fixed today</a:t>
            </a:r>
            <a:endParaRPr lang="en-US" sz="3600" dirty="0"/>
          </a:p>
        </p:txBody>
      </p:sp>
      <p:sp>
        <p:nvSpPr>
          <p:cNvPr id="3" name="Shape 1"/>
          <p:cNvSpPr/>
          <p:nvPr/>
        </p:nvSpPr>
        <p:spPr>
          <a:xfrm>
            <a:off x="548640" y="1417320"/>
            <a:ext cx="11064240" cy="621792"/>
          </a:xfrm>
          <a:prstGeom prst="roundRect">
            <a:avLst>
              <a:gd name="adj" fmla="val 11765"/>
            </a:avLst>
          </a:prstGeom>
          <a:solidFill>
            <a:srgbClr val="141A26"/>
          </a:solidFill>
          <a:ln w="12700">
            <a:solidFill>
              <a:srgbClr val="141A26"/>
            </a:solidFill>
            <a:prstDash val="solid"/>
          </a:ln>
        </p:spPr>
      </p:sp>
      <p:sp>
        <p:nvSpPr>
          <p:cNvPr id="4" name="Text 2"/>
          <p:cNvSpPr txBox="1"/>
          <p:nvPr/>
        </p:nvSpPr>
        <p:spPr>
          <a:xfrm>
            <a:off x="731520" y="1417320"/>
            <a:ext cx="2560320" cy="621792"/>
          </a:xfrm>
          <a:prstGeom prst="rect">
            <a:avLst/>
          </a:prstGeom>
          <a:noFill/>
          <a:ln/>
        </p:spPr>
        <p:txBody>
          <a:bodyPr wrap="square" lIns="0" tIns="0" rIns="0" bIns="0" rtlCol="0" anchor="ctr"/>
          <a:lstStyle/>
          <a:p>
            <a:pPr indent="0" marL="0">
              <a:buNone/>
            </a:pPr>
            <a:r>
              <a:rPr lang="en-US" sz="1200" b="1" dirty="0">
                <a:solidFill>
                  <a:srgbClr val="F85149"/>
                </a:solidFill>
                <a:latin typeface="Courier New" pitchFamily="34" charset="0"/>
                <a:ea typeface="Courier New" pitchFamily="34" charset="-122"/>
                <a:cs typeface="Courier New" pitchFamily="34" charset="-120"/>
              </a:rPr>
              <a:t>AADSTS700016</a:t>
            </a:r>
            <a:endParaRPr lang="en-US" sz="1200" dirty="0"/>
          </a:p>
        </p:txBody>
      </p:sp>
      <p:sp>
        <p:nvSpPr>
          <p:cNvPr id="5" name="Text 3"/>
          <p:cNvSpPr txBox="1"/>
          <p:nvPr/>
        </p:nvSpPr>
        <p:spPr>
          <a:xfrm>
            <a:off x="3383280" y="1417320"/>
            <a:ext cx="8046720" cy="621792"/>
          </a:xfrm>
          <a:prstGeom prst="rect">
            <a:avLst/>
          </a:prstGeom>
          <a:noFill/>
          <a:ln/>
        </p:spPr>
        <p:txBody>
          <a:bodyPr wrap="square" lIns="0" tIns="0" rIns="0" bIns="0" rtlCol="0" anchor="ctr"/>
          <a:lstStyle/>
          <a:p>
            <a:pPr indent="0" marL="0">
              <a:buNone/>
            </a:pPr>
            <a:r>
              <a:rPr lang="en-US" sz="1200" dirty="0">
                <a:solidFill>
                  <a:srgbClr val="F2F4F8"/>
                </a:solidFill>
                <a:latin typeface="Calibri" pitchFamily="34" charset="0"/>
                <a:ea typeface="Calibri" pitchFamily="34" charset="-122"/>
                <a:cs typeface="Calibri" pitchFamily="34" charset="-120"/>
              </a:rPr>
              <a:t>Single Tenant bots authenticate against their own tenant, not botframework.com. Nothing could get a token.</a:t>
            </a:r>
            <a:endParaRPr lang="en-US" sz="1200" dirty="0"/>
          </a:p>
        </p:txBody>
      </p:sp>
      <p:sp>
        <p:nvSpPr>
          <p:cNvPr id="6" name="Shape 4"/>
          <p:cNvSpPr/>
          <p:nvPr/>
        </p:nvSpPr>
        <p:spPr>
          <a:xfrm>
            <a:off x="548640" y="2112264"/>
            <a:ext cx="11064240" cy="621792"/>
          </a:xfrm>
          <a:prstGeom prst="roundRect">
            <a:avLst>
              <a:gd name="adj" fmla="val 11765"/>
            </a:avLst>
          </a:prstGeom>
          <a:solidFill>
            <a:srgbClr val="141A26"/>
          </a:solidFill>
          <a:ln w="12700">
            <a:solidFill>
              <a:srgbClr val="141A26"/>
            </a:solidFill>
            <a:prstDash val="solid"/>
          </a:ln>
        </p:spPr>
      </p:sp>
      <p:sp>
        <p:nvSpPr>
          <p:cNvPr id="7" name="Text 5"/>
          <p:cNvSpPr txBox="1"/>
          <p:nvPr/>
        </p:nvSpPr>
        <p:spPr>
          <a:xfrm>
            <a:off x="731520" y="2112264"/>
            <a:ext cx="2560320" cy="621792"/>
          </a:xfrm>
          <a:prstGeom prst="rect">
            <a:avLst/>
          </a:prstGeom>
          <a:noFill/>
          <a:ln/>
        </p:spPr>
        <p:txBody>
          <a:bodyPr wrap="square" lIns="0" tIns="0" rIns="0" bIns="0" rtlCol="0" anchor="ctr"/>
          <a:lstStyle/>
          <a:p>
            <a:pPr indent="0" marL="0">
              <a:buNone/>
            </a:pPr>
            <a:r>
              <a:rPr lang="en-US" sz="1200" b="1" dirty="0">
                <a:solidFill>
                  <a:srgbClr val="F85149"/>
                </a:solidFill>
                <a:latin typeface="Courier New" pitchFamily="34" charset="0"/>
                <a:ea typeface="Courier New" pitchFamily="34" charset="-122"/>
                <a:cs typeface="Courier New" pitchFamily="34" charset="-120"/>
              </a:rPr>
              <a:t>400 MissingProperty</a:t>
            </a:r>
            <a:endParaRPr lang="en-US" sz="1200" dirty="0"/>
          </a:p>
        </p:txBody>
      </p:sp>
      <p:sp>
        <p:nvSpPr>
          <p:cNvPr id="8" name="Text 6"/>
          <p:cNvSpPr txBox="1"/>
          <p:nvPr/>
        </p:nvSpPr>
        <p:spPr>
          <a:xfrm>
            <a:off x="3383280" y="2112264"/>
            <a:ext cx="8046720" cy="621792"/>
          </a:xfrm>
          <a:prstGeom prst="rect">
            <a:avLst/>
          </a:prstGeom>
          <a:noFill/>
          <a:ln/>
        </p:spPr>
        <p:txBody>
          <a:bodyPr wrap="square" lIns="0" tIns="0" rIns="0" bIns="0" rtlCol="0" anchor="ctr"/>
          <a:lstStyle/>
          <a:p>
            <a:pPr indent="0" marL="0">
              <a:buNone/>
            </a:pPr>
            <a:r>
              <a:rPr lang="en-US" sz="1200" dirty="0">
                <a:solidFill>
                  <a:srgbClr val="F2F4F8"/>
                </a:solidFill>
                <a:latin typeface="Calibri" pitchFamily="34" charset="0"/>
                <a:ea typeface="Calibri" pitchFamily="34" charset="-122"/>
                <a:cs typeface="Calibri" pitchFamily="34" charset="-120"/>
              </a:rPr>
              <a:t>Every reply rejected — Activity.From missing. The webhook still returned 200, so it looked healthy.</a:t>
            </a:r>
            <a:endParaRPr lang="en-US" sz="1200" dirty="0"/>
          </a:p>
        </p:txBody>
      </p:sp>
      <p:sp>
        <p:nvSpPr>
          <p:cNvPr id="9" name="Shape 7"/>
          <p:cNvSpPr/>
          <p:nvPr/>
        </p:nvSpPr>
        <p:spPr>
          <a:xfrm>
            <a:off x="548640" y="2807208"/>
            <a:ext cx="11064240" cy="621792"/>
          </a:xfrm>
          <a:prstGeom prst="roundRect">
            <a:avLst>
              <a:gd name="adj" fmla="val 11765"/>
            </a:avLst>
          </a:prstGeom>
          <a:solidFill>
            <a:srgbClr val="141A26"/>
          </a:solidFill>
          <a:ln w="12700">
            <a:solidFill>
              <a:srgbClr val="141A26"/>
            </a:solidFill>
            <a:prstDash val="solid"/>
          </a:ln>
        </p:spPr>
      </p:sp>
      <p:sp>
        <p:nvSpPr>
          <p:cNvPr id="10" name="Text 8"/>
          <p:cNvSpPr txBox="1"/>
          <p:nvPr/>
        </p:nvSpPr>
        <p:spPr>
          <a:xfrm>
            <a:off x="731520" y="2807208"/>
            <a:ext cx="2560320" cy="621792"/>
          </a:xfrm>
          <a:prstGeom prst="rect">
            <a:avLst/>
          </a:prstGeom>
          <a:noFill/>
          <a:ln/>
        </p:spPr>
        <p:txBody>
          <a:bodyPr wrap="square" lIns="0" tIns="0" rIns="0" bIns="0" rtlCol="0" anchor="ctr"/>
          <a:lstStyle/>
          <a:p>
            <a:pPr indent="0" marL="0">
              <a:buNone/>
            </a:pPr>
            <a:r>
              <a:rPr lang="en-US" sz="1200" b="1" dirty="0">
                <a:solidFill>
                  <a:srgbClr val="F85149"/>
                </a:solidFill>
                <a:latin typeface="Courier New" pitchFamily="34" charset="0"/>
                <a:ea typeface="Courier New" pitchFamily="34" charset="-122"/>
                <a:cs typeface="Courier New" pitchFamily="34" charset="-120"/>
              </a:rPr>
              <a:t>Phantom questions</a:t>
            </a:r>
            <a:endParaRPr lang="en-US" sz="1200" dirty="0"/>
          </a:p>
        </p:txBody>
      </p:sp>
      <p:sp>
        <p:nvSpPr>
          <p:cNvPr id="11" name="Text 9"/>
          <p:cNvSpPr txBox="1"/>
          <p:nvPr/>
        </p:nvSpPr>
        <p:spPr>
          <a:xfrm>
            <a:off x="3383280" y="2807208"/>
            <a:ext cx="8046720" cy="621792"/>
          </a:xfrm>
          <a:prstGeom prst="rect">
            <a:avLst/>
          </a:prstGeom>
          <a:noFill/>
          <a:ln/>
        </p:spPr>
        <p:txBody>
          <a:bodyPr wrap="square" lIns="0" tIns="0" rIns="0" bIns="0" rtlCol="0" anchor="ctr"/>
          <a:lstStyle/>
          <a:p>
            <a:pPr indent="0" marL="0">
              <a:buNone/>
            </a:pPr>
            <a:r>
              <a:rPr lang="en-US" sz="1200" dirty="0">
                <a:solidFill>
                  <a:srgbClr val="F2F4F8"/>
                </a:solidFill>
                <a:latin typeface="Calibri" pitchFamily="34" charset="0"/>
                <a:ea typeface="Calibri" pitchFamily="34" charset="-122"/>
                <a:cs typeface="Calibri" pitchFamily="34" charset="-120"/>
              </a:rPr>
              <a:t>conversationUpdate ran the pipeline on an empty string and parked a question that ate the next message.</a:t>
            </a:r>
            <a:endParaRPr lang="en-US" sz="1200" dirty="0"/>
          </a:p>
        </p:txBody>
      </p:sp>
      <p:sp>
        <p:nvSpPr>
          <p:cNvPr id="12" name="Shape 10"/>
          <p:cNvSpPr/>
          <p:nvPr/>
        </p:nvSpPr>
        <p:spPr>
          <a:xfrm>
            <a:off x="548640" y="3502152"/>
            <a:ext cx="11064240" cy="621792"/>
          </a:xfrm>
          <a:prstGeom prst="roundRect">
            <a:avLst>
              <a:gd name="adj" fmla="val 11765"/>
            </a:avLst>
          </a:prstGeom>
          <a:solidFill>
            <a:srgbClr val="141A26"/>
          </a:solidFill>
          <a:ln w="12700">
            <a:solidFill>
              <a:srgbClr val="141A26"/>
            </a:solidFill>
            <a:prstDash val="solid"/>
          </a:ln>
        </p:spPr>
      </p:sp>
      <p:sp>
        <p:nvSpPr>
          <p:cNvPr id="13" name="Text 11"/>
          <p:cNvSpPr txBox="1"/>
          <p:nvPr/>
        </p:nvSpPr>
        <p:spPr>
          <a:xfrm>
            <a:off x="731520" y="3502152"/>
            <a:ext cx="2560320" cy="621792"/>
          </a:xfrm>
          <a:prstGeom prst="rect">
            <a:avLst/>
          </a:prstGeom>
          <a:noFill/>
          <a:ln/>
        </p:spPr>
        <p:txBody>
          <a:bodyPr wrap="square" lIns="0" tIns="0" rIns="0" bIns="0" rtlCol="0" anchor="ctr"/>
          <a:lstStyle/>
          <a:p>
            <a:pPr indent="0" marL="0">
              <a:buNone/>
            </a:pPr>
            <a:r>
              <a:rPr lang="en-US" sz="1200" b="1" dirty="0">
                <a:solidFill>
                  <a:srgbClr val="F85149"/>
                </a:solidFill>
                <a:latin typeface="Courier New" pitchFamily="34" charset="0"/>
                <a:ea typeface="Courier New" pitchFamily="34" charset="-122"/>
                <a:cs typeface="Courier New" pitchFamily="34" charset="-120"/>
              </a:rPr>
              <a:t>Dropped attachments</a:t>
            </a:r>
            <a:endParaRPr lang="en-US" sz="1200" dirty="0"/>
          </a:p>
        </p:txBody>
      </p:sp>
      <p:sp>
        <p:nvSpPr>
          <p:cNvPr id="14" name="Text 12"/>
          <p:cNvSpPr txBox="1"/>
          <p:nvPr/>
        </p:nvSpPr>
        <p:spPr>
          <a:xfrm>
            <a:off x="3383280" y="3502152"/>
            <a:ext cx="8046720" cy="621792"/>
          </a:xfrm>
          <a:prstGeom prst="rect">
            <a:avLst/>
          </a:prstGeom>
          <a:noFill/>
          <a:ln/>
        </p:spPr>
        <p:txBody>
          <a:bodyPr wrap="square" lIns="0" tIns="0" rIns="0" bIns="0" rtlCol="0" anchor="ctr"/>
          <a:lstStyle/>
          <a:p>
            <a:pPr indent="0" marL="0">
              <a:buNone/>
            </a:pPr>
            <a:r>
              <a:rPr lang="en-US" sz="1200" dirty="0">
                <a:solidFill>
                  <a:srgbClr val="F2F4F8"/>
                </a:solidFill>
                <a:latin typeface="Calibri" pitchFamily="34" charset="0"/>
                <a:ea typeface="Calibri" pitchFamily="34" charset="-122"/>
                <a:cs typeface="Calibri" pitchFamily="34" charset="-120"/>
              </a:rPr>
              <a:t>Only images were recognised. A .vcf or voice note was silently discarded — and poisoned the next message.</a:t>
            </a:r>
            <a:endParaRPr lang="en-US" sz="1200" dirty="0"/>
          </a:p>
        </p:txBody>
      </p:sp>
      <p:sp>
        <p:nvSpPr>
          <p:cNvPr id="15" name="Shape 13"/>
          <p:cNvSpPr/>
          <p:nvPr/>
        </p:nvSpPr>
        <p:spPr>
          <a:xfrm>
            <a:off x="548640" y="4197096"/>
            <a:ext cx="11064240" cy="621792"/>
          </a:xfrm>
          <a:prstGeom prst="roundRect">
            <a:avLst>
              <a:gd name="adj" fmla="val 11765"/>
            </a:avLst>
          </a:prstGeom>
          <a:solidFill>
            <a:srgbClr val="141A26"/>
          </a:solidFill>
          <a:ln w="12700">
            <a:solidFill>
              <a:srgbClr val="141A26"/>
            </a:solidFill>
            <a:prstDash val="solid"/>
          </a:ln>
        </p:spPr>
      </p:sp>
      <p:sp>
        <p:nvSpPr>
          <p:cNvPr id="16" name="Text 14"/>
          <p:cNvSpPr txBox="1"/>
          <p:nvPr/>
        </p:nvSpPr>
        <p:spPr>
          <a:xfrm>
            <a:off x="731520" y="4197096"/>
            <a:ext cx="2560320" cy="621792"/>
          </a:xfrm>
          <a:prstGeom prst="rect">
            <a:avLst/>
          </a:prstGeom>
          <a:noFill/>
          <a:ln/>
        </p:spPr>
        <p:txBody>
          <a:bodyPr wrap="square" lIns="0" tIns="0" rIns="0" bIns="0" rtlCol="0" anchor="ctr"/>
          <a:lstStyle/>
          <a:p>
            <a:pPr indent="0" marL="0">
              <a:buNone/>
            </a:pPr>
            <a:r>
              <a:rPr lang="en-US" sz="1200" b="1" dirty="0">
                <a:solidFill>
                  <a:srgbClr val="F85149"/>
                </a:solidFill>
                <a:latin typeface="Courier New" pitchFamily="34" charset="0"/>
                <a:ea typeface="Courier New" pitchFamily="34" charset="-122"/>
                <a:cs typeface="Courier New" pitchFamily="34" charset="-120"/>
              </a:rPr>
              <a:t>403 on reminders</a:t>
            </a:r>
            <a:endParaRPr lang="en-US" sz="1200" dirty="0"/>
          </a:p>
        </p:txBody>
      </p:sp>
      <p:sp>
        <p:nvSpPr>
          <p:cNvPr id="17" name="Text 15"/>
          <p:cNvSpPr txBox="1"/>
          <p:nvPr/>
        </p:nvSpPr>
        <p:spPr>
          <a:xfrm>
            <a:off x="3383280" y="4197096"/>
            <a:ext cx="8046720" cy="621792"/>
          </a:xfrm>
          <a:prstGeom prst="rect">
            <a:avLst/>
          </a:prstGeom>
          <a:noFill/>
          <a:ln/>
        </p:spPr>
        <p:txBody>
          <a:bodyPr wrap="square" lIns="0" tIns="0" rIns="0" bIns="0" rtlCol="0" anchor="ctr"/>
          <a:lstStyle/>
          <a:p>
            <a:pPr indent="0" marL="0">
              <a:buNone/>
            </a:pPr>
            <a:r>
              <a:rPr lang="en-US" sz="1200" dirty="0">
                <a:solidFill>
                  <a:srgbClr val="F2F4F8"/>
                </a:solidFill>
                <a:latin typeface="Calibri" pitchFamily="34" charset="0"/>
                <a:ea typeface="Calibri" pitchFamily="34" charset="-122"/>
                <a:cs typeface="Calibri" pitchFamily="34" charset="-120"/>
              </a:rPr>
              <a:t>Proactive sends need the bot's channel account as sender, not the app id. Reminders never reached the chat.</a:t>
            </a:r>
            <a:endParaRPr lang="en-US" sz="1200" dirty="0"/>
          </a:p>
        </p:txBody>
      </p:sp>
      <p:sp>
        <p:nvSpPr>
          <p:cNvPr id="18" name="Shape 16"/>
          <p:cNvSpPr/>
          <p:nvPr/>
        </p:nvSpPr>
        <p:spPr>
          <a:xfrm>
            <a:off x="548640" y="4892040"/>
            <a:ext cx="11064240" cy="621792"/>
          </a:xfrm>
          <a:prstGeom prst="roundRect">
            <a:avLst>
              <a:gd name="adj" fmla="val 11765"/>
            </a:avLst>
          </a:prstGeom>
          <a:solidFill>
            <a:srgbClr val="141A26"/>
          </a:solidFill>
          <a:ln w="12700">
            <a:solidFill>
              <a:srgbClr val="141A26"/>
            </a:solidFill>
            <a:prstDash val="solid"/>
          </a:ln>
        </p:spPr>
      </p:sp>
      <p:sp>
        <p:nvSpPr>
          <p:cNvPr id="19" name="Text 17"/>
          <p:cNvSpPr txBox="1"/>
          <p:nvPr/>
        </p:nvSpPr>
        <p:spPr>
          <a:xfrm>
            <a:off x="731520" y="4892040"/>
            <a:ext cx="2560320" cy="621792"/>
          </a:xfrm>
          <a:prstGeom prst="rect">
            <a:avLst/>
          </a:prstGeom>
          <a:noFill/>
          <a:ln/>
        </p:spPr>
        <p:txBody>
          <a:bodyPr wrap="square" lIns="0" tIns="0" rIns="0" bIns="0" rtlCol="0" anchor="ctr"/>
          <a:lstStyle/>
          <a:p>
            <a:pPr indent="0" marL="0">
              <a:buNone/>
            </a:pPr>
            <a:r>
              <a:rPr lang="en-US" sz="1200" b="1" dirty="0">
                <a:solidFill>
                  <a:srgbClr val="F85149"/>
                </a:solidFill>
                <a:latin typeface="Courier New" pitchFamily="34" charset="0"/>
                <a:ea typeface="Courier New" pitchFamily="34" charset="-122"/>
                <a:cs typeface="Courier New" pitchFamily="34" charset="-120"/>
              </a:rPr>
              <a:t>30-minute freeze</a:t>
            </a:r>
            <a:endParaRPr lang="en-US" sz="1200" dirty="0"/>
          </a:p>
        </p:txBody>
      </p:sp>
      <p:sp>
        <p:nvSpPr>
          <p:cNvPr id="20" name="Text 18"/>
          <p:cNvSpPr txBox="1"/>
          <p:nvPr/>
        </p:nvSpPr>
        <p:spPr>
          <a:xfrm>
            <a:off x="3383280" y="4892040"/>
            <a:ext cx="8046720" cy="621792"/>
          </a:xfrm>
          <a:prstGeom prst="rect">
            <a:avLst/>
          </a:prstGeom>
          <a:noFill/>
          <a:ln/>
        </p:spPr>
        <p:txBody>
          <a:bodyPr wrap="square" lIns="0" tIns="0" rIns="0" bIns="0" rtlCol="0" anchor="ctr"/>
          <a:lstStyle/>
          <a:p>
            <a:pPr indent="0" marL="0">
              <a:buNone/>
            </a:pPr>
            <a:r>
              <a:rPr lang="en-US" sz="1200" dirty="0">
                <a:solidFill>
                  <a:srgbClr val="F2F4F8"/>
                </a:solidFill>
                <a:latin typeface="Calibri" pitchFamily="34" charset="0"/>
                <a:ea typeface="Calibri" pitchFamily="34" charset="-122"/>
                <a:cs typeface="Calibri" pitchFamily="34" charset="-120"/>
              </a:rPr>
              <a:t>No timeout on the model client. One hung connection froze the whole process. Now bounded at ~51 s.</a:t>
            </a:r>
            <a:endParaRPr lang="en-US" sz="1200" dirty="0"/>
          </a:p>
        </p:txBody>
      </p:sp>
      <p:sp>
        <p:nvSpPr>
          <p:cNvPr id="21" name="Text 19"/>
          <p:cNvSpPr txBox="1"/>
          <p:nvPr/>
        </p:nvSpPr>
        <p:spPr>
          <a:xfrm>
            <a:off x="548640" y="5669280"/>
            <a:ext cx="11064240" cy="548640"/>
          </a:xfrm>
          <a:prstGeom prst="rect">
            <a:avLst/>
          </a:prstGeom>
          <a:noFill/>
          <a:ln/>
        </p:spPr>
        <p:txBody>
          <a:bodyPr wrap="square" lIns="0" tIns="0" rIns="0" bIns="0" rtlCol="0" anchor="ctr"/>
          <a:lstStyle/>
          <a:p>
            <a:pPr indent="0" marL="0">
              <a:buNone/>
            </a:pPr>
            <a:r>
              <a:rPr lang="en-US" sz="1200" i="1" dirty="0">
                <a:solidFill>
                  <a:srgbClr val="9AA4B8"/>
                </a:solidFill>
                <a:latin typeface="Calibri" pitchFamily="34" charset="0"/>
                <a:ea typeface="Calibri" pitchFamily="34" charset="-122"/>
                <a:cs typeface="Calibri" pitchFamily="34" charset="-120"/>
              </a:rPr>
              <a:t>Most were surfaced by automated adversarial passes replaying our own captured payloads — then independently reproduced before anyone touched code.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0B0F19"/>
                </a:solidFill>
                <a:latin typeface="Cambria" pitchFamily="34" charset="0"/>
                <a:ea typeface="Cambria" pitchFamily="34" charset="-122"/>
                <a:cs typeface="Cambria" pitchFamily="34" charset="-120"/>
              </a:rPr>
              <a:t>What's real, what's mocked, what's next</a:t>
            </a:r>
            <a:endParaRPr lang="en-US" sz="3600" dirty="0"/>
          </a:p>
        </p:txBody>
      </p:sp>
      <p:sp>
        <p:nvSpPr>
          <p:cNvPr id="3" name="Shape 1"/>
          <p:cNvSpPr/>
          <p:nvPr/>
        </p:nvSpPr>
        <p:spPr>
          <a:xfrm>
            <a:off x="548640" y="1463040"/>
            <a:ext cx="3611880" cy="4297680"/>
          </a:xfrm>
          <a:prstGeom prst="roundRect">
            <a:avLst>
              <a:gd name="adj" fmla="val 3038"/>
            </a:avLst>
          </a:prstGeom>
          <a:solidFill>
            <a:srgbClr val="F3F5F9"/>
          </a:solidFill>
          <a:ln w="12700">
            <a:solidFill>
              <a:srgbClr val="F3F5F9"/>
            </a:solidFill>
            <a:prstDash val="solid"/>
          </a:ln>
        </p:spPr>
      </p:sp>
      <p:sp>
        <p:nvSpPr>
          <p:cNvPr id="4" name="Text 2"/>
          <p:cNvSpPr txBox="1"/>
          <p:nvPr/>
        </p:nvSpPr>
        <p:spPr>
          <a:xfrm>
            <a:off x="822960" y="1645920"/>
            <a:ext cx="3063240" cy="365760"/>
          </a:xfrm>
          <a:prstGeom prst="rect">
            <a:avLst/>
          </a:prstGeom>
          <a:noFill/>
          <a:ln/>
        </p:spPr>
        <p:txBody>
          <a:bodyPr wrap="square" lIns="0" tIns="0" rIns="0" bIns="0" rtlCol="0" anchor="ctr"/>
          <a:lstStyle/>
          <a:p>
            <a:pPr indent="0" marL="0">
              <a:buNone/>
            </a:pPr>
            <a:r>
              <a:rPr lang="en-US" sz="1300" b="1" spc="200" kern="0" dirty="0">
                <a:solidFill>
                  <a:srgbClr val="3FB950"/>
                </a:solidFill>
                <a:latin typeface="Calibri" pitchFamily="34" charset="0"/>
                <a:ea typeface="Calibri" pitchFamily="34" charset="-122"/>
                <a:cs typeface="Calibri" pitchFamily="34" charset="-120"/>
              </a:rPr>
              <a:t>REAL</a:t>
            </a:r>
            <a:endParaRPr lang="en-US" sz="1300" dirty="0"/>
          </a:p>
        </p:txBody>
      </p:sp>
      <p:sp>
        <p:nvSpPr>
          <p:cNvPr id="5" name="Text 3"/>
          <p:cNvSpPr txBox="1"/>
          <p:nvPr/>
        </p:nvSpPr>
        <p:spPr>
          <a:xfrm>
            <a:off x="822960" y="2103120"/>
            <a:ext cx="3063240" cy="347472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Live Azure Bot, real Bot Framework protocol</a:t>
            </a:r>
            <a:endParaRPr lang="en-US" sz="1200" dirty="0"/>
          </a:p>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Claude extraction and vision</a:t>
            </a:r>
            <a:endParaRPr lang="en-US" sz="1200" dirty="0"/>
          </a:p>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Deepgram speech-to-text</a:t>
            </a:r>
            <a:endParaRPr lang="en-US" sz="1200" dirty="0"/>
          </a:p>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SQLite store with dedupe + idempotency</a:t>
            </a:r>
            <a:endParaRPr lang="en-US" sz="1200" dirty="0"/>
          </a:p>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Proactive reminders into the chat</a:t>
            </a:r>
            <a:endParaRPr lang="en-US" sz="1200" dirty="0"/>
          </a:p>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Per-component cost ledger</a:t>
            </a:r>
            <a:endParaRPr lang="en-US" sz="1200" dirty="0"/>
          </a:p>
        </p:txBody>
      </p:sp>
      <p:sp>
        <p:nvSpPr>
          <p:cNvPr id="6" name="Shape 4"/>
          <p:cNvSpPr/>
          <p:nvPr/>
        </p:nvSpPr>
        <p:spPr>
          <a:xfrm>
            <a:off x="4297680" y="1463040"/>
            <a:ext cx="3611880" cy="4297680"/>
          </a:xfrm>
          <a:prstGeom prst="roundRect">
            <a:avLst>
              <a:gd name="adj" fmla="val 3038"/>
            </a:avLst>
          </a:prstGeom>
          <a:solidFill>
            <a:srgbClr val="F3F5F9"/>
          </a:solidFill>
          <a:ln w="12700">
            <a:solidFill>
              <a:srgbClr val="F3F5F9"/>
            </a:solidFill>
            <a:prstDash val="solid"/>
          </a:ln>
        </p:spPr>
      </p:sp>
      <p:sp>
        <p:nvSpPr>
          <p:cNvPr id="7" name="Text 5"/>
          <p:cNvSpPr txBox="1"/>
          <p:nvPr/>
        </p:nvSpPr>
        <p:spPr>
          <a:xfrm>
            <a:off x="4572000" y="1645920"/>
            <a:ext cx="3063240" cy="36576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DELIBERATE CUTS</a:t>
            </a:r>
            <a:endParaRPr lang="en-US" sz="1300" dirty="0"/>
          </a:p>
        </p:txBody>
      </p:sp>
      <p:sp>
        <p:nvSpPr>
          <p:cNvPr id="8" name="Text 6"/>
          <p:cNvSpPr txBox="1"/>
          <p:nvPr/>
        </p:nvSpPr>
        <p:spPr>
          <a:xfrm>
            <a:off x="4572000" y="2103120"/>
            <a:ext cx="3063240" cy="347472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Our datastore, not Intrakore's CRM — no sandbox, no credentials</a:t>
            </a:r>
            <a:endParaRPr lang="en-US" sz="1200" dirty="0"/>
          </a:p>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Web Chat, not the Teams client — tenant blocks custom app upload</a:t>
            </a:r>
            <a:endParaRPr lang="en-US" sz="1200" dirty="0"/>
          </a:p>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No auth or rate limiting on the webhook</a:t>
            </a:r>
            <a:endParaRPr lang="en-US" sz="1200" dirty="0"/>
          </a:p>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Reminders are one-way; closing them is day two</a:t>
            </a:r>
            <a:endParaRPr lang="en-US" sz="1200" dirty="0"/>
          </a:p>
        </p:txBody>
      </p:sp>
      <p:sp>
        <p:nvSpPr>
          <p:cNvPr id="9" name="Shape 7"/>
          <p:cNvSpPr/>
          <p:nvPr/>
        </p:nvSpPr>
        <p:spPr>
          <a:xfrm>
            <a:off x="8046720" y="1463040"/>
            <a:ext cx="3611880" cy="4297680"/>
          </a:xfrm>
          <a:prstGeom prst="roundRect">
            <a:avLst>
              <a:gd name="adj" fmla="val 3038"/>
            </a:avLst>
          </a:prstGeom>
          <a:solidFill>
            <a:srgbClr val="F3F5F9"/>
          </a:solidFill>
          <a:ln w="12700">
            <a:solidFill>
              <a:srgbClr val="F3F5F9"/>
            </a:solidFill>
            <a:prstDash val="solid"/>
          </a:ln>
        </p:spPr>
      </p:sp>
      <p:sp>
        <p:nvSpPr>
          <p:cNvPr id="10" name="Text 8"/>
          <p:cNvSpPr txBox="1"/>
          <p:nvPr/>
        </p:nvSpPr>
        <p:spPr>
          <a:xfrm>
            <a:off x="8321040" y="1645920"/>
            <a:ext cx="3063240" cy="365760"/>
          </a:xfrm>
          <a:prstGeom prst="rect">
            <a:avLst/>
          </a:prstGeom>
          <a:noFill/>
          <a:ln/>
        </p:spPr>
        <p:txBody>
          <a:bodyPr wrap="square" lIns="0" tIns="0" rIns="0" bIns="0" rtlCol="0" anchor="ctr"/>
          <a:lstStyle/>
          <a:p>
            <a:pPr indent="0" marL="0">
              <a:buNone/>
            </a:pPr>
            <a:r>
              <a:rPr lang="en-US" sz="1300" b="1" spc="200" kern="0" dirty="0">
                <a:solidFill>
                  <a:srgbClr val="5B6472"/>
                </a:solidFill>
                <a:latin typeface="Calibri" pitchFamily="34" charset="0"/>
                <a:ea typeface="Calibri" pitchFamily="34" charset="-122"/>
                <a:cs typeface="Calibri" pitchFamily="34" charset="-120"/>
              </a:rPr>
              <a:t>PRODUCTION NEEDS</a:t>
            </a:r>
            <a:endParaRPr lang="en-US" sz="1300" dirty="0"/>
          </a:p>
        </p:txBody>
      </p:sp>
      <p:sp>
        <p:nvSpPr>
          <p:cNvPr id="11" name="Text 9"/>
          <p:cNvSpPr txBox="1"/>
          <p:nvPr/>
        </p:nvSpPr>
        <p:spPr>
          <a:xfrm>
            <a:off x="8321040" y="2103120"/>
            <a:ext cx="3063240" cy="347472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CRM field mapping, auth + token refresh</a:t>
            </a:r>
            <a:endParaRPr lang="en-US" sz="1200" dirty="0"/>
          </a:p>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Idempotency keys, rate limits, error taxonomy, retry/DLQ</a:t>
            </a:r>
            <a:endParaRPr lang="en-US" sz="1200" dirty="0"/>
          </a:p>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Teams-native file path verified on a live tenant</a:t>
            </a:r>
            <a:endParaRPr lang="en-US" sz="1200" dirty="0"/>
          </a:p>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Prompt-injection hardening</a:t>
            </a:r>
            <a:endParaRPr lang="en-US" sz="1200" dirty="0"/>
          </a:p>
          <a:p>
            <a:pPr marL="342900" indent="-342900">
              <a:spcAft>
                <a:spcPts val="500"/>
              </a:spcAft>
              <a:buSzPct val="100000"/>
              <a:buChar char="•"/>
            </a:pPr>
            <a:r>
              <a:rPr lang="en-US" sz="1200" dirty="0">
                <a:solidFill>
                  <a:srgbClr val="0B0F19"/>
                </a:solidFill>
                <a:latin typeface="Calibri" pitchFamily="34" charset="0"/>
                <a:ea typeface="Calibri" pitchFamily="34" charset="-122"/>
                <a:cs typeface="Calibri" pitchFamily="34" charset="-120"/>
              </a:rPr>
              <a:t>Tool-calling chat CRUD (designed, not built)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9"/>
        </a:solidFill>
      </p:bgPr>
    </p:bg>
    <p:spTree>
      <p:nvGrpSpPr>
        <p:cNvPr id="1" name=""/>
        <p:cNvGrpSpPr/>
        <p:nvPr/>
      </p:nvGrpSpPr>
      <p:grpSpPr>
        <a:xfrm>
          <a:off x="0" y="0"/>
          <a:ext cx="0" cy="0"/>
          <a:chOff x="0" y="0"/>
          <a:chExt cx="0" cy="0"/>
        </a:xfrm>
      </p:grpSpPr>
      <p:sp>
        <p:nvSpPr>
          <p:cNvPr id="2" name="Text 0"/>
          <p:cNvSpPr txBox="1"/>
          <p:nvPr/>
        </p:nvSpPr>
        <p:spPr>
          <a:xfrm>
            <a:off x="731520" y="1737360"/>
            <a:ext cx="10698480" cy="1645920"/>
          </a:xfrm>
          <a:prstGeom prst="rect">
            <a:avLst/>
          </a:prstGeom>
          <a:noFill/>
          <a:ln/>
        </p:spPr>
        <p:txBody>
          <a:bodyPr wrap="square" lIns="0" tIns="0" rIns="0" bIns="0" rtlCol="0" anchor="ctr"/>
          <a:lstStyle/>
          <a:p>
            <a:pPr indent="0" marL="0">
              <a:buNone/>
            </a:pPr>
            <a:r>
              <a:rPr lang="en-US" sz="4000" b="1" dirty="0">
                <a:solidFill>
                  <a:srgbClr val="F2F4F8"/>
                </a:solidFill>
                <a:latin typeface="Cambria" pitchFamily="34" charset="0"/>
                <a:ea typeface="Cambria" pitchFamily="34" charset="-122"/>
                <a:cs typeface="Cambria" pitchFamily="34" charset="-120"/>
              </a:rPr>
              <a:t>A predictable assembly line,</a:t>
            </a:r>
            <a:endParaRPr lang="en-US" sz="4000" dirty="0"/>
          </a:p>
          <a:p>
            <a:pPr indent="0" marL="0">
              <a:buNone/>
            </a:pPr>
            <a:r>
              <a:rPr lang="en-US" sz="4000" b="1" dirty="0">
                <a:solidFill>
                  <a:srgbClr val="F2F4F8"/>
                </a:solidFill>
                <a:latin typeface="Cambria" pitchFamily="34" charset="0"/>
                <a:ea typeface="Cambria" pitchFamily="34" charset="-122"/>
                <a:cs typeface="Cambria" pitchFamily="34" charset="-120"/>
              </a:rPr>
              <a:t>not a clever black box.</a:t>
            </a:r>
            <a:endParaRPr lang="en-US" sz="4000" dirty="0"/>
          </a:p>
        </p:txBody>
      </p:sp>
      <p:sp>
        <p:nvSpPr>
          <p:cNvPr id="3" name="Text 1"/>
          <p:cNvSpPr txBox="1"/>
          <p:nvPr/>
        </p:nvSpPr>
        <p:spPr>
          <a:xfrm>
            <a:off x="731520" y="3566160"/>
            <a:ext cx="10698480" cy="914400"/>
          </a:xfrm>
          <a:prstGeom prst="rect">
            <a:avLst/>
          </a:prstGeom>
          <a:noFill/>
          <a:ln/>
        </p:spPr>
        <p:txBody>
          <a:bodyPr wrap="square" lIns="0" tIns="0" rIns="0" bIns="0" rtlCol="0" anchor="ctr"/>
          <a:lstStyle/>
          <a:p>
            <a:pPr indent="0" marL="0">
              <a:buNone/>
            </a:pPr>
            <a:r>
              <a:rPr lang="en-US" sz="2000" dirty="0">
                <a:solidFill>
                  <a:srgbClr val="F5A623"/>
                </a:solidFill>
                <a:latin typeface="Calibri" pitchFamily="34" charset="0"/>
                <a:ea typeface="Calibri" pitchFamily="34" charset="-122"/>
                <a:cs typeface="Calibri" pitchFamily="34" charset="-120"/>
              </a:rPr>
              <a:t>We can tell you what every lead costs, how long it takes, and it asks a question rather than inventing an answer.</a:t>
            </a:r>
            <a:endParaRPr lang="en-US" sz="2000" dirty="0"/>
          </a:p>
        </p:txBody>
      </p:sp>
      <p:sp>
        <p:nvSpPr>
          <p:cNvPr id="4" name="Text 2"/>
          <p:cNvSpPr txBox="1"/>
          <p:nvPr/>
        </p:nvSpPr>
        <p:spPr>
          <a:xfrm>
            <a:off x="731520" y="5394960"/>
            <a:ext cx="10698480" cy="457200"/>
          </a:xfrm>
          <a:prstGeom prst="rect">
            <a:avLst/>
          </a:prstGeom>
          <a:noFill/>
          <a:ln/>
        </p:spPr>
        <p:txBody>
          <a:bodyPr wrap="square" lIns="0" tIns="0" rIns="0" bIns="0" rtlCol="0" anchor="ctr"/>
          <a:lstStyle/>
          <a:p>
            <a:pPr indent="0" marL="0">
              <a:buNone/>
            </a:pPr>
            <a:r>
              <a:rPr lang="en-US" sz="1400" dirty="0">
                <a:solidFill>
                  <a:srgbClr val="9AA4B8"/>
                </a:solidFill>
                <a:latin typeface="Calibri" pitchFamily="34" charset="0"/>
                <a:ea typeface="Calibri" pitchFamily="34" charset="-122"/>
                <a:cs typeface="Calibri" pitchFamily="34" charset="-120"/>
              </a:rPr>
              <a:t>github.com/Iroh02/kore-agent-kit  ·  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Chat-to-Lead</dc:title>
  <dc:subject>PptxGenJS Presentation</dc:subject>
  <dc:creator>Vishal &amp; Nandita</dc:creator>
  <cp:lastModifiedBy>Vishal &amp; Nandita</cp:lastModifiedBy>
  <cp:revision>1</cp:revision>
  <dcterms:created xsi:type="dcterms:W3CDTF">2026-09-12T12:39:45Z</dcterms:created>
  <dcterms:modified xsi:type="dcterms:W3CDTF">2026-09-12T12:39:45Z</dcterms:modified>
</cp:coreProperties>
</file>